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60120"/>
            <a:ext cx="1225296" cy="1225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2395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/ COMPACT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22376" y="2670048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8800" dirty="0"/>
          </a:p>
        </p:txBody>
      </p:sp>
      <p:sp>
        <p:nvSpPr>
          <p:cNvPr id="6" name="Text 2"/>
          <p:cNvSpPr/>
          <p:nvPr/>
        </p:nvSpPr>
        <p:spPr>
          <a:xfrm>
            <a:off x="777240" y="40416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forensic attestation on Midnight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777240" y="4864608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48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live on Midnight preview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903720" y="26060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 is visible.</a:t>
            </a:r>
            <a:endParaRPr lang="en-US" sz="3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victim is not.</a:t>
            </a:r>
            <a:endParaRPr lang="en-US" sz="3300" dirty="0"/>
          </a:p>
        </p:txBody>
      </p:sp>
      <p:sp>
        <p:nvSpPr>
          <p:cNvPr id="9" name="Text 5"/>
          <p:cNvSpPr/>
          <p:nvPr/>
        </p:nvSpPr>
        <p:spPr>
          <a:xfrm>
            <a:off x="690372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2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v0.1.0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31520" y="157276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forensic expert</a:t>
            </a:r>
            <a:endParaRPr lang="en-US" sz="4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 case.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777240" y="3493008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material. A leak. Fraud.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runs her analysis and reaches a finding.</a:t>
            </a:r>
            <a:endParaRPr lang="en-US" sz="18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she has to prove that finding to a court.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242048" y="1517904"/>
            <a:ext cx="4160520" cy="3931920"/>
          </a:xfrm>
          <a:prstGeom prst="roundRect">
            <a:avLst>
              <a:gd name="adj" fmla="val 325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552944" y="1828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FILE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552944" y="2286000"/>
            <a:ext cx="3291840" cy="173736"/>
          </a:xfrm>
          <a:prstGeom prst="roundRect">
            <a:avLst>
              <a:gd name="adj" fmla="val 47368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552944" y="2615184"/>
            <a:ext cx="2926080" cy="173736"/>
          </a:xfrm>
          <a:prstGeom prst="roundRect">
            <a:avLst>
              <a:gd name="adj" fmla="val 47368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552944" y="2944368"/>
            <a:ext cx="3520440" cy="173736"/>
          </a:xfrm>
          <a:prstGeom prst="roundRect">
            <a:avLst>
              <a:gd name="adj" fmla="val 47368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552944" y="3273552"/>
            <a:ext cx="2377440" cy="173736"/>
          </a:xfrm>
          <a:prstGeom prst="roundRect">
            <a:avLst>
              <a:gd name="adj" fmla="val 47368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52944" y="3602736"/>
            <a:ext cx="3108960" cy="173736"/>
          </a:xfrm>
          <a:prstGeom prst="roundRect">
            <a:avLst>
              <a:gd name="adj" fmla="val 47368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552944" y="3931920"/>
            <a:ext cx="2697480" cy="173736"/>
          </a:xfrm>
          <a:prstGeom prst="roundRect">
            <a:avLst>
              <a:gd name="adj" fmla="val 47368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552944" y="444398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94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inside is private,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94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most of it has to stay that way.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SHE FACES A TERRIBLE TRADE-OFF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77240" y="1691640"/>
            <a:ext cx="5029200" cy="2212848"/>
          </a:xfrm>
          <a:prstGeom prst="roundRect">
            <a:avLst>
              <a:gd name="adj" fmla="val 578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161288" y="2057400"/>
            <a:ext cx="4261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 the raw evidence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161288" y="2624328"/>
            <a:ext cx="4261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AEB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everyone can verify her work — including private messages, photographs, and information that never needed to be exposed in the first place.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382512" y="1691640"/>
            <a:ext cx="5029200" cy="2212848"/>
          </a:xfrm>
          <a:prstGeom prst="roundRect">
            <a:avLst>
              <a:gd name="adj" fmla="val 578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766560" y="2057400"/>
            <a:ext cx="4261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evidence private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766560" y="2624328"/>
            <a:ext cx="4261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AEB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ask everyone to trust her process. The court gets a conclusion it cannot check, from a person it has to take at their word.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" y="461772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 chooses neither.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ONLY A FORENSICS PROBLEM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31520" y="1572768"/>
            <a:ext cx="1063721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prove that a rule was followed</a:t>
            </a:r>
            <a:endParaRPr lang="en-US" sz="3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disclosing the private data</a:t>
            </a:r>
            <a:endParaRPr lang="en-US" sz="3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rule was designed to protect?</a:t>
            </a:r>
            <a:endParaRPr lang="en-US" sz="3300" dirty="0"/>
          </a:p>
        </p:txBody>
      </p:sp>
      <p:sp>
        <p:nvSpPr>
          <p:cNvPr id="8" name="Shape 4"/>
          <p:cNvSpPr/>
          <p:nvPr/>
        </p:nvSpPr>
        <p:spPr>
          <a:xfrm>
            <a:off x="777240" y="3950208"/>
            <a:ext cx="251460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6366F1">
                <a:alpha val="22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1E2A44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014984" y="3950208"/>
            <a:ext cx="20391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84778" y="3950208"/>
            <a:ext cx="251460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6366F1">
                <a:alpha val="22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1E2A44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722522" y="3950208"/>
            <a:ext cx="20391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 reports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92317" y="3950208"/>
            <a:ext cx="251460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6366F1">
                <a:alpha val="22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1E2A44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30061" y="3950208"/>
            <a:ext cx="20391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899855" y="3950208"/>
            <a:ext cx="251460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2700">
            <a:solidFill>
              <a:srgbClr val="6366F1">
                <a:alpha val="22000"/>
              </a:srgbClr>
            </a:solidFill>
            <a:prstDash val="solid"/>
          </a:ln>
          <a:effectLst>
            <a:outerShdw sx="100000" sy="100000" kx="0" ky="0" algn="bl" rotWithShape="0" blurRad="127000" dist="25400" dir="5400000">
              <a:srgbClr val="1E2A44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37599" y="3950208"/>
            <a:ext cx="20391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workflow where the data is sensitive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77240" y="5230368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forensics because it is the sharpest version of that problem — and because it is a domain we understand deeply.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31520" y="1517904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never moves.</a:t>
            </a:r>
            <a:endParaRPr lang="en-US" sz="3800" dirty="0"/>
          </a:p>
        </p:txBody>
      </p:sp>
      <p:sp>
        <p:nvSpPr>
          <p:cNvPr id="8" name="Shape 4"/>
          <p:cNvSpPr/>
          <p:nvPr/>
        </p:nvSpPr>
        <p:spPr>
          <a:xfrm>
            <a:off x="777240" y="2487168"/>
            <a:ext cx="3108960" cy="2212848"/>
          </a:xfrm>
          <a:prstGeom prst="roundRect">
            <a:avLst>
              <a:gd name="adj" fmla="val 578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106424" y="2761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1106424" y="325526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analysis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88136" y="3694176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engine runs on the expert's own machine. The raw evidence never leaves it.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032504" y="3264408"/>
            <a:ext cx="36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4541368" y="2487168"/>
            <a:ext cx="3108960" cy="2212848"/>
          </a:xfrm>
          <a:prstGeom prst="roundRect">
            <a:avLst>
              <a:gd name="adj" fmla="val 578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70552" y="2761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870552" y="325526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852264" y="3694176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is sealed into a commitment, bound to a hash-chained record of custody.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796632" y="3264408"/>
            <a:ext cx="36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305495" y="2487168"/>
            <a:ext cx="3108960" cy="2212848"/>
          </a:xfrm>
          <a:prstGeom prst="roundRect">
            <a:avLst>
              <a:gd name="adj" fmla="val 5785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634679" y="2761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8634679" y="325526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8616391" y="3694176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B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commitment and a zero-knowledge proof reach the network.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77240" y="498348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reaches the network is a commitment and a proof. Never the evidence.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31520" y="1783080"/>
            <a:ext cx="10637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 doesn't just prove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rules are satisfied.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731520" y="3154680"/>
            <a:ext cx="106372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refuses to prove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they're not.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ONE — CORROBORATION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77240" y="157276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8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evidence. A score high enough to produce MALICE.</a:t>
            </a:r>
            <a:endParaRPr lang="en-US" sz="18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8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there is only one independent source.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77240" y="2761488"/>
            <a:ext cx="3931920" cy="1755648"/>
          </a:xfrm>
          <a:prstGeom prst="roundRect">
            <a:avLst>
              <a:gd name="adj" fmla="val 72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88136" y="2980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49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SCORE ALONE WOULD SAY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88136" y="331012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trike="sngStrike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MALICE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4892040" y="2761488"/>
            <a:ext cx="9144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5897880" y="2761488"/>
            <a:ext cx="5513832" cy="1755648"/>
          </a:xfrm>
          <a:prstGeom prst="roundRect">
            <a:avLst>
              <a:gd name="adj" fmla="val 7292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08776" y="298094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C6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VELO ATTESTS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208776" y="331012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SUSPICION</a:t>
            </a:r>
            <a:endParaRPr lang="en-US" sz="4400" dirty="0"/>
          </a:p>
        </p:txBody>
      </p:sp>
      <p:sp>
        <p:nvSpPr>
          <p:cNvPr id="15" name="Text 11"/>
          <p:cNvSpPr/>
          <p:nvPr/>
        </p:nvSpPr>
        <p:spPr>
          <a:xfrm>
            <a:off x="731520" y="4828032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warning. A refusal to produce the proof.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TWO — PROVENANCE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77240" y="157276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8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evidence. The same score.</a:t>
            </a:r>
            <a:endParaRPr lang="en-US" sz="18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8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time, there is no valid chain of custody.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77240" y="2761488"/>
            <a:ext cx="3931920" cy="1755648"/>
          </a:xfrm>
          <a:prstGeom prst="roundRect">
            <a:avLst>
              <a:gd name="adj" fmla="val 729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88136" y="2980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49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SCORE ALONE WOULD SAY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88136" y="331012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trike="sngStrike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MALICE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4892040" y="2761488"/>
            <a:ext cx="9144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5897880" y="2761488"/>
            <a:ext cx="5513832" cy="1755648"/>
          </a:xfrm>
          <a:prstGeom prst="roundRect">
            <a:avLst>
              <a:gd name="adj" fmla="val 7292"/>
            </a:avLst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38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08776" y="298094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C6D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VELO ATTESTS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208776" y="331012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ABSTAIN</a:t>
            </a:r>
            <a:endParaRPr lang="en-US" sz="4400" dirty="0"/>
          </a:p>
        </p:txBody>
      </p:sp>
      <p:sp>
        <p:nvSpPr>
          <p:cNvPr id="15" name="Text 11"/>
          <p:cNvSpPr/>
          <p:nvPr/>
        </p:nvSpPr>
        <p:spPr>
          <a:xfrm>
            <a:off x="731520" y="4828032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does not say “be careful.” It refuses to make the stronger claim, because the provenance requirements were not satisfied.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RULE ISN'T DOCUMENTATION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31520" y="1536192"/>
            <a:ext cx="106372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sources for a serious finding —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inside the ZK circuit.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777240" y="2944368"/>
            <a:ext cx="10637215" cy="1207008"/>
          </a:xfrm>
          <a:prstGeom prst="roundRect">
            <a:avLst>
              <a:gd name="adj" fmla="val 10606"/>
            </a:avLst>
          </a:prstGeom>
          <a:solidFill>
            <a:srgbClr val="060B16">
              <a:alpha val="78000"/>
            </a:srgbClr>
          </a:solidFill>
          <a:ln w="12700">
            <a:solidFill>
              <a:srgbClr val="22D3EE">
                <a:alpha val="26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43000" y="3108960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8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contracts/velo.compact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43000" y="342900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assert(verdict != MALICE || corroborationCount &gt;= 2)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77240" y="440740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cannot produce a valid MALICE attestation unless that constraint is satisfied.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77240" y="5047488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not a promise from us. It is a constraint enforced by the proof system.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ISN'T A DIAGRAM EITHER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31520" y="1536192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is deployed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Midnight's preview network.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777240" y="3163824"/>
            <a:ext cx="10637215" cy="1243584"/>
          </a:xfrm>
          <a:prstGeom prst="roundRect">
            <a:avLst>
              <a:gd name="adj" fmla="val 10294"/>
            </a:avLst>
          </a:prstGeom>
          <a:solidFill>
            <a:srgbClr val="060B16">
              <a:alpha val="7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43000" y="332841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ADDRESS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143000" y="3657600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46cac58c4eb0e034b4211d754bfe67f7e8e1aa08d448ebd089437ed573023d9d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77240" y="4791456"/>
            <a:ext cx="3429000" cy="67665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with compact 0.31.1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381348" y="4791456"/>
            <a:ext cx="3429000" cy="67665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prover and verifier keys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985455" y="4791456"/>
            <a:ext cx="3429000" cy="67665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→ attest → verify, end to end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ATTACKED OUR OWN IMPLEMENTATION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04088" y="1572768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200" dirty="0"/>
          </a:p>
        </p:txBody>
      </p:sp>
      <p:sp>
        <p:nvSpPr>
          <p:cNvPr id="8" name="Text 4"/>
          <p:cNvSpPr/>
          <p:nvPr/>
        </p:nvSpPr>
        <p:spPr>
          <a:xfrm>
            <a:off x="777240" y="29077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140" kern="0" dirty="0">
                <a:solidFill>
                  <a:srgbClr val="849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spc="140" kern="0" dirty="0">
                <a:solidFill>
                  <a:srgbClr val="849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ROUNDS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456432" y="1572768"/>
            <a:ext cx="7955280" cy="987552"/>
          </a:xfrm>
          <a:prstGeom prst="roundRect">
            <a:avLst>
              <a:gd name="adj" fmla="val 1296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767328" y="1700784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traversal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67328" y="2066544"/>
            <a:ext cx="7333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AEB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write, through the case identifier. Exploited end to end over the real protocol, not theorized.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56432" y="2798064"/>
            <a:ext cx="7955280" cy="987552"/>
          </a:xfrm>
          <a:prstGeom prst="roundRect">
            <a:avLst>
              <a:gd name="adj" fmla="val 1296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767328" y="2926080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that wasn't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67328" y="3291840"/>
            <a:ext cx="7333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AEB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counting detector categories, not sources. One artifact reached MALICE with “corroboration 4.”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456432" y="4023360"/>
            <a:ext cx="7955280" cy="987552"/>
          </a:xfrm>
          <a:prstGeom prst="roundRect">
            <a:avLst>
              <a:gd name="adj" fmla="val 1296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67328" y="415137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counter inflation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767328" y="4517136"/>
            <a:ext cx="7333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AEB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re-attestation path let the same finding inflate a public counter, manufacturing the look of corroboration.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77240" y="5157216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fixed them, and documented what remains open in the repository.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77240" y="5541264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hide the failure modes. We make them part of the audit trail.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31520" y="1783080"/>
            <a:ext cx="10637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buys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zero-knowledge proof.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731520" y="3346704"/>
            <a:ext cx="10637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32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forensic laboratory, a prosecutor's office</a:t>
            </a:r>
            <a:endParaRPr lang="en-US" sz="3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2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an insurer buys verifiable trust.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31520" y="1517904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VELO as a professional wallet.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777240" y="2788920"/>
            <a:ext cx="5029200" cy="2157984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77800" dist="38100" dir="5400000">
              <a:srgbClr val="1E2A44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179576" y="3118104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crypto wallet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179576" y="3685032"/>
            <a:ext cx="4224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is money.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79576" y="3995928"/>
            <a:ext cx="42245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sends your private key across the network. It sends a proof that you are authorized to act.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382512" y="2788920"/>
            <a:ext cx="5029200" cy="2157984"/>
          </a:xfrm>
          <a:prstGeom prst="roundRect">
            <a:avLst>
              <a:gd name="adj" fmla="val 5932"/>
            </a:avLst>
          </a:prstGeom>
          <a:solidFill>
            <a:srgbClr val="ECEDFD"/>
          </a:solidFill>
          <a:ln w="12700">
            <a:solidFill>
              <a:srgbClr val="C7C9F7"/>
            </a:solidFill>
            <a:prstDash val="solid"/>
          </a:ln>
          <a:effectLst>
            <a:outerShdw sx="100000" sy="100000" kx="0" ky="0" algn="bl" rotWithShape="0" blurRad="177800" dist="38100" dir="5400000">
              <a:srgbClr val="1E2A44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784848" y="3118104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784848" y="3685032"/>
            <a:ext cx="4224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is a sealed, verifiable case.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784848" y="3995928"/>
            <a:ext cx="42245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sends the evidence. It sends a proof that the finding was produced under the required rules.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 A PROFESSIONAL'S RECORD WITHOUT SEEING THE CASES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77240" y="1627632"/>
            <a:ext cx="5230368" cy="1060704"/>
          </a:xfrm>
          <a:prstGeom prst="roundRect">
            <a:avLst>
              <a:gd name="adj" fmla="val 1206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06424" y="1627632"/>
            <a:ext cx="4572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findings were accepted?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08776" y="1627632"/>
            <a:ext cx="5230368" cy="1060704"/>
          </a:xfrm>
          <a:prstGeom prst="roundRect">
            <a:avLst>
              <a:gd name="adj" fmla="val 1206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7960" y="1627632"/>
            <a:ext cx="4572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which jurisdiction?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77240" y="2907792"/>
            <a:ext cx="5230368" cy="1060704"/>
          </a:xfrm>
          <a:prstGeom prst="roundRect">
            <a:avLst>
              <a:gd name="adj" fmla="val 1206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06424" y="2907792"/>
            <a:ext cx="4572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audits verified the process?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208776" y="2907792"/>
            <a:ext cx="5230368" cy="1060704"/>
          </a:xfrm>
          <a:prstGeom prst="roundRect">
            <a:avLst>
              <a:gd name="adj" fmla="val 1206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37960" y="2907792"/>
            <a:ext cx="4572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an evidence package altered after it was sealed?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7240" y="42062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those questions requires exposing the underlying photographs, names or private messages.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77240" y="4864608"/>
            <a:ext cx="10637215" cy="1042416"/>
          </a:xfrm>
          <a:prstGeom prst="roundRect">
            <a:avLst>
              <a:gd name="adj" fmla="val 1228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BBF24">
                <a:alpha val="28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06424" y="4864608"/>
            <a:ext cx="9978847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C3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examples of what that interface could report — not metrics we are claiming today. What is real today is the mechanism that makes those claims possible without disclosure.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115568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YOU KNOW THE PERSON ISSUING THE FINDING IS ACCREDITED?”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77240" y="2395728"/>
            <a:ext cx="5029200" cy="2258568"/>
          </a:xfrm>
          <a:prstGeom prst="roundRect">
            <a:avLst>
              <a:gd name="adj" fmla="val 566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79576" y="2743200"/>
            <a:ext cx="4224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94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facial recognition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179576" y="3310128"/>
            <a:ext cx="4224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600" dirty="0">
                <a:solidFill>
                  <a:srgbClr val="AEB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 proves that someone has a face. It does not prove that they are authorized to issue a forensic finding.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382512" y="2395728"/>
            <a:ext cx="5029200" cy="2258568"/>
          </a:xfrm>
          <a:prstGeom prst="roundRect">
            <a:avLst>
              <a:gd name="adj" fmla="val 5668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784848" y="2743200"/>
            <a:ext cx="4224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credential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784848" y="3310128"/>
            <a:ext cx="4224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6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zero-knowledge proof of membership in an accredited-experts registry. It proves the issuer is authorized without revealing who that person is.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760"/>
            <a:ext cx="329184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41832" y="365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820095" y="6144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77240" y="14630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gets to do her job.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777240" y="2048256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21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doesn't have to become part of the evidence</a:t>
            </a:r>
            <a:endParaRPr lang="en-US" sz="2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2100" dirty="0">
                <a:solidFill>
                  <a:srgbClr val="BF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so the process can be trusted.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722376" y="3310128"/>
            <a:ext cx="10637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 is visible.</a:t>
            </a:r>
            <a:endParaRPr lang="en-US" sz="5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victim is not.</a:t>
            </a:r>
            <a:endParaRPr lang="en-US" sz="5800" dirty="0"/>
          </a:p>
        </p:txBody>
      </p:sp>
      <p:pic>
        <p:nvPicPr>
          <p:cNvPr id="9" name="Image 2" descr="logo.png">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0378440" y="50749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 — Zero-knowledge forensic attestation</dc:title>
  <dc:subject>Midnight / Compact</dc:subject>
  <dc:creator>VELO</dc:creator>
  <cp:lastModifiedBy>VELO</cp:lastModifiedBy>
  <cp:revision>1</cp:revision>
  <dcterms:created xsi:type="dcterms:W3CDTF">2026-08-08T04:21:48Z</dcterms:created>
  <dcterms:modified xsi:type="dcterms:W3CDTF">2026-08-08T04:21:48Z</dcterms:modified>
</cp:coreProperties>
</file>