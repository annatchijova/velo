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29-1.jpg" ContentType="image/jpg"/>
  <Override PartName="/ppt/media/image-3-1.jpg" ContentType="image/jpg"/>
  <Override PartName="/ppt/media/image-30-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VELO: forensic verdicts anyone can verify without anyone seeing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a forensic expert. I have this case. The judge wants to verify it. I hand over a proof. Nobody ever sees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Professional trust is entirely social.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numbers reveals a victim, a piece of evidence, a client, or a single case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does not store evidence. It stores proof that verifiable work was done — and the evidence never leaves the expert’s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 El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is what backs the claim. / La diferencia es qué respalda la afirmación.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it searches by contacts and price. Now track record is a queryable field, not a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existed before the trial, it is bound to this commitment, and it satisfied the corroboration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expert buys reputation. An institution buys a trust layer over everything its people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holds / Cómo se sostiene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Compact rejects at compile time any ledger write derived from a witness value unless it is wrapped in disclose().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silhouette: real, complete, and unreadable from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value is the asset. It is what the wallet holds, and what a judge later verifies.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MALICE outcome cannot enter the wallet without corroboration_count ≥ 2. — Not a policy note. A circuit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attacked our own design, found the gap, and the fix became the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does not prove the original analysis was performed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one wallet to a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VELO is a reputation layer for forensic professionals:
prove the quality of your work without exposing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section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actually pays for this? / ¿Quién paga esto realmente?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stops an expert inflating their numbers? / ¿Qué impide que un perito infle sus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Midnight, and not Aztec or Aleo? / ¿Por qué Midnight y no Aztec o Aleo?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forensics, and not finance? / ¿Por qué forense y no finanzas?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this really need a blockchain? / ¿Realmente necesita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the expert lies before sealing? / ¿Y si el perito miente antes de sellar?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a hash chain enough — why force ZK? / ¿Alcanza con un hash chain — para qué forzar ZK?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Isn’t this forcing Midnight? / ¿No es forzar Midnight?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a hash prove anything legally? / ¿Un hash prueba algo legalmente?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Isn’t this the same as what exists? / ¿No es lo mismo que ya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veil.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868680"/>
            <a:ext cx="8229600" cy="274320"/>
          </a:xfrm>
          <a:prstGeom prst="rect">
            <a:avLst/>
          </a:prstGeom>
          <a:noFill/>
          <a:ln/>
        </p:spPr>
        <p:txBody>
          <a:bodyPr wrap="square" lIns="0" tIns="0" rIns="0" bIns="0" rtlCol="0" anchor="ctr"/>
          <a:lstStyle/>
          <a:p>
            <a:pPr indent="0" marL="0">
              <a:buNone/>
            </a:pPr>
            <a:r>
              <a:rPr lang="en-US" sz="1000" spc="220" kern="0" dirty="0">
                <a:solidFill>
                  <a:srgbClr val="C9C4B8"/>
                </a:solidFill>
                <a:latin typeface="Courier New" pitchFamily="34" charset="0"/>
                <a:ea typeface="Courier New" pitchFamily="34" charset="-122"/>
                <a:cs typeface="Courier New" pitchFamily="34" charset="-120"/>
              </a:rPr>
              <a:t>MIDNIGHT NETWORK · 2026</a:t>
            </a:r>
            <a:endParaRPr lang="en-US" sz="1000" dirty="0"/>
          </a:p>
        </p:txBody>
      </p:sp>
      <p:sp>
        <p:nvSpPr>
          <p:cNvPr id="4" name="Text 1"/>
          <p:cNvSpPr/>
          <p:nvPr/>
        </p:nvSpPr>
        <p:spPr>
          <a:xfrm>
            <a:off x="667512" y="1207008"/>
            <a:ext cx="7315200" cy="1371600"/>
          </a:xfrm>
          <a:prstGeom prst="rect">
            <a:avLst/>
          </a:prstGeom>
          <a:noFill/>
          <a:ln/>
        </p:spPr>
        <p:txBody>
          <a:bodyPr wrap="square" lIns="0" tIns="0" rIns="0" bIns="0" rtlCol="0" anchor="ctr"/>
          <a:lstStyle/>
          <a:p>
            <a:pPr indent="0" marL="0">
              <a:buNone/>
            </a:pPr>
            <a:r>
              <a:rPr lang="en-US" sz="8000" b="1" spc="300" kern="0" dirty="0">
                <a:solidFill>
                  <a:srgbClr val="EDE7DA"/>
                </a:solidFill>
                <a:latin typeface="Century Schoolbook" pitchFamily="34" charset="0"/>
                <a:ea typeface="Century Schoolbook" pitchFamily="34" charset="-122"/>
                <a:cs typeface="Century Schoolbook" pitchFamily="34" charset="-120"/>
              </a:rPr>
              <a:t>VELO</a:t>
            </a:r>
            <a:endParaRPr lang="en-US" sz="8000" dirty="0"/>
          </a:p>
        </p:txBody>
      </p:sp>
      <p:sp>
        <p:nvSpPr>
          <p:cNvPr id="5" name="Text 2"/>
          <p:cNvSpPr/>
          <p:nvPr/>
        </p:nvSpPr>
        <p:spPr>
          <a:xfrm>
            <a:off x="685800" y="2880360"/>
            <a:ext cx="9509760" cy="1234440"/>
          </a:xfrm>
          <a:prstGeom prst="rect">
            <a:avLst/>
          </a:prstGeom>
          <a:noFill/>
          <a:ln/>
        </p:spPr>
        <p:txBody>
          <a:bodyPr wrap="square" lIns="0" tIns="0" rIns="0" bIns="0" rtlCol="0" anchor="t"/>
          <a:lstStyle/>
          <a:p>
            <a:pPr indent="0" marL="0">
              <a:lnSpc>
                <a:spcPct val="118000"/>
              </a:lnSpc>
              <a:buNone/>
            </a:pPr>
            <a:r>
              <a:rPr lang="en-US" sz="2700" dirty="0">
                <a:solidFill>
                  <a:srgbClr val="EDE7DA"/>
                </a:solidFill>
                <a:latin typeface="Century Schoolbook" pitchFamily="34" charset="0"/>
                <a:ea typeface="Century Schoolbook" pitchFamily="34" charset="-122"/>
                <a:cs typeface="Century Schoolbook" pitchFamily="34" charset="-120"/>
              </a:rPr>
              <a:t>A reputation layer for</a:t>
            </a:r>
            <a:endParaRPr lang="en-US" sz="2700" dirty="0"/>
          </a:p>
          <a:p>
            <a:pPr indent="0" marL="0">
              <a:lnSpc>
                <a:spcPct val="118000"/>
              </a:lnSpc>
              <a:buNone/>
            </a:pPr>
            <a:r>
              <a:rPr lang="en-US" sz="2700" dirty="0">
                <a:solidFill>
                  <a:srgbClr val="EDE7DA"/>
                </a:solidFill>
                <a:latin typeface="Century Schoolbook" pitchFamily="34" charset="0"/>
                <a:ea typeface="Century Schoolbook" pitchFamily="34" charset="-122"/>
                <a:cs typeface="Century Schoolbook" pitchFamily="34" charset="-120"/>
              </a:rPr>
              <a:t>forensic professionals.</a:t>
            </a:r>
            <a:endParaRPr lang="en-US" sz="2700" dirty="0"/>
          </a:p>
        </p:txBody>
      </p:sp>
      <p:sp>
        <p:nvSpPr>
          <p:cNvPr id="6" name="Text 3"/>
          <p:cNvSpPr/>
          <p:nvPr/>
        </p:nvSpPr>
        <p:spPr>
          <a:xfrm>
            <a:off x="685800" y="4041648"/>
            <a:ext cx="9509760" cy="1005840"/>
          </a:xfrm>
          <a:prstGeom prst="rect">
            <a:avLst/>
          </a:prstGeom>
          <a:noFill/>
          <a:ln/>
        </p:spPr>
        <p:txBody>
          <a:bodyPr wrap="square" lIns="0" tIns="0" rIns="0" bIns="0" rtlCol="0" anchor="t"/>
          <a:lstStyle/>
          <a:p>
            <a:pPr indent="0" marL="0">
              <a:lnSpc>
                <a:spcPct val="118000"/>
              </a:lnSpc>
              <a:buNone/>
            </a:pPr>
            <a:r>
              <a:rPr lang="en-US" sz="1800" i="1" dirty="0">
                <a:solidFill>
                  <a:srgbClr val="C9C4B8"/>
                </a:solidFill>
                <a:latin typeface="Century Schoolbook" pitchFamily="34" charset="0"/>
                <a:ea typeface="Century Schoolbook" pitchFamily="34" charset="-122"/>
                <a:cs typeface="Century Schoolbook" pitchFamily="34" charset="-120"/>
              </a:rPr>
              <a:t>Una capa de reputación para</a:t>
            </a:r>
            <a:endParaRPr lang="en-US" sz="1800" dirty="0"/>
          </a:p>
          <a:p>
            <a:pPr indent="0" marL="0">
              <a:lnSpc>
                <a:spcPct val="118000"/>
              </a:lnSpc>
              <a:buNone/>
            </a:pPr>
            <a:r>
              <a:rPr lang="en-US" sz="1800" i="1" dirty="0">
                <a:solidFill>
                  <a:srgbClr val="C9C4B8"/>
                </a:solidFill>
                <a:latin typeface="Century Schoolbook" pitchFamily="34" charset="0"/>
                <a:ea typeface="Century Schoolbook" pitchFamily="34" charset="-122"/>
                <a:cs typeface="Century Schoolbook" pitchFamily="34" charset="-120"/>
              </a:rPr>
              <a:t>peritos forenses.</a:t>
            </a:r>
            <a:endParaRPr lang="en-US" sz="1800" dirty="0"/>
          </a:p>
        </p:txBody>
      </p:sp>
      <p:sp>
        <p:nvSpPr>
          <p:cNvPr id="7" name="Text 4"/>
          <p:cNvSpPr/>
          <p:nvPr/>
        </p:nvSpPr>
        <p:spPr>
          <a:xfrm>
            <a:off x="685800" y="5440680"/>
            <a:ext cx="5623560" cy="274320"/>
          </a:xfrm>
          <a:prstGeom prst="rect">
            <a:avLst/>
          </a:prstGeom>
          <a:noFill/>
          <a:ln/>
        </p:spPr>
        <p:txBody>
          <a:bodyPr wrap="square" lIns="0" tIns="0" rIns="0" bIns="0" rtlCol="0" anchor="ctr"/>
          <a:lstStyle/>
          <a:p>
            <a:pPr indent="0" marL="0">
              <a:buNone/>
            </a:pPr>
            <a:r>
              <a:rPr lang="en-US" sz="900" dirty="0">
                <a:solidFill>
                  <a:srgbClr val="C9C4B8"/>
                </a:solidFill>
                <a:latin typeface="Courier New" pitchFamily="34" charset="0"/>
                <a:ea typeface="Courier New" pitchFamily="34" charset="-122"/>
                <a:cs typeface="Courier New" pitchFamily="34" charset="-120"/>
              </a:rPr>
              <a:t>Prove the quality of your work without exposing the evidence you were trusted to protect.</a:t>
            </a:r>
            <a:endParaRPr lang="en-US" sz="900" dirty="0"/>
          </a:p>
        </p:txBody>
      </p:sp>
      <p:sp>
        <p:nvSpPr>
          <p:cNvPr id="8" name="Text 5"/>
          <p:cNvSpPr/>
          <p:nvPr/>
        </p:nvSpPr>
        <p:spPr>
          <a:xfrm>
            <a:off x="6949440" y="5440680"/>
            <a:ext cx="5074920" cy="274320"/>
          </a:xfrm>
          <a:prstGeom prst="rect">
            <a:avLst/>
          </a:prstGeom>
          <a:noFill/>
          <a:ln/>
        </p:spPr>
        <p:txBody>
          <a:bodyPr wrap="square" lIns="0" tIns="0" rIns="0" bIns="0" rtlCol="0" anchor="ctr"/>
          <a:lstStyle/>
          <a:p>
            <a:pPr indent="0" marL="0">
              <a:buNone/>
            </a:pPr>
            <a:r>
              <a:rPr lang="en-US" sz="900" dirty="0">
                <a:solidFill>
                  <a:srgbClr val="C9C4B8"/>
                </a:solidFill>
                <a:latin typeface="Courier New" pitchFamily="34" charset="0"/>
                <a:ea typeface="Courier New" pitchFamily="34" charset="-122"/>
                <a:cs typeface="Courier New" pitchFamily="34" charset="-120"/>
              </a:rPr>
              <a:t>Demostrar la calidad de tu trabajo sin exponer la evidencia que te confiaron proteger.</a:t>
            </a:r>
            <a:endParaRPr lang="en-US" sz="900" dirty="0"/>
          </a:p>
        </p:txBody>
      </p:sp>
      <p:sp>
        <p:nvSpPr>
          <p:cNvPr id="9" name="Text 6"/>
          <p:cNvSpPr/>
          <p:nvPr/>
        </p:nvSpPr>
        <p:spPr>
          <a:xfrm>
            <a:off x="685800" y="6327648"/>
            <a:ext cx="10789920" cy="274320"/>
          </a:xfrm>
          <a:prstGeom prst="rect">
            <a:avLst/>
          </a:prstGeom>
          <a:noFill/>
          <a:ln/>
        </p:spPr>
        <p:txBody>
          <a:bodyPr wrap="square" lIns="0" tIns="0" rIns="0" bIns="0" rtlCol="0" anchor="ctr"/>
          <a:lstStyle/>
          <a:p>
            <a:pPr indent="0" marL="0">
              <a:buNone/>
            </a:pPr>
            <a:r>
              <a:rPr lang="en-US" sz="800" dirty="0">
                <a:solidFill>
                  <a:srgbClr val="7C8494"/>
                </a:solidFill>
                <a:latin typeface="Courier New" pitchFamily="34" charset="0"/>
                <a:ea typeface="Courier New" pitchFamily="34" charset="-122"/>
                <a:cs typeface="Courier New" pitchFamily="34" charset="-120"/>
              </a:rPr>
              <a:t>commitment 92af0c…e281c   ·   4d5b1a…f309e   ·   7c02aa…91b4d   ·   e0731f…2ab86   ·   92af0c…e281c</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g-veil.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822960"/>
            <a:ext cx="10789920" cy="237744"/>
          </a:xfrm>
          <a:prstGeom prst="rect">
            <a:avLst/>
          </a:prstGeom>
          <a:noFill/>
          <a:ln/>
        </p:spPr>
        <p:txBody>
          <a:bodyPr wrap="square" lIns="0" tIns="0" rIns="0" bIns="0" rtlCol="0" anchor="t"/>
          <a:lstStyle/>
          <a:p>
            <a:pPr indent="0" marL="0">
              <a:buNone/>
            </a:pPr>
            <a:r>
              <a:rPr lang="en-US" sz="900" spc="140" kern="0" dirty="0">
                <a:solidFill>
                  <a:srgbClr val="C9C4B8"/>
                </a:solidFill>
                <a:latin typeface="Courier New" pitchFamily="34" charset="0"/>
                <a:ea typeface="Courier New" pitchFamily="34" charset="-122"/>
                <a:cs typeface="Courier New" pitchFamily="34" charset="-120"/>
              </a:rPr>
              <a:t>THE WHOLE PRODUCT, IN FOUR LINES</a:t>
            </a:r>
            <a:pPr indent="0" marL="0">
              <a:buNone/>
            </a:pPr>
            <a:r>
              <a:rPr lang="en-US" sz="900" spc="140" kern="0" dirty="0">
                <a:solidFill>
                  <a:srgbClr val="C9C4B8"/>
                </a:solidFill>
                <a:latin typeface="Courier New" pitchFamily="34" charset="0"/>
                <a:ea typeface="Courier New" pitchFamily="34" charset="-122"/>
                <a:cs typeface="Courier New" pitchFamily="34" charset="-120"/>
              </a:rPr>
              <a:t>   ·   </a:t>
            </a:r>
            <a:pPr indent="0" marL="0">
              <a:buNone/>
            </a:pPr>
            <a:r>
              <a:rPr lang="en-US" sz="900" spc="140" kern="0" dirty="0">
                <a:solidFill>
                  <a:srgbClr val="C9C4B8"/>
                </a:solidFill>
                <a:latin typeface="Courier New" pitchFamily="34" charset="0"/>
                <a:ea typeface="Courier New" pitchFamily="34" charset="-122"/>
                <a:cs typeface="Courier New" pitchFamily="34" charset="-120"/>
              </a:rPr>
              <a:t>EL PRODUCTO ENTERO, EN CUATRO LÍNEAS</a:t>
            </a:r>
            <a:endParaRPr lang="en-US" sz="900" dirty="0"/>
          </a:p>
        </p:txBody>
      </p:sp>
      <p:sp>
        <p:nvSpPr>
          <p:cNvPr id="4" name="Text 1"/>
          <p:cNvSpPr/>
          <p:nvPr/>
        </p:nvSpPr>
        <p:spPr>
          <a:xfrm>
            <a:off x="685800" y="1481328"/>
            <a:ext cx="10424160" cy="857707"/>
          </a:xfrm>
          <a:prstGeom prst="rect">
            <a:avLst/>
          </a:prstGeom>
          <a:noFill/>
          <a:ln/>
        </p:spPr>
        <p:txBody>
          <a:bodyPr wrap="square" lIns="0" tIns="0" rIns="0" bIns="0" rtlCol="0" anchor="t"/>
          <a:lstStyle/>
          <a:p>
            <a:pPr indent="0" marL="0">
              <a:lnSpc>
                <a:spcPct val="114000"/>
              </a:lnSpc>
              <a:spcAft>
                <a:spcPts val="900"/>
              </a:spcAft>
              <a:buNone/>
            </a:pPr>
            <a:r>
              <a:rPr lang="en-US" sz="2600" dirty="0">
                <a:solidFill>
                  <a:srgbClr val="C9C4B8"/>
                </a:solidFill>
                <a:latin typeface="Century Schoolbook" pitchFamily="34" charset="0"/>
                <a:ea typeface="Century Schoolbook" pitchFamily="34" charset="-122"/>
                <a:cs typeface="Century Schoolbook" pitchFamily="34" charset="-120"/>
              </a:rPr>
              <a:t>I am a forensic expert.</a:t>
            </a:r>
            <a:endParaRPr lang="en-US" sz="2600" dirty="0"/>
          </a:p>
          <a:p>
            <a:pPr indent="0" marL="0">
              <a:lnSpc>
                <a:spcPct val="114000"/>
              </a:lnSpc>
              <a:buNone/>
            </a:pPr>
            <a:r>
              <a:rPr lang="en-US" sz="1600" i="1" dirty="0">
                <a:solidFill>
                  <a:srgbClr val="AEB4C0"/>
                </a:solidFill>
                <a:latin typeface="Century Schoolbook" pitchFamily="34" charset="0"/>
                <a:ea typeface="Century Schoolbook" pitchFamily="34" charset="-122"/>
                <a:cs typeface="Century Schoolbook" pitchFamily="34" charset="-120"/>
              </a:rPr>
              <a:t>Soy un perito forense.</a:t>
            </a:r>
            <a:endParaRPr lang="en-US" sz="2600" dirty="0"/>
          </a:p>
        </p:txBody>
      </p:sp>
      <p:sp>
        <p:nvSpPr>
          <p:cNvPr id="5" name="Text 2"/>
          <p:cNvSpPr/>
          <p:nvPr/>
        </p:nvSpPr>
        <p:spPr>
          <a:xfrm>
            <a:off x="685800" y="2649931"/>
            <a:ext cx="10424160" cy="857707"/>
          </a:xfrm>
          <a:prstGeom prst="rect">
            <a:avLst/>
          </a:prstGeom>
          <a:noFill/>
          <a:ln/>
        </p:spPr>
        <p:txBody>
          <a:bodyPr wrap="square" lIns="0" tIns="0" rIns="0" bIns="0" rtlCol="0" anchor="t"/>
          <a:lstStyle/>
          <a:p>
            <a:pPr indent="0" marL="0">
              <a:lnSpc>
                <a:spcPct val="114000"/>
              </a:lnSpc>
              <a:spcAft>
                <a:spcPts val="900"/>
              </a:spcAft>
              <a:buNone/>
            </a:pPr>
            <a:r>
              <a:rPr lang="en-US" sz="2600" dirty="0">
                <a:solidFill>
                  <a:srgbClr val="C9C4B8"/>
                </a:solidFill>
                <a:latin typeface="Century Schoolbook" pitchFamily="34" charset="0"/>
                <a:ea typeface="Century Schoolbook" pitchFamily="34" charset="-122"/>
                <a:cs typeface="Century Schoolbook" pitchFamily="34" charset="-120"/>
              </a:rPr>
              <a:t>I have this case.</a:t>
            </a:r>
            <a:endParaRPr lang="en-US" sz="2600" dirty="0"/>
          </a:p>
          <a:p>
            <a:pPr indent="0" marL="0">
              <a:lnSpc>
                <a:spcPct val="114000"/>
              </a:lnSpc>
              <a:buNone/>
            </a:pPr>
            <a:r>
              <a:rPr lang="en-US" sz="1600" i="1" dirty="0">
                <a:solidFill>
                  <a:srgbClr val="AEB4C0"/>
                </a:solidFill>
                <a:latin typeface="Century Schoolbook" pitchFamily="34" charset="0"/>
                <a:ea typeface="Century Schoolbook" pitchFamily="34" charset="-122"/>
                <a:cs typeface="Century Schoolbook" pitchFamily="34" charset="-120"/>
              </a:rPr>
              <a:t>Tengo este caso.</a:t>
            </a:r>
            <a:endParaRPr lang="en-US" sz="2600" dirty="0"/>
          </a:p>
        </p:txBody>
      </p:sp>
      <p:sp>
        <p:nvSpPr>
          <p:cNvPr id="6" name="Text 3"/>
          <p:cNvSpPr/>
          <p:nvPr/>
        </p:nvSpPr>
        <p:spPr>
          <a:xfrm>
            <a:off x="685800" y="3818534"/>
            <a:ext cx="10424160" cy="857707"/>
          </a:xfrm>
          <a:prstGeom prst="rect">
            <a:avLst/>
          </a:prstGeom>
          <a:noFill/>
          <a:ln/>
        </p:spPr>
        <p:txBody>
          <a:bodyPr wrap="square" lIns="0" tIns="0" rIns="0" bIns="0" rtlCol="0" anchor="t"/>
          <a:lstStyle/>
          <a:p>
            <a:pPr indent="0" marL="0">
              <a:lnSpc>
                <a:spcPct val="114000"/>
              </a:lnSpc>
              <a:spcAft>
                <a:spcPts val="900"/>
              </a:spcAft>
              <a:buNone/>
            </a:pPr>
            <a:r>
              <a:rPr lang="en-US" sz="2600" dirty="0">
                <a:solidFill>
                  <a:srgbClr val="C9C4B8"/>
                </a:solidFill>
                <a:latin typeface="Century Schoolbook" pitchFamily="34" charset="0"/>
                <a:ea typeface="Century Schoolbook" pitchFamily="34" charset="-122"/>
                <a:cs typeface="Century Schoolbook" pitchFamily="34" charset="-120"/>
              </a:rPr>
              <a:t>The judge wants to verify it.</a:t>
            </a:r>
            <a:endParaRPr lang="en-US" sz="2600" dirty="0"/>
          </a:p>
          <a:p>
            <a:pPr indent="0" marL="0">
              <a:lnSpc>
                <a:spcPct val="114000"/>
              </a:lnSpc>
              <a:buNone/>
            </a:pPr>
            <a:r>
              <a:rPr lang="en-US" sz="1600" i="1" dirty="0">
                <a:solidFill>
                  <a:srgbClr val="AEB4C0"/>
                </a:solidFill>
                <a:latin typeface="Century Schoolbook" pitchFamily="34" charset="0"/>
                <a:ea typeface="Century Schoolbook" pitchFamily="34" charset="-122"/>
                <a:cs typeface="Century Schoolbook" pitchFamily="34" charset="-120"/>
              </a:rPr>
              <a:t>El juez quiere verificarlo.</a:t>
            </a:r>
            <a:endParaRPr lang="en-US" sz="2600" dirty="0"/>
          </a:p>
        </p:txBody>
      </p:sp>
      <p:sp>
        <p:nvSpPr>
          <p:cNvPr id="7" name="Text 4"/>
          <p:cNvSpPr/>
          <p:nvPr/>
        </p:nvSpPr>
        <p:spPr>
          <a:xfrm>
            <a:off x="685800" y="4987138"/>
            <a:ext cx="10424160" cy="1083564"/>
          </a:xfrm>
          <a:prstGeom prst="rect">
            <a:avLst/>
          </a:prstGeom>
          <a:noFill/>
          <a:ln/>
        </p:spPr>
        <p:txBody>
          <a:bodyPr wrap="square" lIns="0" tIns="0" rIns="0" bIns="0" rtlCol="0" anchor="t"/>
          <a:lstStyle/>
          <a:p>
            <a:pPr indent="0" marL="0">
              <a:lnSpc>
                <a:spcPct val="114000"/>
              </a:lnSpc>
              <a:spcAft>
                <a:spcPts val="900"/>
              </a:spcAft>
              <a:buNone/>
            </a:pPr>
            <a:r>
              <a:rPr lang="en-US" sz="3400" dirty="0">
                <a:solidFill>
                  <a:srgbClr val="EDE7DA"/>
                </a:solidFill>
                <a:latin typeface="Century Schoolbook" pitchFamily="34" charset="0"/>
                <a:ea typeface="Century Schoolbook" pitchFamily="34" charset="-122"/>
                <a:cs typeface="Century Schoolbook" pitchFamily="34" charset="-120"/>
              </a:rPr>
              <a:t>I hand over a proof. Nobody ever sees the evidence.</a:t>
            </a:r>
            <a:endParaRPr lang="en-US" sz="3400" dirty="0"/>
          </a:p>
          <a:p>
            <a:pPr indent="0" marL="0">
              <a:lnSpc>
                <a:spcPct val="114000"/>
              </a:lnSpc>
              <a:buNone/>
            </a:pPr>
            <a:r>
              <a:rPr lang="en-US" sz="2100" i="1" dirty="0">
                <a:solidFill>
                  <a:srgbClr val="C9C4B8"/>
                </a:solidFill>
                <a:latin typeface="Century Schoolbook" pitchFamily="34" charset="0"/>
                <a:ea typeface="Century Schoolbook" pitchFamily="34" charset="-122"/>
                <a:cs typeface="Century Schoolbook" pitchFamily="34" charset="-120"/>
              </a:rPr>
              <a:t>Entrego una prueba. Nadie ve nunca la evidencia.</a:t>
            </a:r>
            <a:endParaRPr lang="en-US" sz="3400" dirty="0"/>
          </a:p>
        </p:txBody>
      </p:sp>
      <p:sp>
        <p:nvSpPr>
          <p:cNvPr id="8" name="Text 5"/>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C9C4B8"/>
                </a:solidFill>
                <a:latin typeface="Courier New" pitchFamily="34" charset="0"/>
                <a:ea typeface="Courier New" pitchFamily="34" charset="-122"/>
                <a:cs typeface="Courier New" pitchFamily="34" charset="-120"/>
              </a:rPr>
              <a:t>VELO · Professional Evidence Wallet</a:t>
            </a:r>
            <a:endParaRPr lang="en-US" sz="800" dirty="0"/>
          </a:p>
        </p:txBody>
      </p:sp>
      <p:sp>
        <p:nvSpPr>
          <p:cNvPr id="9" name="Text 6"/>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C9C4B8"/>
                </a:solidFill>
                <a:latin typeface="Courier New" pitchFamily="34" charset="0"/>
                <a:ea typeface="Courier New" pitchFamily="34" charset="-122"/>
                <a:cs typeface="Courier New"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10789920" cy="237744"/>
          </a:xfrm>
          <a:prstGeom prst="rect">
            <a:avLst/>
          </a:prstGeom>
          <a:noFill/>
          <a:ln/>
        </p:spPr>
        <p:txBody>
          <a:bodyPr wrap="square" lIns="0" tIns="0" rIns="0" bIns="0" rtlCol="0" anchor="t"/>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THE PROBLEM</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EL PROBLEMA</a:t>
            </a:r>
            <a:endParaRPr lang="en-US" sz="900" dirty="0"/>
          </a:p>
        </p:txBody>
      </p:sp>
      <p:sp>
        <p:nvSpPr>
          <p:cNvPr id="4" name="Text 1"/>
          <p:cNvSpPr/>
          <p:nvPr/>
        </p:nvSpPr>
        <p:spPr>
          <a:xfrm>
            <a:off x="685800" y="786384"/>
            <a:ext cx="10789920" cy="1071677"/>
          </a:xfrm>
          <a:prstGeom prst="rect">
            <a:avLst/>
          </a:prstGeom>
          <a:noFill/>
          <a:ln/>
        </p:spPr>
        <p:txBody>
          <a:bodyPr wrap="square" lIns="0" tIns="0" rIns="0" bIns="0" rtlCol="0" anchor="t"/>
          <a:lstStyle/>
          <a:p>
            <a:pPr indent="0" marL="0">
              <a:lnSpc>
                <a:spcPct val="114000"/>
              </a:lnSpc>
              <a:spcAft>
                <a:spcPts val="1000"/>
              </a:spcAft>
              <a:buNone/>
            </a:pPr>
            <a:r>
              <a:rPr lang="en-US" sz="3000" dirty="0">
                <a:solidFill>
                  <a:srgbClr val="1C1A17"/>
                </a:solidFill>
                <a:latin typeface="Century Schoolbook" pitchFamily="34" charset="0"/>
                <a:ea typeface="Century Schoolbook" pitchFamily="34" charset="-122"/>
                <a:cs typeface="Century Schoolbook" pitchFamily="34" charset="-120"/>
              </a:rPr>
              <a:t>Professional trust is entirely social.</a:t>
            </a:r>
            <a:endParaRPr lang="en-US" sz="3000" dirty="0"/>
          </a:p>
          <a:p>
            <a:pPr indent="0" marL="0">
              <a:lnSpc>
                <a:spcPct val="114000"/>
              </a:lnSpc>
              <a:buNone/>
            </a:pPr>
            <a:r>
              <a:rPr lang="en-US" sz="1800" i="1" dirty="0">
                <a:solidFill>
                  <a:srgbClr val="3A3F4B"/>
                </a:solidFill>
                <a:latin typeface="Century Schoolbook" pitchFamily="34" charset="0"/>
                <a:ea typeface="Century Schoolbook" pitchFamily="34" charset="-122"/>
                <a:cs typeface="Century Schoolbook" pitchFamily="34" charset="-120"/>
              </a:rPr>
              <a:t>La confianza profesional es enteramente social.</a:t>
            </a:r>
            <a:endParaRPr lang="en-US" sz="3000" dirty="0"/>
          </a:p>
        </p:txBody>
      </p:sp>
      <p:sp>
        <p:nvSpPr>
          <p:cNvPr id="5" name="Text 2"/>
          <p:cNvSpPr/>
          <p:nvPr/>
        </p:nvSpPr>
        <p:spPr>
          <a:xfrm>
            <a:off x="685800" y="2040941"/>
            <a:ext cx="10789920" cy="603504"/>
          </a:xfrm>
          <a:prstGeom prst="rect">
            <a:avLst/>
          </a:prstGeom>
          <a:noFill/>
          <a:ln/>
        </p:spPr>
        <p:txBody>
          <a:bodyPr wrap="square" lIns="0" tIns="0" rIns="0" bIns="0" rtlCol="0" anchor="t"/>
          <a:lstStyle/>
          <a:p>
            <a:pPr indent="0" marL="0">
              <a:lnSpc>
                <a:spcPct val="120000"/>
              </a:lnSpc>
              <a:spcAft>
                <a:spcPts val="700"/>
              </a:spcAft>
              <a:buNone/>
            </a:pPr>
            <a:r>
              <a:rPr lang="en-US" sz="1250" dirty="0">
                <a:solidFill>
                  <a:srgbClr val="1C1A17"/>
                </a:solidFill>
                <a:latin typeface="Calibri" pitchFamily="34" charset="0"/>
                <a:ea typeface="Calibri" pitchFamily="34" charset="-122"/>
                <a:cs typeface="Calibri" pitchFamily="34" charset="-120"/>
              </a:rPr>
              <a:t>A judge or a lawyer receives: “Dr. X is an expert in digital forensics.” How would they know?</a:t>
            </a:r>
            <a:endParaRPr lang="en-US" sz="1250" dirty="0"/>
          </a:p>
          <a:p>
            <a:pPr indent="0" marL="0">
              <a:lnSpc>
                <a:spcPct val="120000"/>
              </a:lnSpc>
              <a:buNone/>
            </a:pPr>
            <a:r>
              <a:rPr lang="en-US" sz="1200" i="1" dirty="0">
                <a:solidFill>
                  <a:srgbClr val="3A3F4B"/>
                </a:solidFill>
                <a:latin typeface="Calibri" pitchFamily="34" charset="0"/>
                <a:ea typeface="Calibri" pitchFamily="34" charset="-122"/>
                <a:cs typeface="Calibri" pitchFamily="34" charset="-120"/>
              </a:rPr>
              <a:t>Un juez o un abogado recibe: “El Dr. X es experto en informática forense.” ¿Cómo lo sabe?</a:t>
            </a:r>
            <a:endParaRPr lang="en-US" sz="1250" dirty="0"/>
          </a:p>
        </p:txBody>
      </p:sp>
      <p:sp>
        <p:nvSpPr>
          <p:cNvPr id="6" name="Shape 3"/>
          <p:cNvSpPr/>
          <p:nvPr/>
        </p:nvSpPr>
        <p:spPr>
          <a:xfrm>
            <a:off x="685800" y="5010912"/>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7" name="Text 4"/>
          <p:cNvSpPr/>
          <p:nvPr/>
        </p:nvSpPr>
        <p:spPr>
          <a:xfrm>
            <a:off x="960120" y="5193792"/>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None of it can be checked. And the casework that would prove competence is what an expert may not show.</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Nada de eso se verifica. Y los peritajes que probarían la competencia son lo que un perito no puede mostrar.</a:t>
            </a:r>
            <a:endParaRPr lang="en-US" sz="1300" dirty="0"/>
          </a:p>
        </p:txBody>
      </p:sp>
      <p:sp>
        <p:nvSpPr>
          <p:cNvPr id="8" name="Shape 5"/>
          <p:cNvSpPr/>
          <p:nvPr/>
        </p:nvSpPr>
        <p:spPr>
          <a:xfrm>
            <a:off x="685800" y="2973629"/>
            <a:ext cx="2491740" cy="1686154"/>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9" name="Text 6"/>
          <p:cNvSpPr/>
          <p:nvPr/>
        </p:nvSpPr>
        <p:spPr>
          <a:xfrm>
            <a:off x="941832" y="3211373"/>
            <a:ext cx="1979676"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CERTIFICATES</a:t>
            </a:r>
            <a:endParaRPr lang="en-US" sz="850" dirty="0"/>
          </a:p>
        </p:txBody>
      </p:sp>
      <p:sp>
        <p:nvSpPr>
          <p:cNvPr id="10" name="Text 7"/>
          <p:cNvSpPr/>
          <p:nvPr/>
        </p:nvSpPr>
        <p:spPr>
          <a:xfrm>
            <a:off x="941832" y="3403397"/>
            <a:ext cx="1979676"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CERTIFICADOS</a:t>
            </a:r>
            <a:endParaRPr lang="en-US" sz="850" dirty="0"/>
          </a:p>
        </p:txBody>
      </p:sp>
      <p:sp>
        <p:nvSpPr>
          <p:cNvPr id="11" name="Text 8"/>
          <p:cNvSpPr/>
          <p:nvPr/>
        </p:nvSpPr>
        <p:spPr>
          <a:xfrm>
            <a:off x="941832" y="3705149"/>
            <a:ext cx="1979676" cy="735178"/>
          </a:xfrm>
          <a:prstGeom prst="rect">
            <a:avLst/>
          </a:prstGeom>
          <a:noFill/>
          <a:ln/>
        </p:spPr>
        <p:txBody>
          <a:bodyPr wrap="square" lIns="0" tIns="0" rIns="0" bIns="0" rtlCol="0" anchor="t"/>
          <a:lstStyle/>
          <a:p>
            <a:pPr indent="0" marL="0">
              <a:lnSpc>
                <a:spcPct val="128000"/>
              </a:lnSpc>
              <a:spcAft>
                <a:spcPts val="1100"/>
              </a:spcAft>
              <a:buNone/>
            </a:pPr>
            <a:r>
              <a:rPr lang="en-US" sz="1300" dirty="0">
                <a:solidFill>
                  <a:srgbClr val="1C1A17"/>
                </a:solidFill>
                <a:latin typeface="Calibri" pitchFamily="34" charset="0"/>
                <a:ea typeface="Calibri" pitchFamily="34" charset="-122"/>
                <a:cs typeface="Calibri" pitchFamily="34" charset="-120"/>
              </a:rPr>
              <a:t>A PDF.</a:t>
            </a:r>
            <a:endParaRPr lang="en-US" sz="1300" dirty="0"/>
          </a:p>
          <a:p>
            <a:pPr indent="0" marL="0">
              <a:lnSpc>
                <a:spcPct val="128000"/>
              </a:lnSpc>
              <a:buNone/>
            </a:pPr>
            <a:r>
              <a:rPr lang="en-US" sz="1250" i="1" dirty="0">
                <a:solidFill>
                  <a:srgbClr val="3A3F4B"/>
                </a:solidFill>
                <a:latin typeface="Calibri" pitchFamily="34" charset="0"/>
                <a:ea typeface="Calibri" pitchFamily="34" charset="-122"/>
                <a:cs typeface="Calibri" pitchFamily="34" charset="-120"/>
              </a:rPr>
              <a:t>Un PDF.</a:t>
            </a:r>
            <a:endParaRPr lang="en-US" sz="1300" dirty="0"/>
          </a:p>
        </p:txBody>
      </p:sp>
      <p:sp>
        <p:nvSpPr>
          <p:cNvPr id="12" name="Shape 9"/>
          <p:cNvSpPr/>
          <p:nvPr/>
        </p:nvSpPr>
        <p:spPr>
          <a:xfrm>
            <a:off x="3451860" y="2973629"/>
            <a:ext cx="2491740" cy="1686154"/>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13" name="Text 10"/>
          <p:cNvSpPr/>
          <p:nvPr/>
        </p:nvSpPr>
        <p:spPr>
          <a:xfrm>
            <a:off x="3707892" y="3211373"/>
            <a:ext cx="1979676"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TESTIMONIALS</a:t>
            </a:r>
            <a:endParaRPr lang="en-US" sz="850" dirty="0"/>
          </a:p>
        </p:txBody>
      </p:sp>
      <p:sp>
        <p:nvSpPr>
          <p:cNvPr id="14" name="Text 11"/>
          <p:cNvSpPr/>
          <p:nvPr/>
        </p:nvSpPr>
        <p:spPr>
          <a:xfrm>
            <a:off x="3707892" y="3403397"/>
            <a:ext cx="1979676"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TESTIMONIOS</a:t>
            </a:r>
            <a:endParaRPr lang="en-US" sz="850" dirty="0"/>
          </a:p>
        </p:txBody>
      </p:sp>
      <p:sp>
        <p:nvSpPr>
          <p:cNvPr id="15" name="Text 12"/>
          <p:cNvSpPr/>
          <p:nvPr/>
        </p:nvSpPr>
        <p:spPr>
          <a:xfrm>
            <a:off x="3707892" y="3705149"/>
            <a:ext cx="1979676" cy="735178"/>
          </a:xfrm>
          <a:prstGeom prst="rect">
            <a:avLst/>
          </a:prstGeom>
          <a:noFill/>
          <a:ln/>
        </p:spPr>
        <p:txBody>
          <a:bodyPr wrap="square" lIns="0" tIns="0" rIns="0" bIns="0" rtlCol="0" anchor="t"/>
          <a:lstStyle/>
          <a:p>
            <a:pPr indent="0" marL="0">
              <a:lnSpc>
                <a:spcPct val="128000"/>
              </a:lnSpc>
              <a:spcAft>
                <a:spcPts val="1100"/>
              </a:spcAft>
              <a:buNone/>
            </a:pPr>
            <a:r>
              <a:rPr lang="en-US" sz="1300" dirty="0">
                <a:solidFill>
                  <a:srgbClr val="1C1A17"/>
                </a:solidFill>
                <a:latin typeface="Calibri" pitchFamily="34" charset="0"/>
                <a:ea typeface="Calibri" pitchFamily="34" charset="-122"/>
                <a:cs typeface="Calibri" pitchFamily="34" charset="-120"/>
              </a:rPr>
              <a:t>Someone vouching.</a:t>
            </a:r>
            <a:endParaRPr lang="en-US" sz="1300" dirty="0"/>
          </a:p>
          <a:p>
            <a:pPr indent="0" marL="0">
              <a:lnSpc>
                <a:spcPct val="128000"/>
              </a:lnSpc>
              <a:buNone/>
            </a:pPr>
            <a:r>
              <a:rPr lang="en-US" sz="1250" i="1" dirty="0">
                <a:solidFill>
                  <a:srgbClr val="3A3F4B"/>
                </a:solidFill>
                <a:latin typeface="Calibri" pitchFamily="34" charset="0"/>
                <a:ea typeface="Calibri" pitchFamily="34" charset="-122"/>
                <a:cs typeface="Calibri" pitchFamily="34" charset="-120"/>
              </a:rPr>
              <a:t>Alguien que responde.</a:t>
            </a:r>
            <a:endParaRPr lang="en-US" sz="1300" dirty="0"/>
          </a:p>
        </p:txBody>
      </p:sp>
      <p:sp>
        <p:nvSpPr>
          <p:cNvPr id="16" name="Shape 13"/>
          <p:cNvSpPr/>
          <p:nvPr/>
        </p:nvSpPr>
        <p:spPr>
          <a:xfrm>
            <a:off x="6217920" y="2973629"/>
            <a:ext cx="2491740" cy="1686154"/>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17" name="Text 14"/>
          <p:cNvSpPr/>
          <p:nvPr/>
        </p:nvSpPr>
        <p:spPr>
          <a:xfrm>
            <a:off x="6473952" y="3211373"/>
            <a:ext cx="1979676"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YEARS</a:t>
            </a:r>
            <a:endParaRPr lang="en-US" sz="850" dirty="0"/>
          </a:p>
        </p:txBody>
      </p:sp>
      <p:sp>
        <p:nvSpPr>
          <p:cNvPr id="18" name="Text 15"/>
          <p:cNvSpPr/>
          <p:nvPr/>
        </p:nvSpPr>
        <p:spPr>
          <a:xfrm>
            <a:off x="6473952" y="3403397"/>
            <a:ext cx="1979676"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ANTIGÜEDAD</a:t>
            </a:r>
            <a:endParaRPr lang="en-US" sz="850" dirty="0"/>
          </a:p>
        </p:txBody>
      </p:sp>
      <p:sp>
        <p:nvSpPr>
          <p:cNvPr id="19" name="Text 16"/>
          <p:cNvSpPr/>
          <p:nvPr/>
        </p:nvSpPr>
        <p:spPr>
          <a:xfrm>
            <a:off x="6473952" y="3705149"/>
            <a:ext cx="1979676" cy="735178"/>
          </a:xfrm>
          <a:prstGeom prst="rect">
            <a:avLst/>
          </a:prstGeom>
          <a:noFill/>
          <a:ln/>
        </p:spPr>
        <p:txBody>
          <a:bodyPr wrap="square" lIns="0" tIns="0" rIns="0" bIns="0" rtlCol="0" anchor="t"/>
          <a:lstStyle/>
          <a:p>
            <a:pPr indent="0" marL="0">
              <a:lnSpc>
                <a:spcPct val="128000"/>
              </a:lnSpc>
              <a:spcAft>
                <a:spcPts val="1100"/>
              </a:spcAft>
              <a:buNone/>
            </a:pPr>
            <a:r>
              <a:rPr lang="en-US" sz="1300" dirty="0">
                <a:solidFill>
                  <a:srgbClr val="1C1A17"/>
                </a:solidFill>
                <a:latin typeface="Calibri" pitchFamily="34" charset="0"/>
                <a:ea typeface="Calibri" pitchFamily="34" charset="-122"/>
                <a:cs typeface="Calibri" pitchFamily="34" charset="-120"/>
              </a:rPr>
              <a:t>Time served, not shown.</a:t>
            </a:r>
            <a:endParaRPr lang="en-US" sz="1300" dirty="0"/>
          </a:p>
          <a:p>
            <a:pPr indent="0" marL="0">
              <a:lnSpc>
                <a:spcPct val="128000"/>
              </a:lnSpc>
              <a:buNone/>
            </a:pPr>
            <a:r>
              <a:rPr lang="en-US" sz="1250" i="1" dirty="0">
                <a:solidFill>
                  <a:srgbClr val="3A3F4B"/>
                </a:solidFill>
                <a:latin typeface="Calibri" pitchFamily="34" charset="0"/>
                <a:ea typeface="Calibri" pitchFamily="34" charset="-122"/>
                <a:cs typeface="Calibri" pitchFamily="34" charset="-120"/>
              </a:rPr>
              <a:t>Tiempo, no trabajo.</a:t>
            </a:r>
            <a:endParaRPr lang="en-US" sz="1300" dirty="0"/>
          </a:p>
        </p:txBody>
      </p:sp>
      <p:sp>
        <p:nvSpPr>
          <p:cNvPr id="20" name="Shape 17"/>
          <p:cNvSpPr/>
          <p:nvPr/>
        </p:nvSpPr>
        <p:spPr>
          <a:xfrm>
            <a:off x="8983980" y="2973629"/>
            <a:ext cx="2491740" cy="1686154"/>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21" name="Text 18"/>
          <p:cNvSpPr/>
          <p:nvPr/>
        </p:nvSpPr>
        <p:spPr>
          <a:xfrm>
            <a:off x="9240012" y="3211373"/>
            <a:ext cx="1979676"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WORD OF MOUTH</a:t>
            </a:r>
            <a:endParaRPr lang="en-US" sz="850" dirty="0"/>
          </a:p>
        </p:txBody>
      </p:sp>
      <p:sp>
        <p:nvSpPr>
          <p:cNvPr id="22" name="Text 19"/>
          <p:cNvSpPr/>
          <p:nvPr/>
        </p:nvSpPr>
        <p:spPr>
          <a:xfrm>
            <a:off x="9240012" y="3403397"/>
            <a:ext cx="1979676"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BOCA A BOCA</a:t>
            </a:r>
            <a:endParaRPr lang="en-US" sz="850" dirty="0"/>
          </a:p>
        </p:txBody>
      </p:sp>
      <p:sp>
        <p:nvSpPr>
          <p:cNvPr id="23" name="Text 20"/>
          <p:cNvSpPr/>
          <p:nvPr/>
        </p:nvSpPr>
        <p:spPr>
          <a:xfrm>
            <a:off x="9240012" y="3705149"/>
            <a:ext cx="1979676" cy="735178"/>
          </a:xfrm>
          <a:prstGeom prst="rect">
            <a:avLst/>
          </a:prstGeom>
          <a:noFill/>
          <a:ln/>
        </p:spPr>
        <p:txBody>
          <a:bodyPr wrap="square" lIns="0" tIns="0" rIns="0" bIns="0" rtlCol="0" anchor="t"/>
          <a:lstStyle/>
          <a:p>
            <a:pPr indent="0" marL="0">
              <a:lnSpc>
                <a:spcPct val="128000"/>
              </a:lnSpc>
              <a:spcAft>
                <a:spcPts val="1100"/>
              </a:spcAft>
              <a:buNone/>
            </a:pPr>
            <a:r>
              <a:rPr lang="en-US" sz="1300" dirty="0">
                <a:solidFill>
                  <a:srgbClr val="1C1A17"/>
                </a:solidFill>
                <a:latin typeface="Calibri" pitchFamily="34" charset="0"/>
                <a:ea typeface="Calibri" pitchFamily="34" charset="-122"/>
                <a:cs typeface="Calibri" pitchFamily="34" charset="-120"/>
              </a:rPr>
              <a:t>Whoever you know.</a:t>
            </a:r>
            <a:endParaRPr lang="en-US" sz="1300" dirty="0"/>
          </a:p>
          <a:p>
            <a:pPr indent="0" marL="0">
              <a:lnSpc>
                <a:spcPct val="128000"/>
              </a:lnSpc>
              <a:buNone/>
            </a:pPr>
            <a:r>
              <a:rPr lang="en-US" sz="1250" i="1" dirty="0">
                <a:solidFill>
                  <a:srgbClr val="3A3F4B"/>
                </a:solidFill>
                <a:latin typeface="Calibri" pitchFamily="34" charset="0"/>
                <a:ea typeface="Calibri" pitchFamily="34" charset="-122"/>
                <a:cs typeface="Calibri" pitchFamily="34" charset="-120"/>
              </a:rPr>
              <a:t>A quién conocés.</a:t>
            </a:r>
            <a:endParaRPr lang="en-US" sz="1300" dirty="0"/>
          </a:p>
        </p:txBody>
      </p:sp>
      <p:sp>
        <p:nvSpPr>
          <p:cNvPr id="24" name="Text 21"/>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a:t>
            </a:r>
            <a:endParaRPr lang="en-US" sz="800" dirty="0"/>
          </a:p>
        </p:txBody>
      </p:sp>
      <p:sp>
        <p:nvSpPr>
          <p:cNvPr id="25" name="Text 22"/>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10789920" cy="237744"/>
          </a:xfrm>
          <a:prstGeom prst="rect">
            <a:avLst/>
          </a:prstGeom>
          <a:noFill/>
          <a:ln/>
        </p:spPr>
        <p:txBody>
          <a:bodyPr wrap="square" lIns="0" tIns="0" rIns="0" bIns="0" rtlCol="0" anchor="t"/>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WHAT VELO SHOWS INSTEAD</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LO QUE VELO MUESTRA EN CAMBIO</a:t>
            </a:r>
            <a:endParaRPr lang="en-US" sz="900" dirty="0"/>
          </a:p>
        </p:txBody>
      </p:sp>
      <p:sp>
        <p:nvSpPr>
          <p:cNvPr id="4" name="Text 1"/>
          <p:cNvSpPr/>
          <p:nvPr/>
        </p:nvSpPr>
        <p:spPr>
          <a:xfrm>
            <a:off x="685800" y="804672"/>
            <a:ext cx="7315200" cy="237744"/>
          </a:xfrm>
          <a:prstGeom prst="rect">
            <a:avLst/>
          </a:prstGeom>
          <a:noFill/>
          <a:ln/>
        </p:spPr>
        <p:txBody>
          <a:bodyPr wrap="square" lIns="0" tIns="0" rIns="0" bIns="0" rtlCol="0" anchor="ctr"/>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EXAMPLE PROFILE</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PERFIL DE EJEMPLO</a:t>
            </a:r>
            <a:endParaRPr lang="en-US" sz="900" dirty="0"/>
          </a:p>
        </p:txBody>
      </p:sp>
      <p:sp>
        <p:nvSpPr>
          <p:cNvPr id="5" name="Text 2"/>
          <p:cNvSpPr/>
          <p:nvPr/>
        </p:nvSpPr>
        <p:spPr>
          <a:xfrm>
            <a:off x="685800" y="1060704"/>
            <a:ext cx="7315200" cy="731520"/>
          </a:xfrm>
          <a:prstGeom prst="rect">
            <a:avLst/>
          </a:prstGeom>
          <a:noFill/>
          <a:ln/>
        </p:spPr>
        <p:txBody>
          <a:bodyPr wrap="square" lIns="0" tIns="0" rIns="0" bIns="0" rtlCol="0" anchor="t"/>
          <a:lstStyle/>
          <a:p>
            <a:pPr indent="0" marL="0">
              <a:buNone/>
            </a:pPr>
            <a:r>
              <a:rPr lang="en-US" sz="4000" b="1" dirty="0">
                <a:solidFill>
                  <a:srgbClr val="1C1A17"/>
                </a:solidFill>
                <a:latin typeface="Century Schoolbook" pitchFamily="34" charset="0"/>
                <a:ea typeface="Century Schoolbook" pitchFamily="34" charset="-122"/>
                <a:cs typeface="Century Schoolbook" pitchFamily="34" charset="-120"/>
              </a:rPr>
              <a:t>Perito-A7F3</a:t>
            </a:r>
            <a:endParaRPr lang="en-US" sz="4000" dirty="0"/>
          </a:p>
        </p:txBody>
      </p:sp>
      <p:sp>
        <p:nvSpPr>
          <p:cNvPr id="6" name="Text 3"/>
          <p:cNvSpPr/>
          <p:nvPr/>
        </p:nvSpPr>
        <p:spPr>
          <a:xfrm>
            <a:off x="640080" y="1956816"/>
            <a:ext cx="2409444" cy="1097280"/>
          </a:xfrm>
          <a:prstGeom prst="rect">
            <a:avLst/>
          </a:prstGeom>
          <a:noFill/>
          <a:ln/>
        </p:spPr>
        <p:txBody>
          <a:bodyPr wrap="square" lIns="0" tIns="0" rIns="0" bIns="0" rtlCol="0" anchor="t"/>
          <a:lstStyle/>
          <a:p>
            <a:pPr indent="0" marL="0">
              <a:buNone/>
            </a:pPr>
            <a:r>
              <a:rPr lang="en-US" sz="7400" b="1" dirty="0">
                <a:solidFill>
                  <a:srgbClr val="8B3A2F"/>
                </a:solidFill>
                <a:latin typeface="Century Schoolbook" pitchFamily="34" charset="0"/>
                <a:ea typeface="Century Schoolbook" pitchFamily="34" charset="-122"/>
                <a:cs typeface="Century Schoolbook" pitchFamily="34" charset="-120"/>
              </a:rPr>
              <a:t>143</a:t>
            </a:r>
            <a:endParaRPr lang="en-US" sz="7400" dirty="0"/>
          </a:p>
        </p:txBody>
      </p:sp>
      <p:sp>
        <p:nvSpPr>
          <p:cNvPr id="7" name="Text 4"/>
          <p:cNvSpPr/>
          <p:nvPr/>
        </p:nvSpPr>
        <p:spPr>
          <a:xfrm>
            <a:off x="685800" y="3072384"/>
            <a:ext cx="2409444"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SEALED CASES</a:t>
            </a:r>
            <a:endParaRPr lang="en-US" sz="850" dirty="0"/>
          </a:p>
        </p:txBody>
      </p:sp>
      <p:sp>
        <p:nvSpPr>
          <p:cNvPr id="8" name="Text 5"/>
          <p:cNvSpPr/>
          <p:nvPr/>
        </p:nvSpPr>
        <p:spPr>
          <a:xfrm>
            <a:off x="685800" y="3264408"/>
            <a:ext cx="2409444"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CASOS SELLADOS</a:t>
            </a:r>
            <a:endParaRPr lang="en-US" sz="850" dirty="0"/>
          </a:p>
        </p:txBody>
      </p:sp>
      <p:sp>
        <p:nvSpPr>
          <p:cNvPr id="9" name="Text 6"/>
          <p:cNvSpPr/>
          <p:nvPr/>
        </p:nvSpPr>
        <p:spPr>
          <a:xfrm>
            <a:off x="3433572" y="1956816"/>
            <a:ext cx="2409444" cy="1097280"/>
          </a:xfrm>
          <a:prstGeom prst="rect">
            <a:avLst/>
          </a:prstGeom>
          <a:noFill/>
          <a:ln/>
        </p:spPr>
        <p:txBody>
          <a:bodyPr wrap="square" lIns="0" tIns="0" rIns="0" bIns="0" rtlCol="0" anchor="t"/>
          <a:lstStyle/>
          <a:p>
            <a:pPr indent="0" marL="0">
              <a:buNone/>
            </a:pPr>
            <a:r>
              <a:rPr lang="en-US" sz="7400" b="1" dirty="0">
                <a:solidFill>
                  <a:srgbClr val="8B3A2F"/>
                </a:solidFill>
                <a:latin typeface="Century Schoolbook" pitchFamily="34" charset="0"/>
                <a:ea typeface="Century Schoolbook" pitchFamily="34" charset="-122"/>
                <a:cs typeface="Century Schoolbook" pitchFamily="34" charset="-120"/>
              </a:rPr>
              <a:t>98</a:t>
            </a:r>
            <a:endParaRPr lang="en-US" sz="7400" dirty="0"/>
          </a:p>
        </p:txBody>
      </p:sp>
      <p:sp>
        <p:nvSpPr>
          <p:cNvPr id="10" name="Text 7"/>
          <p:cNvSpPr/>
          <p:nvPr/>
        </p:nvSpPr>
        <p:spPr>
          <a:xfrm>
            <a:off x="3479292" y="3072384"/>
            <a:ext cx="2409444"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MET ADMISSIBILITY</a:t>
            </a:r>
            <a:endParaRPr lang="en-US" sz="850" dirty="0"/>
          </a:p>
        </p:txBody>
      </p:sp>
      <p:sp>
        <p:nvSpPr>
          <p:cNvPr id="11" name="Text 8"/>
          <p:cNvSpPr/>
          <p:nvPr/>
        </p:nvSpPr>
        <p:spPr>
          <a:xfrm>
            <a:off x="3479292" y="3264408"/>
            <a:ext cx="2409444"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CUMPLEN ADMISIBILIDAD</a:t>
            </a:r>
            <a:endParaRPr lang="en-US" sz="850" dirty="0"/>
          </a:p>
        </p:txBody>
      </p:sp>
      <p:sp>
        <p:nvSpPr>
          <p:cNvPr id="12" name="Text 9"/>
          <p:cNvSpPr/>
          <p:nvPr/>
        </p:nvSpPr>
        <p:spPr>
          <a:xfrm>
            <a:off x="6227064" y="1956816"/>
            <a:ext cx="2409444" cy="1097280"/>
          </a:xfrm>
          <a:prstGeom prst="rect">
            <a:avLst/>
          </a:prstGeom>
          <a:noFill/>
          <a:ln/>
        </p:spPr>
        <p:txBody>
          <a:bodyPr wrap="square" lIns="0" tIns="0" rIns="0" bIns="0" rtlCol="0" anchor="t"/>
          <a:lstStyle/>
          <a:p>
            <a:pPr indent="0" marL="0">
              <a:buNone/>
            </a:pPr>
            <a:r>
              <a:rPr lang="en-US" sz="7400" b="1" dirty="0">
                <a:solidFill>
                  <a:srgbClr val="8B3A2F"/>
                </a:solidFill>
                <a:latin typeface="Century Schoolbook" pitchFamily="34" charset="0"/>
                <a:ea typeface="Century Schoolbook" pitchFamily="34" charset="-122"/>
                <a:cs typeface="Century Schoolbook" pitchFamily="34" charset="-120"/>
              </a:rPr>
              <a:t>12</a:t>
            </a:r>
            <a:endParaRPr lang="en-US" sz="7400" dirty="0"/>
          </a:p>
        </p:txBody>
      </p:sp>
      <p:sp>
        <p:nvSpPr>
          <p:cNvPr id="13" name="Text 10"/>
          <p:cNvSpPr/>
          <p:nvPr/>
        </p:nvSpPr>
        <p:spPr>
          <a:xfrm>
            <a:off x="6272784" y="3072384"/>
            <a:ext cx="2409444"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INDEPENDENT AUDITS</a:t>
            </a:r>
            <a:endParaRPr lang="en-US" sz="850" dirty="0"/>
          </a:p>
        </p:txBody>
      </p:sp>
      <p:sp>
        <p:nvSpPr>
          <p:cNvPr id="14" name="Text 11"/>
          <p:cNvSpPr/>
          <p:nvPr/>
        </p:nvSpPr>
        <p:spPr>
          <a:xfrm>
            <a:off x="6272784" y="3264408"/>
            <a:ext cx="2409444"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AUDITORÍAS INDEPENDIENTES</a:t>
            </a:r>
            <a:endParaRPr lang="en-US" sz="850" dirty="0"/>
          </a:p>
        </p:txBody>
      </p:sp>
      <p:sp>
        <p:nvSpPr>
          <p:cNvPr id="15" name="Text 12"/>
          <p:cNvSpPr/>
          <p:nvPr/>
        </p:nvSpPr>
        <p:spPr>
          <a:xfrm>
            <a:off x="9020556" y="1956816"/>
            <a:ext cx="2409444" cy="1097280"/>
          </a:xfrm>
          <a:prstGeom prst="rect">
            <a:avLst/>
          </a:prstGeom>
          <a:noFill/>
          <a:ln/>
        </p:spPr>
        <p:txBody>
          <a:bodyPr wrap="square" lIns="0" tIns="0" rIns="0" bIns="0" rtlCol="0" anchor="t"/>
          <a:lstStyle/>
          <a:p>
            <a:pPr indent="0" marL="0">
              <a:buNone/>
            </a:pPr>
            <a:r>
              <a:rPr lang="en-US" sz="7400" b="1" dirty="0">
                <a:solidFill>
                  <a:srgbClr val="8B3A2F"/>
                </a:solidFill>
                <a:latin typeface="Century Schoolbook" pitchFamily="34" charset="0"/>
                <a:ea typeface="Century Schoolbook" pitchFamily="34" charset="-122"/>
                <a:cs typeface="Century Schoolbook" pitchFamily="34" charset="-120"/>
              </a:rPr>
              <a:t>0</a:t>
            </a:r>
            <a:endParaRPr lang="en-US" sz="7400" dirty="0"/>
          </a:p>
        </p:txBody>
      </p:sp>
      <p:sp>
        <p:nvSpPr>
          <p:cNvPr id="16" name="Text 13"/>
          <p:cNvSpPr/>
          <p:nvPr/>
        </p:nvSpPr>
        <p:spPr>
          <a:xfrm>
            <a:off x="9066276" y="3072384"/>
            <a:ext cx="2409444"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PROOFS INVALIDATED</a:t>
            </a:r>
            <a:endParaRPr lang="en-US" sz="850" dirty="0"/>
          </a:p>
        </p:txBody>
      </p:sp>
      <p:sp>
        <p:nvSpPr>
          <p:cNvPr id="17" name="Text 14"/>
          <p:cNvSpPr/>
          <p:nvPr/>
        </p:nvSpPr>
        <p:spPr>
          <a:xfrm>
            <a:off x="9066276" y="3264408"/>
            <a:ext cx="2409444"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PRUEBAS INVALIDADAS</a:t>
            </a:r>
            <a:endParaRPr lang="en-US" sz="850" dirty="0"/>
          </a:p>
        </p:txBody>
      </p:sp>
      <p:sp>
        <p:nvSpPr>
          <p:cNvPr id="18" name="Text 15"/>
          <p:cNvSpPr/>
          <p:nvPr/>
        </p:nvSpPr>
        <p:spPr>
          <a:xfrm>
            <a:off x="685800" y="3886200"/>
            <a:ext cx="5074920" cy="731520"/>
          </a:xfrm>
          <a:prstGeom prst="rect">
            <a:avLst/>
          </a:prstGeom>
          <a:noFill/>
          <a:ln/>
        </p:spPr>
        <p:txBody>
          <a:bodyPr wrap="square" lIns="0" tIns="0" rIns="0" bIns="0" rtlCol="0" anchor="t"/>
          <a:lstStyle/>
          <a:p>
            <a:pPr indent="0" marL="0">
              <a:lnSpc>
                <a:spcPct val="130000"/>
              </a:lnSpc>
              <a:buNone/>
            </a:pPr>
            <a:r>
              <a:rPr lang="en-US" sz="1150" dirty="0">
                <a:solidFill>
                  <a:srgbClr val="1C1A17"/>
                </a:solidFill>
                <a:latin typeface="Calibri" pitchFamily="34" charset="0"/>
                <a:ea typeface="Calibri" pitchFamily="34" charset="-122"/>
                <a:cs typeface="Calibri" pitchFamily="34" charset="-120"/>
              </a:rPr>
              <a:t>98 of 143 is not a failure rate. The engine returns SUSPICION or ABSTAIN whenever corroboration or provenance is missing — the expert worth doubting is the one who reaches MALICE every time.</a:t>
            </a:r>
            <a:endParaRPr lang="en-US" sz="1150" dirty="0"/>
          </a:p>
        </p:txBody>
      </p:sp>
      <p:sp>
        <p:nvSpPr>
          <p:cNvPr id="19" name="Text 16"/>
          <p:cNvSpPr/>
          <p:nvPr/>
        </p:nvSpPr>
        <p:spPr>
          <a:xfrm>
            <a:off x="6400800" y="3886200"/>
            <a:ext cx="5074920" cy="731520"/>
          </a:xfrm>
          <a:prstGeom prst="rect">
            <a:avLst/>
          </a:prstGeom>
          <a:noFill/>
          <a:ln/>
        </p:spPr>
        <p:txBody>
          <a:bodyPr wrap="square" lIns="0" tIns="0" rIns="0" bIns="0" rtlCol="0" anchor="t"/>
          <a:lstStyle/>
          <a:p>
            <a:pPr indent="0" marL="0">
              <a:lnSpc>
                <a:spcPct val="130000"/>
              </a:lnSpc>
              <a:buNone/>
            </a:pPr>
            <a:r>
              <a:rPr lang="en-US" sz="1150" dirty="0">
                <a:solidFill>
                  <a:srgbClr val="3A3F4B"/>
                </a:solidFill>
                <a:latin typeface="Calibri" pitchFamily="34" charset="0"/>
                <a:ea typeface="Calibri" pitchFamily="34" charset="-122"/>
                <a:cs typeface="Calibri" pitchFamily="34" charset="-120"/>
              </a:rPr>
              <a:t>98 de 143 no es una tasa de fracaso. El motor devuelve SUSPICION o ABSTAIN cuando falta corroboración o proveniencia — el perito del que hay que desconfiar es el que llega a MALICE siempre.</a:t>
            </a:r>
            <a:endParaRPr lang="en-US" sz="1150" dirty="0"/>
          </a:p>
        </p:txBody>
      </p:sp>
      <p:sp>
        <p:nvSpPr>
          <p:cNvPr id="20" name="Shape 17"/>
          <p:cNvSpPr/>
          <p:nvPr/>
        </p:nvSpPr>
        <p:spPr>
          <a:xfrm>
            <a:off x="685800" y="5010912"/>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21" name="Text 18"/>
          <p:cNvSpPr/>
          <p:nvPr/>
        </p:nvSpPr>
        <p:spPr>
          <a:xfrm>
            <a:off x="960120" y="5193792"/>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None of these numbers reveals a victim, a piece of evidence, a client, or a single case detail.</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Ninguno de estos números revela una víctima, una evidencia, un cliente, ni un solo detalle de un caso.</a:t>
            </a:r>
            <a:endParaRPr lang="en-US" sz="1300" dirty="0"/>
          </a:p>
        </p:txBody>
      </p:sp>
      <p:sp>
        <p:nvSpPr>
          <p:cNvPr id="22" name="Text 19"/>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a:t>
            </a:r>
            <a:endParaRPr lang="en-US" sz="800" dirty="0"/>
          </a:p>
        </p:txBody>
      </p:sp>
      <p:sp>
        <p:nvSpPr>
          <p:cNvPr id="23" name="Text 20"/>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10789920" cy="237744"/>
          </a:xfrm>
          <a:prstGeom prst="rect">
            <a:avLst/>
          </a:prstGeom>
          <a:noFill/>
          <a:ln/>
        </p:spPr>
        <p:txBody>
          <a:bodyPr wrap="square" lIns="0" tIns="0" rIns="0" bIns="0" rtlCol="0" anchor="t"/>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THE PRODUCT</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EL PRODUCTO</a:t>
            </a:r>
            <a:endParaRPr lang="en-US" sz="900" dirty="0"/>
          </a:p>
        </p:txBody>
      </p:sp>
      <p:sp>
        <p:nvSpPr>
          <p:cNvPr id="4" name="Text 1"/>
          <p:cNvSpPr/>
          <p:nvPr/>
        </p:nvSpPr>
        <p:spPr>
          <a:xfrm>
            <a:off x="685800" y="786384"/>
            <a:ext cx="10789920" cy="1071677"/>
          </a:xfrm>
          <a:prstGeom prst="rect">
            <a:avLst/>
          </a:prstGeom>
          <a:noFill/>
          <a:ln/>
        </p:spPr>
        <p:txBody>
          <a:bodyPr wrap="square" lIns="0" tIns="0" rIns="0" bIns="0" rtlCol="0" anchor="t"/>
          <a:lstStyle/>
          <a:p>
            <a:pPr indent="0" marL="0">
              <a:lnSpc>
                <a:spcPct val="114000"/>
              </a:lnSpc>
              <a:spcAft>
                <a:spcPts val="1000"/>
              </a:spcAft>
              <a:buNone/>
            </a:pPr>
            <a:r>
              <a:rPr lang="en-US" sz="3000" dirty="0">
                <a:solidFill>
                  <a:srgbClr val="1C1A17"/>
                </a:solidFill>
                <a:latin typeface="Century Schoolbook" pitchFamily="34" charset="0"/>
                <a:ea typeface="Century Schoolbook" pitchFamily="34" charset="-122"/>
                <a:cs typeface="Century Schoolbook" pitchFamily="34" charset="-120"/>
              </a:rPr>
              <a:t>A wallet, where the asset is a sealed case.</a:t>
            </a:r>
            <a:endParaRPr lang="en-US" sz="3000" dirty="0"/>
          </a:p>
          <a:p>
            <a:pPr indent="0" marL="0">
              <a:lnSpc>
                <a:spcPct val="114000"/>
              </a:lnSpc>
              <a:buNone/>
            </a:pPr>
            <a:r>
              <a:rPr lang="en-US" sz="1800" i="1" dirty="0">
                <a:solidFill>
                  <a:srgbClr val="3A3F4B"/>
                </a:solidFill>
                <a:latin typeface="Century Schoolbook" pitchFamily="34" charset="0"/>
                <a:ea typeface="Century Schoolbook" pitchFamily="34" charset="-122"/>
                <a:cs typeface="Century Schoolbook" pitchFamily="34" charset="-120"/>
              </a:rPr>
              <a:t>Una wallet, donde el activo es un caso sellado.</a:t>
            </a:r>
            <a:endParaRPr lang="en-US" sz="3000" dirty="0"/>
          </a:p>
        </p:txBody>
      </p:sp>
      <p:sp>
        <p:nvSpPr>
          <p:cNvPr id="5" name="Shape 2"/>
          <p:cNvSpPr/>
          <p:nvPr/>
        </p:nvSpPr>
        <p:spPr>
          <a:xfrm>
            <a:off x="685800" y="2315261"/>
            <a:ext cx="2560320" cy="2286000"/>
          </a:xfrm>
          <a:prstGeom prst="rect">
            <a:avLst/>
          </a:prstGeom>
          <a:solidFill>
            <a:srgbClr val="3A3F4B"/>
          </a:solidFill>
          <a:ln w="12700">
            <a:solidFill>
              <a:srgbClr val="3A3F4B"/>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23544" y="2553005"/>
            <a:ext cx="2084832"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OWNER</a:t>
            </a:r>
            <a:endParaRPr lang="en-US" sz="850" dirty="0"/>
          </a:p>
        </p:txBody>
      </p:sp>
      <p:sp>
        <p:nvSpPr>
          <p:cNvPr id="7" name="Text 4"/>
          <p:cNvSpPr/>
          <p:nvPr/>
        </p:nvSpPr>
        <p:spPr>
          <a:xfrm>
            <a:off x="923544" y="2745029"/>
            <a:ext cx="2084832"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TITULAR</a:t>
            </a:r>
            <a:endParaRPr lang="en-US" sz="850" dirty="0"/>
          </a:p>
        </p:txBody>
      </p:sp>
      <p:sp>
        <p:nvSpPr>
          <p:cNvPr id="8" name="Text 5"/>
          <p:cNvSpPr/>
          <p:nvPr/>
        </p:nvSpPr>
        <p:spPr>
          <a:xfrm>
            <a:off x="923544" y="3275381"/>
            <a:ext cx="2084832" cy="457200"/>
          </a:xfrm>
          <a:prstGeom prst="rect">
            <a:avLst/>
          </a:prstGeom>
          <a:noFill/>
          <a:ln/>
        </p:spPr>
        <p:txBody>
          <a:bodyPr wrap="square" lIns="0" tIns="0" rIns="0" bIns="0" rtlCol="0" anchor="t"/>
          <a:lstStyle/>
          <a:p>
            <a:pPr indent="0" marL="0">
              <a:buNone/>
            </a:pPr>
            <a:r>
              <a:rPr lang="en-US" sz="2400" b="1" dirty="0">
                <a:solidFill>
                  <a:srgbClr val="EDE7DA"/>
                </a:solidFill>
                <a:latin typeface="Century Schoolbook" pitchFamily="34" charset="0"/>
                <a:ea typeface="Century Schoolbook" pitchFamily="34" charset="-122"/>
                <a:cs typeface="Century Schoolbook" pitchFamily="34" charset="-120"/>
              </a:rPr>
              <a:t>Perito-A7F3</a:t>
            </a:r>
            <a:endParaRPr lang="en-US" sz="2400" dirty="0"/>
          </a:p>
        </p:txBody>
      </p:sp>
      <p:sp>
        <p:nvSpPr>
          <p:cNvPr id="9" name="Text 6"/>
          <p:cNvSpPr/>
          <p:nvPr/>
        </p:nvSpPr>
        <p:spPr>
          <a:xfrm>
            <a:off x="923544" y="3796589"/>
            <a:ext cx="2084832" cy="256032"/>
          </a:xfrm>
          <a:prstGeom prst="rect">
            <a:avLst/>
          </a:prstGeom>
          <a:noFill/>
          <a:ln/>
        </p:spPr>
        <p:txBody>
          <a:bodyPr wrap="square" lIns="0" tIns="0" rIns="0" bIns="0" rtlCol="0" anchor="t"/>
          <a:lstStyle/>
          <a:p>
            <a:pPr indent="0" marL="0">
              <a:buNone/>
            </a:pPr>
            <a:r>
              <a:rPr lang="en-US" sz="900" dirty="0">
                <a:solidFill>
                  <a:srgbClr val="C9C4B8"/>
                </a:solidFill>
                <a:latin typeface="Courier New" pitchFamily="34" charset="0"/>
                <a:ea typeface="Courier New" pitchFamily="34" charset="-122"/>
                <a:cs typeface="Courier New" pitchFamily="34" charset="-120"/>
              </a:rPr>
              <a:t>wallet address</a:t>
            </a:r>
            <a:endParaRPr lang="en-US" sz="900" dirty="0"/>
          </a:p>
        </p:txBody>
      </p:sp>
      <p:sp>
        <p:nvSpPr>
          <p:cNvPr id="10" name="Shape 7"/>
          <p:cNvSpPr/>
          <p:nvPr/>
        </p:nvSpPr>
        <p:spPr>
          <a:xfrm>
            <a:off x="3392424" y="3458261"/>
            <a:ext cx="210312" cy="0"/>
          </a:xfrm>
          <a:prstGeom prst="line">
            <a:avLst/>
          </a:prstGeom>
          <a:noFill/>
          <a:ln w="15875">
            <a:solidFill>
              <a:srgbClr val="6B6257"/>
            </a:solidFill>
            <a:prstDash val="solid"/>
            <a:tailEnd type="triangle"/>
          </a:ln>
        </p:spPr>
        <p:txBody>
          <a:bodyPr/>
          <a:p/>
        </p:txBody>
      </p:sp>
      <p:sp>
        <p:nvSpPr>
          <p:cNvPr id="11" name="Shape 8"/>
          <p:cNvSpPr/>
          <p:nvPr/>
        </p:nvSpPr>
        <p:spPr>
          <a:xfrm>
            <a:off x="3749040" y="2315261"/>
            <a:ext cx="3108960" cy="1033272"/>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12" name="Text 9"/>
          <p:cNvSpPr/>
          <p:nvPr/>
        </p:nvSpPr>
        <p:spPr>
          <a:xfrm>
            <a:off x="3968496" y="2479853"/>
            <a:ext cx="2670048"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PROFESSIONAL CREDENTIAL</a:t>
            </a:r>
            <a:endParaRPr lang="en-US" sz="850" dirty="0"/>
          </a:p>
        </p:txBody>
      </p:sp>
      <p:sp>
        <p:nvSpPr>
          <p:cNvPr id="13" name="Text 10"/>
          <p:cNvSpPr/>
          <p:nvPr/>
        </p:nvSpPr>
        <p:spPr>
          <a:xfrm>
            <a:off x="3968496" y="2671877"/>
            <a:ext cx="2670048"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CREDENCIAL PROFESIONAL</a:t>
            </a:r>
            <a:endParaRPr lang="en-US" sz="850" dirty="0"/>
          </a:p>
        </p:txBody>
      </p:sp>
      <p:sp>
        <p:nvSpPr>
          <p:cNvPr id="14" name="Text 11"/>
          <p:cNvSpPr/>
          <p:nvPr/>
        </p:nvSpPr>
        <p:spPr>
          <a:xfrm>
            <a:off x="3968496" y="2918765"/>
            <a:ext cx="2670048" cy="365760"/>
          </a:xfrm>
          <a:prstGeom prst="rect">
            <a:avLst/>
          </a:prstGeom>
          <a:noFill/>
          <a:ln/>
        </p:spPr>
        <p:txBody>
          <a:bodyPr wrap="square" lIns="0" tIns="0" rIns="0" bIns="0" rtlCol="0" anchor="t"/>
          <a:lstStyle/>
          <a:p>
            <a:pPr indent="0" marL="0">
              <a:buNone/>
            </a:pPr>
            <a:r>
              <a:rPr lang="en-US" sz="1600" dirty="0">
                <a:solidFill>
                  <a:srgbClr val="1C1A17"/>
                </a:solidFill>
                <a:latin typeface="Courier New" pitchFamily="34" charset="0"/>
                <a:ea typeface="Courier New" pitchFamily="34" charset="-122"/>
                <a:cs typeface="Courier New" pitchFamily="34" charset="-120"/>
              </a:rPr>
              <a:t>ZK · roadmap</a:t>
            </a:r>
            <a:endParaRPr lang="en-US" sz="1600" dirty="0"/>
          </a:p>
        </p:txBody>
      </p:sp>
      <p:sp>
        <p:nvSpPr>
          <p:cNvPr id="15" name="Shape 12"/>
          <p:cNvSpPr/>
          <p:nvPr/>
        </p:nvSpPr>
        <p:spPr>
          <a:xfrm>
            <a:off x="3749040" y="3567989"/>
            <a:ext cx="3108960" cy="1033272"/>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16" name="Text 13"/>
          <p:cNvSpPr/>
          <p:nvPr/>
        </p:nvSpPr>
        <p:spPr>
          <a:xfrm>
            <a:off x="3968496" y="3732581"/>
            <a:ext cx="2670048"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SEALED CASES</a:t>
            </a:r>
            <a:endParaRPr lang="en-US" sz="850" dirty="0"/>
          </a:p>
        </p:txBody>
      </p:sp>
      <p:sp>
        <p:nvSpPr>
          <p:cNvPr id="17" name="Text 14"/>
          <p:cNvSpPr/>
          <p:nvPr/>
        </p:nvSpPr>
        <p:spPr>
          <a:xfrm>
            <a:off x="3968496" y="3924605"/>
            <a:ext cx="2670048"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CASOS SELLADOS</a:t>
            </a:r>
            <a:endParaRPr lang="en-US" sz="850" dirty="0"/>
          </a:p>
        </p:txBody>
      </p:sp>
      <p:sp>
        <p:nvSpPr>
          <p:cNvPr id="18" name="Text 15"/>
          <p:cNvSpPr/>
          <p:nvPr/>
        </p:nvSpPr>
        <p:spPr>
          <a:xfrm>
            <a:off x="3968496" y="4171493"/>
            <a:ext cx="2670048" cy="365760"/>
          </a:xfrm>
          <a:prstGeom prst="rect">
            <a:avLst/>
          </a:prstGeom>
          <a:noFill/>
          <a:ln/>
        </p:spPr>
        <p:txBody>
          <a:bodyPr wrap="square" lIns="0" tIns="0" rIns="0" bIns="0" rtlCol="0" anchor="t"/>
          <a:lstStyle/>
          <a:p>
            <a:pPr indent="0" marL="0">
              <a:buNone/>
            </a:pPr>
            <a:r>
              <a:rPr lang="en-US" sz="1600" dirty="0">
                <a:solidFill>
                  <a:srgbClr val="1C1A17"/>
                </a:solidFill>
                <a:latin typeface="Courier New" pitchFamily="34" charset="0"/>
                <a:ea typeface="Courier New" pitchFamily="34" charset="-122"/>
                <a:cs typeface="Courier New" pitchFamily="34" charset="-120"/>
              </a:rPr>
              <a:t>143</a:t>
            </a:r>
            <a:endParaRPr lang="en-US" sz="1600" dirty="0"/>
          </a:p>
        </p:txBody>
      </p:sp>
      <p:sp>
        <p:nvSpPr>
          <p:cNvPr id="19" name="Shape 16"/>
          <p:cNvSpPr/>
          <p:nvPr/>
        </p:nvSpPr>
        <p:spPr>
          <a:xfrm>
            <a:off x="7004304" y="3458261"/>
            <a:ext cx="210312" cy="0"/>
          </a:xfrm>
          <a:prstGeom prst="line">
            <a:avLst/>
          </a:prstGeom>
          <a:noFill/>
          <a:ln w="15875">
            <a:solidFill>
              <a:srgbClr val="6B6257"/>
            </a:solidFill>
            <a:prstDash val="solid"/>
            <a:tailEnd type="triangle"/>
          </a:ln>
        </p:spPr>
        <p:txBody>
          <a:bodyPr/>
          <a:p/>
        </p:txBody>
      </p:sp>
      <p:sp>
        <p:nvSpPr>
          <p:cNvPr id="20" name="Shape 17"/>
          <p:cNvSpPr/>
          <p:nvPr/>
        </p:nvSpPr>
        <p:spPr>
          <a:xfrm>
            <a:off x="7360920" y="2315261"/>
            <a:ext cx="4114800" cy="2286000"/>
          </a:xfrm>
          <a:prstGeom prst="rect">
            <a:avLst/>
          </a:prstGeom>
          <a:solidFill>
            <a:srgbClr val="E4DDCC"/>
          </a:solidFill>
          <a:ln w="19050">
            <a:solidFill>
              <a:srgbClr val="8B3A2F"/>
            </a:solidFill>
            <a:prstDash val="solid"/>
          </a:ln>
          <a:effectLst>
            <a:outerShdw sx="100000" sy="100000" kx="0" ky="0" algn="bl" rotWithShape="0" blurRad="127000" dist="25400" dir="5400000">
              <a:srgbClr val="6B6257">
                <a:alpha val="35000"/>
              </a:srgbClr>
            </a:outerShdw>
          </a:effectLst>
        </p:spPr>
        <p:txBody>
          <a:bodyPr/>
          <a:p/>
        </p:txBody>
      </p:sp>
      <p:sp>
        <p:nvSpPr>
          <p:cNvPr id="21" name="Text 18"/>
          <p:cNvSpPr/>
          <p:nvPr/>
        </p:nvSpPr>
        <p:spPr>
          <a:xfrm>
            <a:off x="7598664" y="2516429"/>
            <a:ext cx="3639312"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WHAT A SEALED CASE CARRIES</a:t>
            </a:r>
            <a:endParaRPr lang="en-US" sz="850" dirty="0"/>
          </a:p>
        </p:txBody>
      </p:sp>
      <p:sp>
        <p:nvSpPr>
          <p:cNvPr id="22" name="Text 19"/>
          <p:cNvSpPr/>
          <p:nvPr/>
        </p:nvSpPr>
        <p:spPr>
          <a:xfrm>
            <a:off x="7598664" y="2708453"/>
            <a:ext cx="3639312"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QUÉ LLEVA UN CASO SELLADO</a:t>
            </a:r>
            <a:endParaRPr lang="en-US" sz="850" dirty="0"/>
          </a:p>
        </p:txBody>
      </p:sp>
      <p:sp>
        <p:nvSpPr>
          <p:cNvPr id="23" name="Text 20"/>
          <p:cNvSpPr/>
          <p:nvPr/>
        </p:nvSpPr>
        <p:spPr>
          <a:xfrm>
            <a:off x="7598664" y="3174797"/>
            <a:ext cx="1728216" cy="1280160"/>
          </a:xfrm>
          <a:prstGeom prst="rect">
            <a:avLst/>
          </a:prstGeom>
          <a:noFill/>
          <a:ln/>
        </p:spPr>
        <p:txBody>
          <a:bodyPr wrap="square" lIns="0" tIns="0" rIns="0" bIns="0" rtlCol="0" anchor="t"/>
          <a:lstStyle/>
          <a:p>
            <a:pPr indent="0" marL="0">
              <a:lnSpc>
                <a:spcPct val="155000"/>
              </a:lnSpc>
              <a:buNone/>
            </a:pPr>
            <a:r>
              <a:rPr lang="en-US" sz="1050" dirty="0">
                <a:solidFill>
                  <a:srgbClr val="1C1A17"/>
                </a:solidFill>
                <a:latin typeface="Courier New" pitchFamily="34" charset="0"/>
                <a:ea typeface="Courier New" pitchFamily="34" charset="-122"/>
                <a:cs typeface="Courier New" pitchFamily="34" charset="-120"/>
              </a:rPr>
              <a:t>case_type</a:t>
            </a:r>
            <a:endParaRPr lang="en-US" sz="1050" dirty="0"/>
          </a:p>
          <a:p>
            <a:pPr indent="0" marL="0">
              <a:lnSpc>
                <a:spcPct val="155000"/>
              </a:lnSpc>
              <a:buNone/>
            </a:pPr>
            <a:r>
              <a:rPr lang="en-US" sz="1050" dirty="0">
                <a:solidFill>
                  <a:srgbClr val="1C1A17"/>
                </a:solidFill>
                <a:latin typeface="Courier New" pitchFamily="34" charset="0"/>
                <a:ea typeface="Courier New" pitchFamily="34" charset="-122"/>
                <a:cs typeface="Courier New" pitchFamily="34" charset="-120"/>
              </a:rPr>
              <a:t>date</a:t>
            </a:r>
            <a:endParaRPr lang="en-US" sz="1050" dirty="0"/>
          </a:p>
          <a:p>
            <a:pPr indent="0" marL="0">
              <a:lnSpc>
                <a:spcPct val="155000"/>
              </a:lnSpc>
              <a:buNone/>
            </a:pPr>
            <a:r>
              <a:rPr lang="en-US" sz="1050" dirty="0">
                <a:solidFill>
                  <a:srgbClr val="1C1A17"/>
                </a:solidFill>
                <a:latin typeface="Courier New" pitchFamily="34" charset="0"/>
                <a:ea typeface="Courier New" pitchFamily="34" charset="-122"/>
                <a:cs typeface="Courier New" pitchFamily="34" charset="-120"/>
              </a:rPr>
              <a:t>jurisdiction</a:t>
            </a:r>
            <a:endParaRPr lang="en-US" sz="1050" dirty="0"/>
          </a:p>
          <a:p>
            <a:pPr indent="0" marL="0">
              <a:lnSpc>
                <a:spcPct val="155000"/>
              </a:lnSpc>
              <a:buNone/>
            </a:pPr>
            <a:r>
              <a:rPr lang="en-US" sz="1050" dirty="0">
                <a:solidFill>
                  <a:srgbClr val="1C1A17"/>
                </a:solidFill>
                <a:latin typeface="Courier New" pitchFamily="34" charset="0"/>
                <a:ea typeface="Courier New" pitchFamily="34" charset="-122"/>
                <a:cs typeface="Courier New" pitchFamily="34" charset="-120"/>
              </a:rPr>
              <a:t>rule_satisfied</a:t>
            </a:r>
            <a:endParaRPr lang="en-US" sz="1050" dirty="0"/>
          </a:p>
        </p:txBody>
      </p:sp>
      <p:sp>
        <p:nvSpPr>
          <p:cNvPr id="24" name="Text 21"/>
          <p:cNvSpPr/>
          <p:nvPr/>
        </p:nvSpPr>
        <p:spPr>
          <a:xfrm>
            <a:off x="9418320" y="3174797"/>
            <a:ext cx="1728216" cy="1280160"/>
          </a:xfrm>
          <a:prstGeom prst="rect">
            <a:avLst/>
          </a:prstGeom>
          <a:noFill/>
          <a:ln/>
        </p:spPr>
        <p:txBody>
          <a:bodyPr wrap="square" lIns="0" tIns="0" rIns="0" bIns="0" rtlCol="0" anchor="t"/>
          <a:lstStyle/>
          <a:p>
            <a:pPr indent="0" marL="0">
              <a:lnSpc>
                <a:spcPct val="155000"/>
              </a:lnSpc>
              <a:buNone/>
            </a:pPr>
            <a:r>
              <a:rPr lang="en-US" sz="1050" dirty="0">
                <a:solidFill>
                  <a:srgbClr val="1C1A17"/>
                </a:solidFill>
                <a:latin typeface="Courier New" pitchFamily="34" charset="0"/>
                <a:ea typeface="Courier New" pitchFamily="34" charset="-122"/>
                <a:cs typeface="Courier New" pitchFamily="34" charset="-120"/>
              </a:rPr>
              <a:t>outcome</a:t>
            </a:r>
            <a:endParaRPr lang="en-US" sz="1050" dirty="0"/>
          </a:p>
          <a:p>
            <a:pPr indent="0" marL="0">
              <a:lnSpc>
                <a:spcPct val="155000"/>
              </a:lnSpc>
              <a:buNone/>
            </a:pPr>
            <a:r>
              <a:rPr lang="en-US" sz="1050" dirty="0">
                <a:solidFill>
                  <a:srgbClr val="1C1A17"/>
                </a:solidFill>
                <a:latin typeface="Courier New" pitchFamily="34" charset="0"/>
                <a:ea typeface="Courier New" pitchFamily="34" charset="-122"/>
                <a:cs typeface="Courier New" pitchFamily="34" charset="-120"/>
              </a:rPr>
              <a:t>commitment</a:t>
            </a:r>
            <a:endParaRPr lang="en-US" sz="1050" dirty="0"/>
          </a:p>
          <a:p>
            <a:pPr indent="0" marL="0">
              <a:lnSpc>
                <a:spcPct val="155000"/>
              </a:lnSpc>
              <a:buNone/>
            </a:pPr>
            <a:r>
              <a:rPr lang="en-US" sz="1050" dirty="0">
                <a:solidFill>
                  <a:srgbClr val="1C1A17"/>
                </a:solidFill>
                <a:latin typeface="Courier New" pitchFamily="34" charset="0"/>
                <a:ea typeface="Courier New" pitchFamily="34" charset="-122"/>
                <a:cs typeface="Courier New" pitchFamily="34" charset="-120"/>
              </a:rPr>
              <a:t>zk_proof</a:t>
            </a:r>
            <a:endParaRPr lang="en-US" sz="1050" dirty="0"/>
          </a:p>
          <a:p>
            <a:pPr indent="0" marL="0">
              <a:lnSpc>
                <a:spcPct val="155000"/>
              </a:lnSpc>
              <a:buNone/>
            </a:pPr>
            <a:r>
              <a:rPr lang="en-US" sz="1050" dirty="0">
                <a:solidFill>
                  <a:srgbClr val="1C1A17"/>
                </a:solidFill>
                <a:latin typeface="Courier New" pitchFamily="34" charset="0"/>
                <a:ea typeface="Courier New" pitchFamily="34" charset="-122"/>
                <a:cs typeface="Courier New" pitchFamily="34" charset="-120"/>
              </a:rPr>
              <a:t>audit_history</a:t>
            </a:r>
            <a:endParaRPr lang="en-US" sz="1050" dirty="0"/>
          </a:p>
        </p:txBody>
      </p:sp>
      <p:sp>
        <p:nvSpPr>
          <p:cNvPr id="25" name="Shape 22"/>
          <p:cNvSpPr/>
          <p:nvPr/>
        </p:nvSpPr>
        <p:spPr>
          <a:xfrm>
            <a:off x="685800" y="5010912"/>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26" name="Text 23"/>
          <p:cNvSpPr/>
          <p:nvPr/>
        </p:nvSpPr>
        <p:spPr>
          <a:xfrm>
            <a:off x="960120" y="5193792"/>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It does not store evidence. It stores proof that verifiable work was done — and the evidence never leaves the expert’s machine.</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No guarda evidencia. Guarda pruebas de que hubo trabajo verificable — y la evidencia nunca sale de la máquina del perito.</a:t>
            </a:r>
            <a:endParaRPr lang="en-US" sz="1300" dirty="0"/>
          </a:p>
        </p:txBody>
      </p:sp>
      <p:sp>
        <p:nvSpPr>
          <p:cNvPr id="27" name="Text 24"/>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a:t>
            </a:r>
            <a:endParaRPr lang="en-US" sz="800" dirty="0"/>
          </a:p>
        </p:txBody>
      </p:sp>
      <p:sp>
        <p:nvSpPr>
          <p:cNvPr id="28" name="Text 25"/>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bg-veil.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49224" y="1371600"/>
            <a:ext cx="2743200" cy="1463040"/>
          </a:xfrm>
          <a:prstGeom prst="rect">
            <a:avLst/>
          </a:prstGeom>
          <a:noFill/>
          <a:ln/>
        </p:spPr>
        <p:txBody>
          <a:bodyPr wrap="square" lIns="0" tIns="0" rIns="0" bIns="0" rtlCol="0" anchor="t"/>
          <a:lstStyle/>
          <a:p>
            <a:pPr indent="0" marL="0">
              <a:buNone/>
            </a:pPr>
            <a:r>
              <a:rPr lang="en-US" sz="10000" b="1" dirty="0">
                <a:solidFill>
                  <a:srgbClr val="2E323C"/>
                </a:solidFill>
                <a:latin typeface="Century Schoolbook" pitchFamily="34" charset="0"/>
                <a:ea typeface="Century Schoolbook" pitchFamily="34" charset="-122"/>
                <a:cs typeface="Century Schoolbook" pitchFamily="34" charset="-120"/>
              </a:rPr>
              <a:t>01</a:t>
            </a:r>
            <a:endParaRPr lang="en-US" sz="10000" dirty="0"/>
          </a:p>
        </p:txBody>
      </p:sp>
      <p:sp>
        <p:nvSpPr>
          <p:cNvPr id="4" name="Text 1"/>
          <p:cNvSpPr/>
          <p:nvPr/>
        </p:nvSpPr>
        <p:spPr>
          <a:xfrm>
            <a:off x="685800" y="2834640"/>
            <a:ext cx="10058400" cy="914400"/>
          </a:xfrm>
          <a:prstGeom prst="rect">
            <a:avLst/>
          </a:prstGeom>
          <a:noFill/>
          <a:ln/>
        </p:spPr>
        <p:txBody>
          <a:bodyPr wrap="square" lIns="0" tIns="0" rIns="0" bIns="0" rtlCol="0" anchor="t"/>
          <a:lstStyle/>
          <a:p>
            <a:pPr indent="0" marL="0">
              <a:buNone/>
            </a:pPr>
            <a:r>
              <a:rPr lang="en-US" sz="5400" dirty="0">
                <a:solidFill>
                  <a:srgbClr val="EDE7DA"/>
                </a:solidFill>
                <a:latin typeface="Century Schoolbook" pitchFamily="34" charset="0"/>
                <a:ea typeface="Century Schoolbook" pitchFamily="34" charset="-122"/>
                <a:cs typeface="Century Schoolbook" pitchFamily="34" charset="-120"/>
              </a:rPr>
              <a:t>The business</a:t>
            </a:r>
            <a:endParaRPr lang="en-US" sz="5400" dirty="0"/>
          </a:p>
        </p:txBody>
      </p:sp>
      <p:sp>
        <p:nvSpPr>
          <p:cNvPr id="5" name="Text 2"/>
          <p:cNvSpPr/>
          <p:nvPr/>
        </p:nvSpPr>
        <p:spPr>
          <a:xfrm>
            <a:off x="685800" y="3767328"/>
            <a:ext cx="10058400" cy="640080"/>
          </a:xfrm>
          <a:prstGeom prst="rect">
            <a:avLst/>
          </a:prstGeom>
          <a:noFill/>
          <a:ln/>
        </p:spPr>
        <p:txBody>
          <a:bodyPr wrap="square" lIns="0" tIns="0" rIns="0" bIns="0" rtlCol="0" anchor="t"/>
          <a:lstStyle/>
          <a:p>
            <a:pPr indent="0" marL="0">
              <a:buNone/>
            </a:pPr>
            <a:r>
              <a:rPr lang="en-US" sz="3200" i="1" dirty="0">
                <a:solidFill>
                  <a:srgbClr val="C9C4B8"/>
                </a:solidFill>
                <a:latin typeface="Century Schoolbook" pitchFamily="34" charset="0"/>
                <a:ea typeface="Century Schoolbook" pitchFamily="34" charset="-122"/>
                <a:cs typeface="Century Schoolbook" pitchFamily="34" charset="-120"/>
              </a:rPr>
              <a:t>El negocio</a:t>
            </a:r>
            <a:endParaRPr lang="en-US" sz="3200" dirty="0"/>
          </a:p>
        </p:txBody>
      </p:sp>
      <p:sp>
        <p:nvSpPr>
          <p:cNvPr id="6" name="Text 3"/>
          <p:cNvSpPr/>
          <p:nvPr/>
        </p:nvSpPr>
        <p:spPr>
          <a:xfrm>
            <a:off x="685800" y="4709160"/>
            <a:ext cx="5074920" cy="640080"/>
          </a:xfrm>
          <a:prstGeom prst="rect">
            <a:avLst/>
          </a:prstGeom>
          <a:noFill/>
          <a:ln/>
        </p:spPr>
        <p:txBody>
          <a:bodyPr wrap="square" lIns="0" tIns="0" rIns="0" bIns="0" rtlCol="0" anchor="t"/>
          <a:lstStyle/>
          <a:p>
            <a:pPr indent="0" marL="0">
              <a:lnSpc>
                <a:spcPct val="130000"/>
              </a:lnSpc>
              <a:buNone/>
            </a:pPr>
            <a:r>
              <a:rPr lang="en-US" sz="1300" dirty="0">
                <a:solidFill>
                  <a:srgbClr val="C9C4B8"/>
                </a:solidFill>
                <a:latin typeface="Calibri" pitchFamily="34" charset="0"/>
                <a:ea typeface="Calibri" pitchFamily="34" charset="-122"/>
                <a:cs typeface="Calibri" pitchFamily="34" charset="-120"/>
              </a:rPr>
              <a:t>Four ways a wallet of sealed cases becomes a market.</a:t>
            </a:r>
            <a:endParaRPr lang="en-US" sz="1300" dirty="0"/>
          </a:p>
        </p:txBody>
      </p:sp>
      <p:sp>
        <p:nvSpPr>
          <p:cNvPr id="7" name="Text 4"/>
          <p:cNvSpPr/>
          <p:nvPr/>
        </p:nvSpPr>
        <p:spPr>
          <a:xfrm>
            <a:off x="6400800" y="4709160"/>
            <a:ext cx="5074920" cy="640080"/>
          </a:xfrm>
          <a:prstGeom prst="rect">
            <a:avLst/>
          </a:prstGeom>
          <a:noFill/>
          <a:ln/>
        </p:spPr>
        <p:txBody>
          <a:bodyPr wrap="square" lIns="0" tIns="0" rIns="0" bIns="0" rtlCol="0" anchor="t"/>
          <a:lstStyle/>
          <a:p>
            <a:pPr indent="0" marL="0">
              <a:lnSpc>
                <a:spcPct val="130000"/>
              </a:lnSpc>
              <a:buNone/>
            </a:pPr>
            <a:r>
              <a:rPr lang="en-US" sz="1300" i="1" dirty="0">
                <a:solidFill>
                  <a:srgbClr val="C9C4B8"/>
                </a:solidFill>
                <a:latin typeface="Calibri" pitchFamily="34" charset="0"/>
                <a:ea typeface="Calibri" pitchFamily="34" charset="-122"/>
                <a:cs typeface="Calibri" pitchFamily="34" charset="-120"/>
              </a:rPr>
              <a:t>Cuatro maneras en que una wallet de casos sellados se vuelve un mercado.</a:t>
            </a:r>
            <a:endParaRPr lang="en-US" sz="1300" dirty="0"/>
          </a:p>
        </p:txBody>
      </p:sp>
      <p:sp>
        <p:nvSpPr>
          <p:cNvPr id="8" name="Text 5"/>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C9C4B8"/>
                </a:solidFill>
                <a:latin typeface="Courier New" pitchFamily="34" charset="0"/>
                <a:ea typeface="Courier New" pitchFamily="34" charset="-122"/>
                <a:cs typeface="Courier New" pitchFamily="34" charset="-120"/>
              </a:rPr>
              <a:t>VELO · Professional Evidence Wallet</a:t>
            </a:r>
            <a:endParaRPr lang="en-US" sz="800" dirty="0"/>
          </a:p>
        </p:txBody>
      </p:sp>
      <p:sp>
        <p:nvSpPr>
          <p:cNvPr id="9" name="Text 6"/>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C9C4B8"/>
                </a:solidFill>
                <a:latin typeface="Courier New" pitchFamily="34" charset="0"/>
                <a:ea typeface="Courier New" pitchFamily="34" charset="-122"/>
                <a:cs typeface="Courier New"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10789920" cy="237744"/>
          </a:xfrm>
          <a:prstGeom prst="rect">
            <a:avLst/>
          </a:prstGeom>
          <a:noFill/>
          <a:ln/>
        </p:spPr>
        <p:txBody>
          <a:bodyPr wrap="square" lIns="0" tIns="0" rIns="0" bIns="0" rtlCol="0" anchor="t"/>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01 · REPUTATION</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01 · REPUTACIÓN</a:t>
            </a:r>
            <a:endParaRPr lang="en-US" sz="900" dirty="0"/>
          </a:p>
        </p:txBody>
      </p:sp>
      <p:sp>
        <p:nvSpPr>
          <p:cNvPr id="4" name="Text 1"/>
          <p:cNvSpPr/>
          <p:nvPr/>
        </p:nvSpPr>
        <p:spPr>
          <a:xfrm>
            <a:off x="685800" y="786384"/>
            <a:ext cx="10789920" cy="1071677"/>
          </a:xfrm>
          <a:prstGeom prst="rect">
            <a:avLst/>
          </a:prstGeom>
          <a:noFill/>
          <a:ln/>
        </p:spPr>
        <p:txBody>
          <a:bodyPr wrap="square" lIns="0" tIns="0" rIns="0" bIns="0" rtlCol="0" anchor="t"/>
          <a:lstStyle/>
          <a:p>
            <a:pPr indent="0" marL="0">
              <a:lnSpc>
                <a:spcPct val="114000"/>
              </a:lnSpc>
              <a:spcAft>
                <a:spcPts val="1000"/>
              </a:spcAft>
              <a:buNone/>
            </a:pPr>
            <a:r>
              <a:rPr lang="en-US" sz="3000" dirty="0">
                <a:solidFill>
                  <a:srgbClr val="1C1A17"/>
                </a:solidFill>
                <a:latin typeface="Century Schoolbook" pitchFamily="34" charset="0"/>
                <a:ea typeface="Century Schoolbook" pitchFamily="34" charset="-122"/>
                <a:cs typeface="Century Schoolbook" pitchFamily="34" charset="-120"/>
              </a:rPr>
              <a:t>The difference is what backs the claim.</a:t>
            </a:r>
            <a:endParaRPr lang="en-US" sz="3000" dirty="0"/>
          </a:p>
          <a:p>
            <a:pPr indent="0" marL="0">
              <a:lnSpc>
                <a:spcPct val="114000"/>
              </a:lnSpc>
              <a:buNone/>
            </a:pPr>
            <a:r>
              <a:rPr lang="en-US" sz="1800" i="1" dirty="0">
                <a:solidFill>
                  <a:srgbClr val="3A3F4B"/>
                </a:solidFill>
                <a:latin typeface="Century Schoolbook" pitchFamily="34" charset="0"/>
                <a:ea typeface="Century Schoolbook" pitchFamily="34" charset="-122"/>
                <a:cs typeface="Century Schoolbook" pitchFamily="34" charset="-120"/>
              </a:rPr>
              <a:t>La diferencia es qué respalda la afirmación.</a:t>
            </a:r>
            <a:endParaRPr lang="en-US" sz="3000" dirty="0"/>
          </a:p>
        </p:txBody>
      </p:sp>
      <p:sp>
        <p:nvSpPr>
          <p:cNvPr id="5" name="Shape 2"/>
          <p:cNvSpPr/>
          <p:nvPr/>
        </p:nvSpPr>
        <p:spPr>
          <a:xfrm>
            <a:off x="685800" y="5047488"/>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60120" y="5230368"/>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The expert sells reliability. Until now, reliability was the one thing a forensic expert could not put on the table.</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El perito vende confiabilidad. Hasta ahora, la confiabilidad era lo único que un perito no podía poner sobre la mesa.</a:t>
            </a:r>
            <a:endParaRPr lang="en-US" sz="1300" dirty="0"/>
          </a:p>
        </p:txBody>
      </p:sp>
      <p:sp>
        <p:nvSpPr>
          <p:cNvPr id="7" name="Shape 4"/>
          <p:cNvSpPr/>
          <p:nvPr/>
        </p:nvSpPr>
        <p:spPr>
          <a:xfrm>
            <a:off x="685800" y="2333549"/>
            <a:ext cx="5166360" cy="2183587"/>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8" name="Text 5"/>
          <p:cNvSpPr/>
          <p:nvPr/>
        </p:nvSpPr>
        <p:spPr>
          <a:xfrm>
            <a:off x="941832" y="2571293"/>
            <a:ext cx="4654296"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LINKEDIN</a:t>
            </a:r>
            <a:endParaRPr lang="en-US" sz="850" dirty="0"/>
          </a:p>
        </p:txBody>
      </p:sp>
      <p:sp>
        <p:nvSpPr>
          <p:cNvPr id="9" name="Text 6"/>
          <p:cNvSpPr/>
          <p:nvPr/>
        </p:nvSpPr>
        <p:spPr>
          <a:xfrm>
            <a:off x="941832" y="2763317"/>
            <a:ext cx="4654296"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LINKEDIN</a:t>
            </a:r>
            <a:endParaRPr lang="en-US" sz="850" dirty="0"/>
          </a:p>
        </p:txBody>
      </p:sp>
      <p:sp>
        <p:nvSpPr>
          <p:cNvPr id="10" name="Text 7"/>
          <p:cNvSpPr/>
          <p:nvPr/>
        </p:nvSpPr>
        <p:spPr>
          <a:xfrm>
            <a:off x="941832" y="3065069"/>
            <a:ext cx="4654296" cy="1232611"/>
          </a:xfrm>
          <a:prstGeom prst="rect">
            <a:avLst/>
          </a:prstGeom>
          <a:noFill/>
          <a:ln/>
        </p:spPr>
        <p:txBody>
          <a:bodyPr wrap="square" lIns="0" tIns="0" rIns="0" bIns="0" rtlCol="0" anchor="t"/>
          <a:lstStyle/>
          <a:p>
            <a:pPr indent="0" marL="0">
              <a:lnSpc>
                <a:spcPct val="128000"/>
              </a:lnSpc>
              <a:spcAft>
                <a:spcPts val="1100"/>
              </a:spcAft>
              <a:buNone/>
            </a:pPr>
            <a:r>
              <a:rPr lang="en-US" sz="1300" dirty="0">
                <a:solidFill>
                  <a:srgbClr val="1C1A17"/>
                </a:solidFill>
                <a:latin typeface="Calibri" pitchFamily="34" charset="0"/>
                <a:ea typeface="Calibri" pitchFamily="34" charset="-122"/>
                <a:cs typeface="Calibri" pitchFamily="34" charset="-120"/>
              </a:rPr>
              <a:t>Says: I am an expert. Backed by whoever agreed to endorse it.</a:t>
            </a:r>
            <a:endParaRPr lang="en-US" sz="1300" dirty="0"/>
          </a:p>
          <a:p>
            <a:pPr indent="0" marL="0">
              <a:lnSpc>
                <a:spcPct val="128000"/>
              </a:lnSpc>
              <a:buNone/>
            </a:pPr>
            <a:r>
              <a:rPr lang="en-US" sz="1250" i="1" dirty="0">
                <a:solidFill>
                  <a:srgbClr val="3A3F4B"/>
                </a:solidFill>
                <a:latin typeface="Calibri" pitchFamily="34" charset="0"/>
                <a:ea typeface="Calibri" pitchFamily="34" charset="-122"/>
                <a:cs typeface="Calibri" pitchFamily="34" charset="-120"/>
              </a:rPr>
              <a:t>Dice: soy experto. Respaldado por quien haya aceptado avalarlo.</a:t>
            </a:r>
            <a:endParaRPr lang="en-US" sz="1300" dirty="0"/>
          </a:p>
        </p:txBody>
      </p:sp>
      <p:sp>
        <p:nvSpPr>
          <p:cNvPr id="11" name="Shape 8"/>
          <p:cNvSpPr/>
          <p:nvPr/>
        </p:nvSpPr>
        <p:spPr>
          <a:xfrm>
            <a:off x="6309360" y="2333549"/>
            <a:ext cx="5166360" cy="2183587"/>
          </a:xfrm>
          <a:prstGeom prst="rect">
            <a:avLst/>
          </a:prstGeom>
          <a:solidFill>
            <a:srgbClr val="3A3F4B"/>
          </a:solidFill>
          <a:ln w="12700">
            <a:solidFill>
              <a:srgbClr val="3A3F4B"/>
            </a:solidFill>
            <a:prstDash val="solid"/>
          </a:ln>
          <a:effectLst>
            <a:outerShdw sx="100000" sy="100000" kx="0" ky="0" algn="bl" rotWithShape="0" blurRad="127000" dist="25400" dir="5400000">
              <a:srgbClr val="6B6257">
                <a:alpha val="35000"/>
              </a:srgbClr>
            </a:outerShdw>
          </a:effectLst>
        </p:spPr>
        <p:txBody>
          <a:bodyPr/>
          <a:p/>
        </p:txBody>
      </p:sp>
      <p:sp>
        <p:nvSpPr>
          <p:cNvPr id="12" name="Text 9"/>
          <p:cNvSpPr/>
          <p:nvPr/>
        </p:nvSpPr>
        <p:spPr>
          <a:xfrm>
            <a:off x="6565392" y="2571293"/>
            <a:ext cx="4654296"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VELO</a:t>
            </a:r>
            <a:endParaRPr lang="en-US" sz="850" dirty="0"/>
          </a:p>
        </p:txBody>
      </p:sp>
      <p:sp>
        <p:nvSpPr>
          <p:cNvPr id="13" name="Text 10"/>
          <p:cNvSpPr/>
          <p:nvPr/>
        </p:nvSpPr>
        <p:spPr>
          <a:xfrm>
            <a:off x="6565392" y="2763317"/>
            <a:ext cx="4654296"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VELO</a:t>
            </a:r>
            <a:endParaRPr lang="en-US" sz="850" dirty="0"/>
          </a:p>
        </p:txBody>
      </p:sp>
      <p:sp>
        <p:nvSpPr>
          <p:cNvPr id="14" name="Text 11"/>
          <p:cNvSpPr/>
          <p:nvPr/>
        </p:nvSpPr>
        <p:spPr>
          <a:xfrm>
            <a:off x="6565392" y="3065069"/>
            <a:ext cx="4654296" cy="1232611"/>
          </a:xfrm>
          <a:prstGeom prst="rect">
            <a:avLst/>
          </a:prstGeom>
          <a:noFill/>
          <a:ln/>
        </p:spPr>
        <p:txBody>
          <a:bodyPr wrap="square" lIns="0" tIns="0" rIns="0" bIns="0" rtlCol="0" anchor="t"/>
          <a:lstStyle/>
          <a:p>
            <a:pPr indent="0" marL="0">
              <a:lnSpc>
                <a:spcPct val="128000"/>
              </a:lnSpc>
              <a:spcAft>
                <a:spcPts val="1100"/>
              </a:spcAft>
              <a:buNone/>
            </a:pPr>
            <a:r>
              <a:rPr lang="en-US" sz="1300" dirty="0">
                <a:solidFill>
                  <a:srgbClr val="EDE7DA"/>
                </a:solidFill>
                <a:latin typeface="Calibri" pitchFamily="34" charset="0"/>
                <a:ea typeface="Calibri" pitchFamily="34" charset="-122"/>
                <a:cs typeface="Calibri" pitchFamily="34" charset="-120"/>
              </a:rPr>
              <a:t>Says: cryptographic proof exists that I performed analyses which satisfied a stated admissibility rule.</a:t>
            </a:r>
            <a:endParaRPr lang="en-US" sz="1300" dirty="0"/>
          </a:p>
          <a:p>
            <a:pPr indent="0" marL="0">
              <a:lnSpc>
                <a:spcPct val="128000"/>
              </a:lnSpc>
              <a:buNone/>
            </a:pPr>
            <a:r>
              <a:rPr lang="en-US" sz="1250" i="1" dirty="0">
                <a:solidFill>
                  <a:srgbClr val="C9C4B8"/>
                </a:solidFill>
                <a:latin typeface="Calibri" pitchFamily="34" charset="0"/>
                <a:ea typeface="Calibri" pitchFamily="34" charset="-122"/>
                <a:cs typeface="Calibri" pitchFamily="34" charset="-120"/>
              </a:rPr>
              <a:t>Dice: existen pruebas criptográficas de que hice análisis que cumplieron una regla de admisibilidad declarada.</a:t>
            </a:r>
            <a:endParaRPr lang="en-US" sz="1300" dirty="0"/>
          </a:p>
        </p:txBody>
      </p:sp>
      <p:sp>
        <p:nvSpPr>
          <p:cNvPr id="15" name="Text 12"/>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a:t>
            </a:r>
            <a:endParaRPr lang="en-US" sz="800" dirty="0"/>
          </a:p>
        </p:txBody>
      </p:sp>
      <p:sp>
        <p:nvSpPr>
          <p:cNvPr id="16" name="Text 13"/>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10789920" cy="237744"/>
          </a:xfrm>
          <a:prstGeom prst="rect">
            <a:avLst/>
          </a:prstGeom>
          <a:noFill/>
          <a:ln/>
        </p:spPr>
        <p:txBody>
          <a:bodyPr wrap="square" lIns="0" tIns="0" rIns="0" bIns="0" rtlCol="0" anchor="t"/>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02 · MARKETPLACE</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02 · MERCADO</a:t>
            </a:r>
            <a:endParaRPr lang="en-US" sz="900" dirty="0"/>
          </a:p>
        </p:txBody>
      </p:sp>
      <p:sp>
        <p:nvSpPr>
          <p:cNvPr id="4" name="Text 1"/>
          <p:cNvSpPr/>
          <p:nvPr/>
        </p:nvSpPr>
        <p:spPr>
          <a:xfrm>
            <a:off x="685800" y="786384"/>
            <a:ext cx="10789920" cy="1071677"/>
          </a:xfrm>
          <a:prstGeom prst="rect">
            <a:avLst/>
          </a:prstGeom>
          <a:noFill/>
          <a:ln/>
        </p:spPr>
        <p:txBody>
          <a:bodyPr wrap="square" lIns="0" tIns="0" rIns="0" bIns="0" rtlCol="0" anchor="t"/>
          <a:lstStyle/>
          <a:p>
            <a:pPr indent="0" marL="0">
              <a:lnSpc>
                <a:spcPct val="114000"/>
              </a:lnSpc>
              <a:spcAft>
                <a:spcPts val="1000"/>
              </a:spcAft>
              <a:buNone/>
            </a:pPr>
            <a:r>
              <a:rPr lang="en-US" sz="3000" dirty="0">
                <a:solidFill>
                  <a:srgbClr val="1C1A17"/>
                </a:solidFill>
                <a:latin typeface="Century Schoolbook" pitchFamily="34" charset="0"/>
                <a:ea typeface="Century Schoolbook" pitchFamily="34" charset="-122"/>
                <a:cs typeface="Century Schoolbook" pitchFamily="34" charset="-120"/>
              </a:rPr>
              <a:t>An insurer needs an expert on digital fraud.</a:t>
            </a:r>
            <a:endParaRPr lang="en-US" sz="3000" dirty="0"/>
          </a:p>
          <a:p>
            <a:pPr indent="0" marL="0">
              <a:lnSpc>
                <a:spcPct val="114000"/>
              </a:lnSpc>
              <a:buNone/>
            </a:pPr>
            <a:r>
              <a:rPr lang="en-US" sz="1800" i="1" dirty="0">
                <a:solidFill>
                  <a:srgbClr val="3A3F4B"/>
                </a:solidFill>
                <a:latin typeface="Century Schoolbook" pitchFamily="34" charset="0"/>
                <a:ea typeface="Century Schoolbook" pitchFamily="34" charset="-122"/>
                <a:cs typeface="Century Schoolbook" pitchFamily="34" charset="-120"/>
              </a:rPr>
              <a:t>Una aseguradora necesita un perito en fraude digital.</a:t>
            </a:r>
            <a:endParaRPr lang="en-US" sz="3000" dirty="0"/>
          </a:p>
        </p:txBody>
      </p:sp>
      <p:sp>
        <p:nvSpPr>
          <p:cNvPr id="5" name="Shape 2"/>
          <p:cNvSpPr/>
          <p:nvPr/>
        </p:nvSpPr>
        <p:spPr>
          <a:xfrm>
            <a:off x="685800" y="5010912"/>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60120" y="5193792"/>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Today it searches by contacts and price. Now track record is a queryable field, not a conversation.</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Hoy busca por contactos y precio. Ahora la trayectoria es un campo consultable, no una conversación.</a:t>
            </a:r>
            <a:endParaRPr lang="en-US" sz="1300" dirty="0"/>
          </a:p>
        </p:txBody>
      </p:sp>
      <p:sp>
        <p:nvSpPr>
          <p:cNvPr id="7" name="Shape 4"/>
          <p:cNvSpPr/>
          <p:nvPr/>
        </p:nvSpPr>
        <p:spPr>
          <a:xfrm>
            <a:off x="685800" y="2221230"/>
            <a:ext cx="5669280" cy="2405634"/>
          </a:xfrm>
          <a:prstGeom prst="rect">
            <a:avLst/>
          </a:prstGeom>
          <a:solidFill>
            <a:srgbClr val="3A3F4B"/>
          </a:solidFill>
          <a:ln w="12700">
            <a:solidFill>
              <a:srgbClr val="3A3F4B"/>
            </a:solidFill>
            <a:prstDash val="solid"/>
          </a:ln>
          <a:effectLst>
            <a:outerShdw sx="100000" sy="100000" kx="0" ky="0" algn="bl" rotWithShape="0" blurRad="127000" dist="25400" dir="5400000">
              <a:srgbClr val="6B6257">
                <a:alpha val="35000"/>
              </a:srgbClr>
            </a:outerShdw>
          </a:effectLst>
        </p:spPr>
        <p:txBody>
          <a:bodyPr/>
          <a:p/>
        </p:txBody>
      </p:sp>
      <p:sp>
        <p:nvSpPr>
          <p:cNvPr id="8" name="Text 5"/>
          <p:cNvSpPr/>
          <p:nvPr/>
        </p:nvSpPr>
        <p:spPr>
          <a:xfrm>
            <a:off x="996696" y="2495550"/>
            <a:ext cx="5047488" cy="1856994"/>
          </a:xfrm>
          <a:prstGeom prst="rect">
            <a:avLst/>
          </a:prstGeom>
          <a:noFill/>
          <a:ln/>
        </p:spPr>
        <p:txBody>
          <a:bodyPr wrap="square" lIns="0" tIns="0" rIns="0" bIns="0" rtlCol="0" anchor="t"/>
          <a:lstStyle/>
          <a:p>
            <a:pPr indent="0" marL="0">
              <a:lnSpc>
                <a:spcPct val="142000"/>
              </a:lnSpc>
              <a:buNone/>
            </a:pPr>
            <a:r>
              <a:rPr lang="en-US" sz="1250" dirty="0">
                <a:solidFill>
                  <a:srgbClr val="EDE7DA"/>
                </a:solidFill>
                <a:latin typeface="Courier New" pitchFamily="34" charset="0"/>
                <a:ea typeface="Courier New" pitchFamily="34" charset="-122"/>
                <a:cs typeface="Courier New" pitchFamily="34" charset="-120"/>
              </a:rPr>
              <a:t>experts:</a:t>
            </a:r>
            <a:endParaRPr lang="en-US" sz="1250" dirty="0"/>
          </a:p>
          <a:p>
            <a:pPr indent="0" marL="0">
              <a:lnSpc>
                <a:spcPct val="142000"/>
              </a:lnSpc>
              <a:buNone/>
            </a:pPr>
            <a:r>
              <a:rPr lang="en-US" sz="1250" dirty="0">
                <a:solidFill>
                  <a:srgbClr val="EDE7DA"/>
                </a:solidFill>
                <a:latin typeface="Courier New" pitchFamily="34" charset="0"/>
                <a:ea typeface="Courier New" pitchFamily="34" charset="-122"/>
                <a:cs typeface="Courier New" pitchFamily="34" charset="-120"/>
              </a:rPr>
              <a:t>  specialty:        digital_fraud</a:t>
            </a:r>
            <a:endParaRPr lang="en-US" sz="1250" dirty="0"/>
          </a:p>
          <a:p>
            <a:pPr indent="0" marL="0">
              <a:lnSpc>
                <a:spcPct val="142000"/>
              </a:lnSpc>
              <a:buNone/>
            </a:pPr>
            <a:r>
              <a:rPr lang="en-US" sz="1250" dirty="0">
                <a:solidFill>
                  <a:srgbClr val="EDE7DA"/>
                </a:solidFill>
                <a:latin typeface="Courier New" pitchFamily="34" charset="0"/>
                <a:ea typeface="Courier New" pitchFamily="34" charset="-122"/>
                <a:cs typeface="Courier New" pitchFamily="34" charset="-120"/>
              </a:rPr>
              <a:t>  jurisdiction:     AR</a:t>
            </a:r>
            <a:endParaRPr lang="en-US" sz="1250" dirty="0"/>
          </a:p>
          <a:p>
            <a:pPr indent="0" marL="0">
              <a:lnSpc>
                <a:spcPct val="142000"/>
              </a:lnSpc>
              <a:buNone/>
            </a:pPr>
            <a:r>
              <a:rPr lang="en-US" sz="1250" dirty="0">
                <a:solidFill>
                  <a:srgbClr val="EDE7DA"/>
                </a:solidFill>
                <a:latin typeface="Courier New" pitchFamily="34" charset="0"/>
                <a:ea typeface="Courier New" pitchFamily="34" charset="-122"/>
                <a:cs typeface="Courier New" pitchFamily="34" charset="-120"/>
              </a:rPr>
              <a:t>  sealed_cases:     &gt; 50</a:t>
            </a:r>
            <a:endParaRPr lang="en-US" sz="1250" dirty="0"/>
          </a:p>
          <a:p>
            <a:pPr indent="0" marL="0">
              <a:lnSpc>
                <a:spcPct val="142000"/>
              </a:lnSpc>
              <a:buNone/>
            </a:pPr>
            <a:r>
              <a:rPr lang="en-US" sz="1250" dirty="0">
                <a:solidFill>
                  <a:srgbClr val="EDE7DA"/>
                </a:solidFill>
                <a:latin typeface="Courier New" pitchFamily="34" charset="0"/>
                <a:ea typeface="Courier New" pitchFamily="34" charset="-122"/>
                <a:cs typeface="Courier New" pitchFamily="34" charset="-120"/>
              </a:rPr>
              <a:t>  acceptance_rate:  &gt; 90%</a:t>
            </a:r>
            <a:endParaRPr lang="en-US" sz="1250" dirty="0"/>
          </a:p>
          <a:p>
            <a:pPr indent="0" marL="0">
              <a:lnSpc>
                <a:spcPct val="142000"/>
              </a:lnSpc>
              <a:buNone/>
            </a:pPr>
            <a:r>
              <a:rPr lang="en-US" sz="1250" dirty="0">
                <a:solidFill>
                  <a:srgbClr val="EDE7DA"/>
                </a:solidFill>
                <a:latin typeface="Courier New" pitchFamily="34" charset="0"/>
                <a:ea typeface="Courier New" pitchFamily="34" charset="-122"/>
                <a:cs typeface="Courier New" pitchFamily="34" charset="-120"/>
              </a:rPr>
              <a:t>  credential:       valid</a:t>
            </a:r>
            <a:endParaRPr lang="en-US" sz="1250" dirty="0"/>
          </a:p>
          <a:p>
            <a:pPr indent="0" marL="0">
              <a:lnSpc>
                <a:spcPct val="142000"/>
              </a:lnSpc>
              <a:buNone/>
            </a:pPr>
            <a:r>
              <a:rPr lang="en-US" sz="1250" dirty="0">
                <a:solidFill>
                  <a:srgbClr val="EDE7DA"/>
                </a:solidFill>
                <a:latin typeface="Courier New" pitchFamily="34" charset="0"/>
                <a:ea typeface="Courier New" pitchFamily="34" charset="-122"/>
                <a:cs typeface="Courier New" pitchFamily="34" charset="-120"/>
              </a:rPr>
              <a:t>  audits_passed:    &gt; 3</a:t>
            </a:r>
            <a:endParaRPr lang="en-US" sz="1250" dirty="0"/>
          </a:p>
        </p:txBody>
      </p:sp>
      <p:sp>
        <p:nvSpPr>
          <p:cNvPr id="9" name="Shape 6"/>
          <p:cNvSpPr/>
          <p:nvPr/>
        </p:nvSpPr>
        <p:spPr>
          <a:xfrm>
            <a:off x="6501384" y="3424047"/>
            <a:ext cx="310896" cy="0"/>
          </a:xfrm>
          <a:prstGeom prst="line">
            <a:avLst/>
          </a:prstGeom>
          <a:noFill/>
          <a:ln w="25400">
            <a:solidFill>
              <a:srgbClr val="8B3A2F"/>
            </a:solidFill>
            <a:prstDash val="solid"/>
            <a:tailEnd type="triangle"/>
          </a:ln>
        </p:spPr>
        <p:txBody>
          <a:bodyPr/>
          <a:p/>
        </p:txBody>
      </p:sp>
      <p:sp>
        <p:nvSpPr>
          <p:cNvPr id="10" name="Text 7"/>
          <p:cNvSpPr/>
          <p:nvPr/>
        </p:nvSpPr>
        <p:spPr>
          <a:xfrm>
            <a:off x="6922008" y="2404110"/>
            <a:ext cx="4553712" cy="1188720"/>
          </a:xfrm>
          <a:prstGeom prst="rect">
            <a:avLst/>
          </a:prstGeom>
          <a:noFill/>
          <a:ln/>
        </p:spPr>
        <p:txBody>
          <a:bodyPr wrap="square" lIns="0" tIns="0" rIns="0" bIns="0" rtlCol="0" anchor="t"/>
          <a:lstStyle/>
          <a:p>
            <a:pPr indent="0" marL="0">
              <a:buNone/>
            </a:pPr>
            <a:r>
              <a:rPr lang="en-US" sz="7600" b="1" dirty="0">
                <a:solidFill>
                  <a:srgbClr val="8B3A2F"/>
                </a:solidFill>
                <a:latin typeface="Century Schoolbook" pitchFamily="34" charset="0"/>
                <a:ea typeface="Century Schoolbook" pitchFamily="34" charset="-122"/>
                <a:cs typeface="Century Schoolbook" pitchFamily="34" charset="-120"/>
              </a:rPr>
              <a:t>7</a:t>
            </a:r>
            <a:endParaRPr lang="en-US" sz="7600" dirty="0"/>
          </a:p>
        </p:txBody>
      </p:sp>
      <p:sp>
        <p:nvSpPr>
          <p:cNvPr id="11" name="Text 8"/>
          <p:cNvSpPr/>
          <p:nvPr/>
        </p:nvSpPr>
        <p:spPr>
          <a:xfrm>
            <a:off x="6922008" y="3592830"/>
            <a:ext cx="4553712" cy="851154"/>
          </a:xfrm>
          <a:prstGeom prst="rect">
            <a:avLst/>
          </a:prstGeom>
          <a:noFill/>
          <a:ln/>
        </p:spPr>
        <p:txBody>
          <a:bodyPr wrap="square" lIns="0" tIns="0" rIns="0" bIns="0" rtlCol="0" anchor="t"/>
          <a:lstStyle/>
          <a:p>
            <a:pPr indent="0" marL="0">
              <a:lnSpc>
                <a:spcPct val="124000"/>
              </a:lnSpc>
              <a:spcAft>
                <a:spcPts val="900"/>
              </a:spcAft>
              <a:buNone/>
            </a:pPr>
            <a:r>
              <a:rPr lang="en-US" sz="1350" dirty="0">
                <a:solidFill>
                  <a:srgbClr val="1C1A17"/>
                </a:solidFill>
                <a:latin typeface="Calibri" pitchFamily="34" charset="0"/>
                <a:ea typeface="Calibri" pitchFamily="34" charset="-122"/>
                <a:cs typeface="Calibri" pitchFamily="34" charset="-120"/>
              </a:rPr>
              <a:t>experts match. Not one of them showed a case.</a:t>
            </a:r>
            <a:endParaRPr lang="en-US" sz="1350" dirty="0"/>
          </a:p>
          <a:p>
            <a:pPr indent="0" marL="0">
              <a:lnSpc>
                <a:spcPct val="124000"/>
              </a:lnSpc>
              <a:buNone/>
            </a:pPr>
            <a:r>
              <a:rPr lang="en-US" sz="1300" i="1" dirty="0">
                <a:solidFill>
                  <a:srgbClr val="3A3F4B"/>
                </a:solidFill>
                <a:latin typeface="Calibri" pitchFamily="34" charset="0"/>
                <a:ea typeface="Calibri" pitchFamily="34" charset="-122"/>
                <a:cs typeface="Calibri" pitchFamily="34" charset="-120"/>
              </a:rPr>
              <a:t>peritos coinciden. Ninguno mostró un caso.</a:t>
            </a:r>
            <a:endParaRPr lang="en-US" sz="1350" dirty="0"/>
          </a:p>
        </p:txBody>
      </p:sp>
      <p:sp>
        <p:nvSpPr>
          <p:cNvPr id="12" name="Text 9"/>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a:t>
            </a:r>
            <a:endParaRPr lang="en-US" sz="800" dirty="0"/>
          </a:p>
        </p:txBody>
      </p:sp>
      <p:sp>
        <p:nvSpPr>
          <p:cNvPr id="13" name="Text 10"/>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10789920" cy="237744"/>
          </a:xfrm>
          <a:prstGeom prst="rect">
            <a:avLst/>
          </a:prstGeom>
          <a:noFill/>
          <a:ln/>
        </p:spPr>
        <p:txBody>
          <a:bodyPr wrap="square" lIns="0" tIns="0" rIns="0" bIns="0" rtlCol="0" anchor="t"/>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03 · EVIDENCE ESCROW</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03 · ESCROW DE EVIDENCIA</a:t>
            </a:r>
            <a:endParaRPr lang="en-US" sz="900" dirty="0"/>
          </a:p>
        </p:txBody>
      </p:sp>
      <p:sp>
        <p:nvSpPr>
          <p:cNvPr id="4" name="Text 1"/>
          <p:cNvSpPr/>
          <p:nvPr/>
        </p:nvSpPr>
        <p:spPr>
          <a:xfrm>
            <a:off x="685800" y="731520"/>
            <a:ext cx="10789920" cy="1016081"/>
          </a:xfrm>
          <a:prstGeom prst="rect">
            <a:avLst/>
          </a:prstGeom>
          <a:noFill/>
          <a:ln/>
        </p:spPr>
        <p:txBody>
          <a:bodyPr wrap="square" lIns="0" tIns="0" rIns="0" bIns="0" rtlCol="0" anchor="t"/>
          <a:lstStyle/>
          <a:p>
            <a:pPr indent="0" marL="0">
              <a:lnSpc>
                <a:spcPct val="114000"/>
              </a:lnSpc>
              <a:spcAft>
                <a:spcPts val="1000"/>
              </a:spcAft>
              <a:buNone/>
            </a:pPr>
            <a:r>
              <a:rPr lang="en-US" sz="2800" dirty="0">
                <a:solidFill>
                  <a:srgbClr val="1C1A17"/>
                </a:solidFill>
                <a:latin typeface="Century Schoolbook" pitchFamily="34" charset="0"/>
                <a:ea typeface="Century Schoolbook" pitchFamily="34" charset="-122"/>
                <a:cs typeface="Century Schoolbook" pitchFamily="34" charset="-120"/>
              </a:rPr>
              <a:t>The question every expert witness gets asked.</a:t>
            </a:r>
            <a:endParaRPr lang="en-US" sz="2800" dirty="0"/>
          </a:p>
          <a:p>
            <a:pPr indent="0" marL="0">
              <a:lnSpc>
                <a:spcPct val="114000"/>
              </a:lnSpc>
              <a:buNone/>
            </a:pPr>
            <a:r>
              <a:rPr lang="en-US" sz="1680" i="1" dirty="0">
                <a:solidFill>
                  <a:srgbClr val="3A3F4B"/>
                </a:solidFill>
                <a:latin typeface="Century Schoolbook" pitchFamily="34" charset="0"/>
                <a:ea typeface="Century Schoolbook" pitchFamily="34" charset="-122"/>
                <a:cs typeface="Century Schoolbook" pitchFamily="34" charset="-120"/>
              </a:rPr>
              <a:t>La pregunta que le hacen a todo perito en un juicio.</a:t>
            </a:r>
            <a:endParaRPr lang="en-US" sz="2800" dirty="0"/>
          </a:p>
        </p:txBody>
      </p:sp>
      <p:sp>
        <p:nvSpPr>
          <p:cNvPr id="5" name="Shape 2"/>
          <p:cNvSpPr/>
          <p:nvPr/>
        </p:nvSpPr>
        <p:spPr>
          <a:xfrm>
            <a:off x="685800" y="1975104"/>
            <a:ext cx="5065776" cy="1627632"/>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41832" y="2194560"/>
            <a:ext cx="4553712"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DAY 0 · THE ANALYSIS, VELO RECORDS (DESIGN)</a:t>
            </a:r>
            <a:endParaRPr lang="en-US" sz="850" dirty="0"/>
          </a:p>
        </p:txBody>
      </p:sp>
      <p:sp>
        <p:nvSpPr>
          <p:cNvPr id="7" name="Text 4"/>
          <p:cNvSpPr/>
          <p:nvPr/>
        </p:nvSpPr>
        <p:spPr>
          <a:xfrm>
            <a:off x="941832" y="2386584"/>
            <a:ext cx="4553712"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DÍA 0 · EL ANÁLISIS, VELO REGISTRA (DISEÑO)</a:t>
            </a:r>
            <a:endParaRPr lang="en-US" sz="850" dirty="0"/>
          </a:p>
        </p:txBody>
      </p:sp>
      <p:sp>
        <p:nvSpPr>
          <p:cNvPr id="8" name="Text 5"/>
          <p:cNvSpPr/>
          <p:nvPr/>
        </p:nvSpPr>
        <p:spPr>
          <a:xfrm>
            <a:off x="941832" y="2761488"/>
            <a:ext cx="4553712" cy="713232"/>
          </a:xfrm>
          <a:prstGeom prst="rect">
            <a:avLst/>
          </a:prstGeom>
          <a:noFill/>
          <a:ln/>
        </p:spPr>
        <p:txBody>
          <a:bodyPr wrap="square" lIns="0" tIns="0" rIns="0" bIns="0" rtlCol="0" anchor="t"/>
          <a:lstStyle/>
          <a:p>
            <a:pPr indent="0" marL="0">
              <a:lnSpc>
                <a:spcPct val="126000"/>
              </a:lnSpc>
              <a:spcAft>
                <a:spcPts val="1000"/>
              </a:spcAft>
              <a:buNone/>
            </a:pPr>
            <a:r>
              <a:rPr lang="en-US" sz="1300" dirty="0">
                <a:solidFill>
                  <a:srgbClr val="1C1A17"/>
                </a:solidFill>
                <a:latin typeface="Calibri" pitchFamily="34" charset="0"/>
                <a:ea typeface="Calibri" pitchFamily="34" charset="-122"/>
                <a:cs typeface="Calibri" pitchFamily="34" charset="-120"/>
              </a:rPr>
              <a:t>This analysis existed, at this moment, under this rule.</a:t>
            </a:r>
            <a:endParaRPr lang="en-US" sz="1300" dirty="0"/>
          </a:p>
          <a:p>
            <a:pPr indent="0" marL="0">
              <a:lnSpc>
                <a:spcPct val="126000"/>
              </a:lnSpc>
              <a:buNone/>
            </a:pPr>
            <a:r>
              <a:rPr lang="en-US" sz="1250" i="1" dirty="0">
                <a:solidFill>
                  <a:srgbClr val="3A3F4B"/>
                </a:solidFill>
                <a:latin typeface="Calibri" pitchFamily="34" charset="0"/>
                <a:ea typeface="Calibri" pitchFamily="34" charset="-122"/>
                <a:cs typeface="Calibri" pitchFamily="34" charset="-120"/>
              </a:rPr>
              <a:t>Este análisis existió, en este momento, bajo esta regla.</a:t>
            </a:r>
            <a:endParaRPr lang="en-US" sz="1300" dirty="0"/>
          </a:p>
        </p:txBody>
      </p:sp>
      <p:sp>
        <p:nvSpPr>
          <p:cNvPr id="9" name="Shape 6"/>
          <p:cNvSpPr/>
          <p:nvPr/>
        </p:nvSpPr>
        <p:spPr>
          <a:xfrm>
            <a:off x="5916168" y="2788920"/>
            <a:ext cx="329184" cy="0"/>
          </a:xfrm>
          <a:prstGeom prst="line">
            <a:avLst/>
          </a:prstGeom>
          <a:noFill/>
          <a:ln w="19050">
            <a:solidFill>
              <a:srgbClr val="6B6257"/>
            </a:solidFill>
            <a:prstDash val="solid"/>
            <a:tailEnd type="triangle"/>
          </a:ln>
        </p:spPr>
        <p:txBody>
          <a:bodyPr/>
          <a:p/>
        </p:txBody>
      </p:sp>
      <p:sp>
        <p:nvSpPr>
          <p:cNvPr id="10" name="Shape 7"/>
          <p:cNvSpPr/>
          <p:nvPr/>
        </p:nvSpPr>
        <p:spPr>
          <a:xfrm>
            <a:off x="6409944" y="1975104"/>
            <a:ext cx="5065776" cy="1627632"/>
          </a:xfrm>
          <a:prstGeom prst="rect">
            <a:avLst/>
          </a:prstGeom>
          <a:solidFill>
            <a:srgbClr val="3A3F4B"/>
          </a:solidFill>
          <a:ln w="12700">
            <a:solidFill>
              <a:srgbClr val="3A3F4B"/>
            </a:solidFill>
            <a:prstDash val="solid"/>
          </a:ln>
          <a:effectLst>
            <a:outerShdw sx="100000" sy="100000" kx="0" ky="0" algn="bl" rotWithShape="0" blurRad="127000" dist="25400" dir="5400000">
              <a:srgbClr val="6B6257">
                <a:alpha val="35000"/>
              </a:srgbClr>
            </a:outerShdw>
          </a:effectLst>
        </p:spPr>
        <p:txBody>
          <a:bodyPr/>
          <a:p/>
        </p:txBody>
      </p:sp>
      <p:sp>
        <p:nvSpPr>
          <p:cNvPr id="11" name="Text 8"/>
          <p:cNvSpPr/>
          <p:nvPr/>
        </p:nvSpPr>
        <p:spPr>
          <a:xfrm>
            <a:off x="6665976" y="2194560"/>
            <a:ext cx="4553712"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DAY 100 · THE TRIAL, THE DEFENCE ASKS</a:t>
            </a:r>
            <a:endParaRPr lang="en-US" sz="850" dirty="0"/>
          </a:p>
        </p:txBody>
      </p:sp>
      <p:sp>
        <p:nvSpPr>
          <p:cNvPr id="12" name="Text 9"/>
          <p:cNvSpPr/>
          <p:nvPr/>
        </p:nvSpPr>
        <p:spPr>
          <a:xfrm>
            <a:off x="6665976" y="2386584"/>
            <a:ext cx="4553712"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DÍA 100 · EL JUICIO, LA DEFENSA PREGUNTA</a:t>
            </a:r>
            <a:endParaRPr lang="en-US" sz="850" dirty="0"/>
          </a:p>
        </p:txBody>
      </p:sp>
      <p:sp>
        <p:nvSpPr>
          <p:cNvPr id="13" name="Text 10"/>
          <p:cNvSpPr/>
          <p:nvPr/>
        </p:nvSpPr>
        <p:spPr>
          <a:xfrm>
            <a:off x="6665976" y="2761488"/>
            <a:ext cx="4553712" cy="713232"/>
          </a:xfrm>
          <a:prstGeom prst="rect">
            <a:avLst/>
          </a:prstGeom>
          <a:noFill/>
          <a:ln/>
        </p:spPr>
        <p:txBody>
          <a:bodyPr wrap="square" lIns="0" tIns="0" rIns="0" bIns="0" rtlCol="0" anchor="t"/>
          <a:lstStyle/>
          <a:p>
            <a:pPr indent="0" marL="0">
              <a:lnSpc>
                <a:spcPct val="126000"/>
              </a:lnSpc>
              <a:spcAft>
                <a:spcPts val="1000"/>
              </a:spcAft>
              <a:buNone/>
            </a:pPr>
            <a:r>
              <a:rPr lang="en-US" sz="1300" dirty="0">
                <a:solidFill>
                  <a:srgbClr val="EDE7DA"/>
                </a:solidFill>
                <a:latin typeface="Calibri" pitchFamily="34" charset="0"/>
                <a:ea typeface="Calibri" pitchFamily="34" charset="-122"/>
                <a:cs typeface="Calibri" pitchFamily="34" charset="-120"/>
              </a:rPr>
              <a:t>How do we know this was not changed after the fact?</a:t>
            </a:r>
            <a:endParaRPr lang="en-US" sz="1300" dirty="0"/>
          </a:p>
          <a:p>
            <a:pPr indent="0" marL="0">
              <a:lnSpc>
                <a:spcPct val="126000"/>
              </a:lnSpc>
              <a:buNone/>
            </a:pPr>
            <a:r>
              <a:rPr lang="en-US" sz="1250" i="1" dirty="0">
                <a:solidFill>
                  <a:srgbClr val="C9C4B8"/>
                </a:solidFill>
                <a:latin typeface="Calibri" pitchFamily="34" charset="0"/>
                <a:ea typeface="Calibri" pitchFamily="34" charset="-122"/>
                <a:cs typeface="Calibri" pitchFamily="34" charset="-120"/>
              </a:rPr>
              <a:t>¿Cómo sabemos que esto no fue modificado después?</a:t>
            </a:r>
            <a:endParaRPr lang="en-US" sz="1300" dirty="0"/>
          </a:p>
        </p:txBody>
      </p:sp>
      <p:sp>
        <p:nvSpPr>
          <p:cNvPr id="14" name="Shape 11"/>
          <p:cNvSpPr/>
          <p:nvPr/>
        </p:nvSpPr>
        <p:spPr>
          <a:xfrm>
            <a:off x="685800" y="3931920"/>
            <a:ext cx="10789920" cy="2084832"/>
          </a:xfrm>
          <a:prstGeom prst="rect">
            <a:avLst/>
          </a:prstGeom>
          <a:solidFill>
            <a:srgbClr val="8B3A2F"/>
          </a:solidFill>
          <a:ln w="12700">
            <a:solidFill>
              <a:srgbClr val="8B3A2F"/>
            </a:solidFill>
            <a:prstDash val="solid"/>
          </a:ln>
          <a:effectLst>
            <a:outerShdw sx="100000" sy="100000" kx="0" ky="0" algn="bl" rotWithShape="0" blurRad="127000" dist="25400" dir="5400000">
              <a:srgbClr val="6B6257">
                <a:alpha val="35000"/>
              </a:srgbClr>
            </a:outerShdw>
          </a:effectLst>
        </p:spPr>
        <p:txBody>
          <a:bodyPr/>
          <a:p/>
        </p:txBody>
      </p:sp>
      <p:sp>
        <p:nvSpPr>
          <p:cNvPr id="15" name="Text 12"/>
          <p:cNvSpPr/>
          <p:nvPr/>
        </p:nvSpPr>
        <p:spPr>
          <a:xfrm>
            <a:off x="1014984" y="4114800"/>
            <a:ext cx="10131552"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THE WALLET ANSWERS</a:t>
            </a:r>
            <a:endParaRPr lang="en-US" sz="850" dirty="0"/>
          </a:p>
        </p:txBody>
      </p:sp>
      <p:sp>
        <p:nvSpPr>
          <p:cNvPr id="16" name="Text 13"/>
          <p:cNvSpPr/>
          <p:nvPr/>
        </p:nvSpPr>
        <p:spPr>
          <a:xfrm>
            <a:off x="1014984" y="4306824"/>
            <a:ext cx="10131552"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LA WALLET RESPONDE</a:t>
            </a:r>
            <a:endParaRPr lang="en-US" sz="850" dirty="0"/>
          </a:p>
        </p:txBody>
      </p:sp>
      <p:sp>
        <p:nvSpPr>
          <p:cNvPr id="17" name="Text 14"/>
          <p:cNvSpPr/>
          <p:nvPr/>
        </p:nvSpPr>
        <p:spPr>
          <a:xfrm>
            <a:off x="1014984" y="4590288"/>
            <a:ext cx="10131552" cy="1225296"/>
          </a:xfrm>
          <a:prstGeom prst="rect">
            <a:avLst/>
          </a:prstGeom>
          <a:noFill/>
          <a:ln/>
        </p:spPr>
        <p:txBody>
          <a:bodyPr wrap="square" lIns="0" tIns="0" rIns="0" bIns="0" rtlCol="0" anchor="t"/>
          <a:lstStyle/>
          <a:p>
            <a:pPr indent="0" marL="0">
              <a:lnSpc>
                <a:spcPct val="120000"/>
              </a:lnSpc>
              <a:spcAft>
                <a:spcPts val="800"/>
              </a:spcAft>
              <a:buNone/>
            </a:pPr>
            <a:r>
              <a:rPr lang="en-US" sz="1600" dirty="0">
                <a:solidFill>
                  <a:srgbClr val="EDE7DA"/>
                </a:solidFill>
                <a:latin typeface="Century Schoolbook" pitchFamily="34" charset="0"/>
                <a:ea typeface="Century Schoolbook" pitchFamily="34" charset="-122"/>
                <a:cs typeface="Century Schoolbook" pitchFamily="34" charset="-120"/>
              </a:rPr>
              <a:t>The analysis existed before the trial, it is bound to this commitment, and it satisfied the corroboration rule.</a:t>
            </a:r>
            <a:endParaRPr lang="en-US" sz="1600" dirty="0"/>
          </a:p>
          <a:p>
            <a:pPr indent="0" marL="0">
              <a:lnSpc>
                <a:spcPct val="120000"/>
              </a:lnSpc>
              <a:spcAft>
                <a:spcPts val="1400"/>
              </a:spcAft>
              <a:buNone/>
            </a:pPr>
            <a:r>
              <a:rPr lang="en-US" sz="1300" i="1" dirty="0">
                <a:solidFill>
                  <a:srgbClr val="E4DDCC"/>
                </a:solidFill>
                <a:latin typeface="Century Schoolbook" pitchFamily="34" charset="0"/>
                <a:ea typeface="Century Schoolbook" pitchFamily="34" charset="-122"/>
                <a:cs typeface="Century Schoolbook" pitchFamily="34" charset="-120"/>
              </a:rPr>
              <a:t>El análisis existía antes del juicio, está ligado a este commitment, y cumplió la regla de corroboración.</a:t>
            </a:r>
            <a:endParaRPr lang="en-US" sz="1600" dirty="0"/>
          </a:p>
          <a:p>
            <a:pPr indent="0" marL="0">
              <a:lnSpc>
                <a:spcPct val="120000"/>
              </a:lnSpc>
              <a:spcAft>
                <a:spcPts val="400"/>
              </a:spcAft>
              <a:buNone/>
            </a:pPr>
            <a:r>
              <a:rPr lang="en-US" sz="1200" dirty="0">
                <a:solidFill>
                  <a:srgbClr val="E4DDCC"/>
                </a:solidFill>
                <a:latin typeface="Calibri" pitchFamily="34" charset="0"/>
                <a:ea typeface="Calibri" pitchFamily="34" charset="-122"/>
                <a:cs typeface="Calibri" pitchFamily="34" charset="-120"/>
              </a:rPr>
              <a:t>Answering that question required no disclosure at all. That is what makes it usable in a real courtroom.</a:t>
            </a:r>
            <a:endParaRPr lang="en-US" sz="1600" dirty="0"/>
          </a:p>
          <a:p>
            <a:pPr indent="0" marL="0">
              <a:lnSpc>
                <a:spcPct val="120000"/>
              </a:lnSpc>
              <a:buNone/>
            </a:pPr>
            <a:r>
              <a:rPr lang="en-US" sz="1150" i="1" dirty="0">
                <a:solidFill>
                  <a:srgbClr val="E4DDCC"/>
                </a:solidFill>
                <a:latin typeface="Calibri" pitchFamily="34" charset="0"/>
                <a:ea typeface="Calibri" pitchFamily="34" charset="-122"/>
                <a:cs typeface="Calibri" pitchFamily="34" charset="-120"/>
              </a:rPr>
              <a:t>Responder esa pregunta no requirió divulgar nada. Eso es lo que la vuelve usable en un tribunal real.</a:t>
            </a:r>
            <a:endParaRPr lang="en-US" sz="1600" dirty="0"/>
          </a:p>
        </p:txBody>
      </p:sp>
      <p:sp>
        <p:nvSpPr>
          <p:cNvPr id="18" name="Text 15"/>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a:t>
            </a:r>
            <a:endParaRPr lang="en-US" sz="800" dirty="0"/>
          </a:p>
        </p:txBody>
      </p:sp>
      <p:sp>
        <p:nvSpPr>
          <p:cNvPr id="19" name="Text 16"/>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10789920" cy="237744"/>
          </a:xfrm>
          <a:prstGeom prst="rect">
            <a:avLst/>
          </a:prstGeom>
          <a:noFill/>
          <a:ln/>
        </p:spPr>
        <p:txBody>
          <a:bodyPr wrap="square" lIns="0" tIns="0" rIns="0" bIns="0" rtlCol="0" anchor="t"/>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04 · INSTITUTIONS</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04 · INSTITUCIONES</a:t>
            </a:r>
            <a:endParaRPr lang="en-US" sz="900" dirty="0"/>
          </a:p>
        </p:txBody>
      </p:sp>
      <p:sp>
        <p:nvSpPr>
          <p:cNvPr id="4" name="Text 1"/>
          <p:cNvSpPr/>
          <p:nvPr/>
        </p:nvSpPr>
        <p:spPr>
          <a:xfrm>
            <a:off x="685800" y="786384"/>
            <a:ext cx="10789920" cy="1071677"/>
          </a:xfrm>
          <a:prstGeom prst="rect">
            <a:avLst/>
          </a:prstGeom>
          <a:noFill/>
          <a:ln/>
        </p:spPr>
        <p:txBody>
          <a:bodyPr wrap="square" lIns="0" tIns="0" rIns="0" bIns="0" rtlCol="0" anchor="t"/>
          <a:lstStyle/>
          <a:p>
            <a:pPr indent="0" marL="0">
              <a:lnSpc>
                <a:spcPct val="114000"/>
              </a:lnSpc>
              <a:spcAft>
                <a:spcPts val="1000"/>
              </a:spcAft>
              <a:buNone/>
            </a:pPr>
            <a:r>
              <a:rPr lang="en-US" sz="3000" dirty="0">
                <a:solidFill>
                  <a:srgbClr val="1C1A17"/>
                </a:solidFill>
                <a:latin typeface="Century Schoolbook" pitchFamily="34" charset="0"/>
                <a:ea typeface="Century Schoolbook" pitchFamily="34" charset="-122"/>
                <a:cs typeface="Century Schoolbook" pitchFamily="34" charset="-120"/>
              </a:rPr>
              <a:t>The same wallet, one level up.</a:t>
            </a:r>
            <a:endParaRPr lang="en-US" sz="3000" dirty="0"/>
          </a:p>
          <a:p>
            <a:pPr indent="0" marL="0">
              <a:lnSpc>
                <a:spcPct val="114000"/>
              </a:lnSpc>
              <a:buNone/>
            </a:pPr>
            <a:r>
              <a:rPr lang="en-US" sz="1800" i="1" dirty="0">
                <a:solidFill>
                  <a:srgbClr val="3A3F4B"/>
                </a:solidFill>
                <a:latin typeface="Century Schoolbook" pitchFamily="34" charset="0"/>
                <a:ea typeface="Century Schoolbook" pitchFamily="34" charset="-122"/>
                <a:cs typeface="Century Schoolbook" pitchFamily="34" charset="-120"/>
              </a:rPr>
              <a:t>La misma wallet, un nivel más arriba.</a:t>
            </a:r>
            <a:endParaRPr lang="en-US" sz="3000" dirty="0"/>
          </a:p>
        </p:txBody>
      </p:sp>
      <p:sp>
        <p:nvSpPr>
          <p:cNvPr id="5" name="Text 2"/>
          <p:cNvSpPr/>
          <p:nvPr/>
        </p:nvSpPr>
        <p:spPr>
          <a:xfrm>
            <a:off x="685800" y="2059229"/>
            <a:ext cx="10789920" cy="512064"/>
          </a:xfrm>
          <a:prstGeom prst="rect">
            <a:avLst/>
          </a:prstGeom>
          <a:noFill/>
          <a:ln/>
        </p:spPr>
        <p:txBody>
          <a:bodyPr wrap="square" lIns="0" tIns="0" rIns="0" bIns="0" rtlCol="0" anchor="t"/>
          <a:lstStyle/>
          <a:p>
            <a:pPr indent="0" marL="0">
              <a:lnSpc>
                <a:spcPct val="118000"/>
              </a:lnSpc>
              <a:spcAft>
                <a:spcPts val="500"/>
              </a:spcAft>
              <a:buNone/>
            </a:pPr>
            <a:r>
              <a:rPr lang="en-US" sz="1250" dirty="0">
                <a:solidFill>
                  <a:srgbClr val="1C1A17"/>
                </a:solidFill>
                <a:latin typeface="Calibri" pitchFamily="34" charset="0"/>
                <a:ea typeface="Calibri" pitchFamily="34" charset="-122"/>
                <a:cs typeface="Calibri" pitchFamily="34" charset="-120"/>
              </a:rPr>
              <a:t>Who buys this:   Forensic laboratories  ·  Prosecutors and courts  ·  Law firms  ·  Insurers  ·  Corporate compliance</a:t>
            </a:r>
            <a:endParaRPr lang="en-US" sz="1250" dirty="0"/>
          </a:p>
          <a:p>
            <a:pPr indent="0" marL="0">
              <a:lnSpc>
                <a:spcPct val="118000"/>
              </a:lnSpc>
              <a:buNone/>
            </a:pPr>
            <a:r>
              <a:rPr lang="en-US" sz="1200" i="1" dirty="0">
                <a:solidFill>
                  <a:srgbClr val="3A3F4B"/>
                </a:solidFill>
                <a:latin typeface="Calibri" pitchFamily="34" charset="0"/>
                <a:ea typeface="Calibri" pitchFamily="34" charset="-122"/>
                <a:cs typeface="Calibri" pitchFamily="34" charset="-120"/>
              </a:rPr>
              <a:t>Quién compra esto:   Laboratorios forenses  ·  Fiscalías y tribunales  ·  Estudios jurídicos  ·  Aseguradoras  ·  Compliance corporativo</a:t>
            </a:r>
            <a:endParaRPr lang="en-US" sz="1250" dirty="0"/>
          </a:p>
        </p:txBody>
      </p:sp>
      <p:sp>
        <p:nvSpPr>
          <p:cNvPr id="6" name="Shape 3"/>
          <p:cNvSpPr/>
          <p:nvPr/>
        </p:nvSpPr>
        <p:spPr>
          <a:xfrm>
            <a:off x="685800" y="2644445"/>
            <a:ext cx="10789920" cy="201168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7" name="Text 4"/>
          <p:cNvSpPr/>
          <p:nvPr/>
        </p:nvSpPr>
        <p:spPr>
          <a:xfrm>
            <a:off x="978408" y="2845613"/>
            <a:ext cx="10204704"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INSTITUTIONAL PROFILE · EXAMPLE</a:t>
            </a:r>
            <a:endParaRPr lang="en-US" sz="850" dirty="0"/>
          </a:p>
        </p:txBody>
      </p:sp>
      <p:sp>
        <p:nvSpPr>
          <p:cNvPr id="8" name="Text 5"/>
          <p:cNvSpPr/>
          <p:nvPr/>
        </p:nvSpPr>
        <p:spPr>
          <a:xfrm>
            <a:off x="978408" y="3037637"/>
            <a:ext cx="10204704"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PERFIL INSTITUCIONAL · EJEMPLO</a:t>
            </a:r>
            <a:endParaRPr lang="en-US" sz="850" dirty="0"/>
          </a:p>
        </p:txBody>
      </p:sp>
      <p:sp>
        <p:nvSpPr>
          <p:cNvPr id="9" name="Text 6"/>
          <p:cNvSpPr/>
          <p:nvPr/>
        </p:nvSpPr>
        <p:spPr>
          <a:xfrm>
            <a:off x="978408" y="3266237"/>
            <a:ext cx="10204704" cy="420624"/>
          </a:xfrm>
          <a:prstGeom prst="rect">
            <a:avLst/>
          </a:prstGeom>
          <a:noFill/>
          <a:ln/>
        </p:spPr>
        <p:txBody>
          <a:bodyPr wrap="square" lIns="0" tIns="0" rIns="0" bIns="0" rtlCol="0" anchor="t"/>
          <a:lstStyle/>
          <a:p>
            <a:pPr indent="0" marL="0">
              <a:buNone/>
            </a:pPr>
            <a:r>
              <a:rPr lang="en-US" sz="2200" b="1" dirty="0">
                <a:solidFill>
                  <a:srgbClr val="1C1A17"/>
                </a:solidFill>
                <a:latin typeface="Century Schoolbook" pitchFamily="34" charset="0"/>
                <a:ea typeface="Century Schoolbook" pitchFamily="34" charset="-122"/>
                <a:cs typeface="Century Schoolbook" pitchFamily="34" charset="-120"/>
              </a:rPr>
              <a:t>Fiscalía Especializada en Cibercrimen</a:t>
            </a:r>
            <a:endParaRPr lang="en-US" sz="2200" dirty="0"/>
          </a:p>
        </p:txBody>
      </p:sp>
      <p:sp>
        <p:nvSpPr>
          <p:cNvPr id="10" name="Text 7"/>
          <p:cNvSpPr/>
          <p:nvPr/>
        </p:nvSpPr>
        <p:spPr>
          <a:xfrm>
            <a:off x="932688" y="3650285"/>
            <a:ext cx="3401568" cy="658368"/>
          </a:xfrm>
          <a:prstGeom prst="rect">
            <a:avLst/>
          </a:prstGeom>
          <a:noFill/>
          <a:ln/>
        </p:spPr>
        <p:txBody>
          <a:bodyPr wrap="square" lIns="0" tIns="0" rIns="0" bIns="0" rtlCol="0" anchor="t"/>
          <a:lstStyle/>
          <a:p>
            <a:pPr indent="0" marL="0">
              <a:buNone/>
            </a:pPr>
            <a:r>
              <a:rPr lang="en-US" sz="4200" b="1" dirty="0">
                <a:solidFill>
                  <a:srgbClr val="8B3A2F"/>
                </a:solidFill>
                <a:latin typeface="Century Schoolbook" pitchFamily="34" charset="0"/>
                <a:ea typeface="Century Schoolbook" pitchFamily="34" charset="-122"/>
                <a:cs typeface="Century Schoolbook" pitchFamily="34" charset="-120"/>
              </a:rPr>
              <a:t>2,500</a:t>
            </a:r>
            <a:endParaRPr lang="en-US" sz="4200" dirty="0"/>
          </a:p>
        </p:txBody>
      </p:sp>
      <p:sp>
        <p:nvSpPr>
          <p:cNvPr id="11" name="Text 8"/>
          <p:cNvSpPr/>
          <p:nvPr/>
        </p:nvSpPr>
        <p:spPr>
          <a:xfrm>
            <a:off x="978408" y="4253789"/>
            <a:ext cx="3218688" cy="201168"/>
          </a:xfrm>
          <a:prstGeom prst="rect">
            <a:avLst/>
          </a:prstGeom>
          <a:noFill/>
          <a:ln/>
        </p:spPr>
        <p:txBody>
          <a:bodyPr wrap="square" lIns="0" tIns="0" rIns="0" bIns="0" rtlCol="0" anchor="t"/>
          <a:lstStyle/>
          <a:p>
            <a:pPr indent="0" marL="0">
              <a:buNone/>
            </a:pPr>
            <a:r>
              <a:rPr lang="en-US" sz="800" spc="120" kern="0" dirty="0">
                <a:solidFill>
                  <a:srgbClr val="8B3A2F"/>
                </a:solidFill>
                <a:latin typeface="Courier New" pitchFamily="34" charset="0"/>
                <a:ea typeface="Courier New" pitchFamily="34" charset="-122"/>
                <a:cs typeface="Courier New" pitchFamily="34" charset="-120"/>
              </a:rPr>
              <a:t>SEALED ANALYSES</a:t>
            </a:r>
            <a:endParaRPr lang="en-US" sz="800" dirty="0"/>
          </a:p>
        </p:txBody>
      </p:sp>
      <p:sp>
        <p:nvSpPr>
          <p:cNvPr id="12" name="Text 9"/>
          <p:cNvSpPr/>
          <p:nvPr/>
        </p:nvSpPr>
        <p:spPr>
          <a:xfrm>
            <a:off x="978408" y="4445813"/>
            <a:ext cx="3218688" cy="201168"/>
          </a:xfrm>
          <a:prstGeom prst="rect">
            <a:avLst/>
          </a:prstGeom>
          <a:noFill/>
          <a:ln/>
        </p:spPr>
        <p:txBody>
          <a:bodyPr wrap="square" lIns="0" tIns="0" rIns="0" bIns="0" rtlCol="0" anchor="t"/>
          <a:lstStyle/>
          <a:p>
            <a:pPr indent="0" marL="0">
              <a:buNone/>
            </a:pPr>
            <a:r>
              <a:rPr lang="en-US" sz="800" spc="120" kern="0" dirty="0">
                <a:solidFill>
                  <a:srgbClr val="6B6257"/>
                </a:solidFill>
                <a:latin typeface="Courier New" pitchFamily="34" charset="0"/>
                <a:ea typeface="Courier New" pitchFamily="34" charset="-122"/>
                <a:cs typeface="Courier New" pitchFamily="34" charset="-120"/>
              </a:rPr>
              <a:t>PERITAJES SELLADOS</a:t>
            </a:r>
            <a:endParaRPr lang="en-US" sz="800" dirty="0"/>
          </a:p>
        </p:txBody>
      </p:sp>
      <p:sp>
        <p:nvSpPr>
          <p:cNvPr id="13" name="Text 10"/>
          <p:cNvSpPr/>
          <p:nvPr/>
        </p:nvSpPr>
        <p:spPr>
          <a:xfrm>
            <a:off x="4334256" y="3650285"/>
            <a:ext cx="3401568" cy="658368"/>
          </a:xfrm>
          <a:prstGeom prst="rect">
            <a:avLst/>
          </a:prstGeom>
          <a:noFill/>
          <a:ln/>
        </p:spPr>
        <p:txBody>
          <a:bodyPr wrap="square" lIns="0" tIns="0" rIns="0" bIns="0" rtlCol="0" anchor="t"/>
          <a:lstStyle/>
          <a:p>
            <a:pPr indent="0" marL="0">
              <a:buNone/>
            </a:pPr>
            <a:r>
              <a:rPr lang="en-US" sz="4200" b="1" dirty="0">
                <a:solidFill>
                  <a:srgbClr val="8B3A2F"/>
                </a:solidFill>
                <a:latin typeface="Century Schoolbook" pitchFamily="34" charset="0"/>
                <a:ea typeface="Century Schoolbook" pitchFamily="34" charset="-122"/>
                <a:cs typeface="Century Schoolbook" pitchFamily="34" charset="-120"/>
              </a:rPr>
              <a:t>98%</a:t>
            </a:r>
            <a:endParaRPr lang="en-US" sz="4200" dirty="0"/>
          </a:p>
        </p:txBody>
      </p:sp>
      <p:sp>
        <p:nvSpPr>
          <p:cNvPr id="14" name="Text 11"/>
          <p:cNvSpPr/>
          <p:nvPr/>
        </p:nvSpPr>
        <p:spPr>
          <a:xfrm>
            <a:off x="4379976" y="4253789"/>
            <a:ext cx="3218688" cy="201168"/>
          </a:xfrm>
          <a:prstGeom prst="rect">
            <a:avLst/>
          </a:prstGeom>
          <a:noFill/>
          <a:ln/>
        </p:spPr>
        <p:txBody>
          <a:bodyPr wrap="square" lIns="0" tIns="0" rIns="0" bIns="0" rtlCol="0" anchor="t"/>
          <a:lstStyle/>
          <a:p>
            <a:pPr indent="0" marL="0">
              <a:buNone/>
            </a:pPr>
            <a:r>
              <a:rPr lang="en-US" sz="800" spc="120" kern="0" dirty="0">
                <a:solidFill>
                  <a:srgbClr val="8B3A2F"/>
                </a:solidFill>
                <a:latin typeface="Courier New" pitchFamily="34" charset="0"/>
                <a:ea typeface="Courier New" pitchFamily="34" charset="-122"/>
                <a:cs typeface="Courier New" pitchFamily="34" charset="-120"/>
              </a:rPr>
              <a:t>VERIFIABLE CHAIN</a:t>
            </a:r>
            <a:endParaRPr lang="en-US" sz="800" dirty="0"/>
          </a:p>
        </p:txBody>
      </p:sp>
      <p:sp>
        <p:nvSpPr>
          <p:cNvPr id="15" name="Text 12"/>
          <p:cNvSpPr/>
          <p:nvPr/>
        </p:nvSpPr>
        <p:spPr>
          <a:xfrm>
            <a:off x="4379976" y="4445813"/>
            <a:ext cx="3218688" cy="201168"/>
          </a:xfrm>
          <a:prstGeom prst="rect">
            <a:avLst/>
          </a:prstGeom>
          <a:noFill/>
          <a:ln/>
        </p:spPr>
        <p:txBody>
          <a:bodyPr wrap="square" lIns="0" tIns="0" rIns="0" bIns="0" rtlCol="0" anchor="t"/>
          <a:lstStyle/>
          <a:p>
            <a:pPr indent="0" marL="0">
              <a:buNone/>
            </a:pPr>
            <a:r>
              <a:rPr lang="en-US" sz="800" spc="120" kern="0" dirty="0">
                <a:solidFill>
                  <a:srgbClr val="6B6257"/>
                </a:solidFill>
                <a:latin typeface="Courier New" pitchFamily="34" charset="0"/>
                <a:ea typeface="Courier New" pitchFamily="34" charset="-122"/>
                <a:cs typeface="Courier New" pitchFamily="34" charset="-120"/>
              </a:rPr>
              <a:t>CADENA VERIFICABLE</a:t>
            </a:r>
            <a:endParaRPr lang="en-US" sz="800" dirty="0"/>
          </a:p>
        </p:txBody>
      </p:sp>
      <p:sp>
        <p:nvSpPr>
          <p:cNvPr id="16" name="Text 13"/>
          <p:cNvSpPr/>
          <p:nvPr/>
        </p:nvSpPr>
        <p:spPr>
          <a:xfrm>
            <a:off x="7735824" y="3650285"/>
            <a:ext cx="3401568" cy="658368"/>
          </a:xfrm>
          <a:prstGeom prst="rect">
            <a:avLst/>
          </a:prstGeom>
          <a:noFill/>
          <a:ln/>
        </p:spPr>
        <p:txBody>
          <a:bodyPr wrap="square" lIns="0" tIns="0" rIns="0" bIns="0" rtlCol="0" anchor="t"/>
          <a:lstStyle/>
          <a:p>
            <a:pPr indent="0" marL="0">
              <a:buNone/>
            </a:pPr>
            <a:r>
              <a:rPr lang="en-US" sz="4200" b="1" dirty="0">
                <a:solidFill>
                  <a:srgbClr val="8B3A2F"/>
                </a:solidFill>
                <a:latin typeface="Century Schoolbook" pitchFamily="34" charset="0"/>
                <a:ea typeface="Century Schoolbook" pitchFamily="34" charset="-122"/>
                <a:cs typeface="Century Schoolbook" pitchFamily="34" charset="-120"/>
              </a:rPr>
              <a:t>0</a:t>
            </a:r>
            <a:endParaRPr lang="en-US" sz="4200" dirty="0"/>
          </a:p>
        </p:txBody>
      </p:sp>
      <p:sp>
        <p:nvSpPr>
          <p:cNvPr id="17" name="Text 14"/>
          <p:cNvSpPr/>
          <p:nvPr/>
        </p:nvSpPr>
        <p:spPr>
          <a:xfrm>
            <a:off x="7781544" y="4253789"/>
            <a:ext cx="3218688" cy="201168"/>
          </a:xfrm>
          <a:prstGeom prst="rect">
            <a:avLst/>
          </a:prstGeom>
          <a:noFill/>
          <a:ln/>
        </p:spPr>
        <p:txBody>
          <a:bodyPr wrap="square" lIns="0" tIns="0" rIns="0" bIns="0" rtlCol="0" anchor="t"/>
          <a:lstStyle/>
          <a:p>
            <a:pPr indent="0" marL="0">
              <a:buNone/>
            </a:pPr>
            <a:r>
              <a:rPr lang="en-US" sz="800" spc="120" kern="0" dirty="0">
                <a:solidFill>
                  <a:srgbClr val="8B3A2F"/>
                </a:solidFill>
                <a:latin typeface="Courier New" pitchFamily="34" charset="0"/>
                <a:ea typeface="Courier New" pitchFamily="34" charset="-122"/>
                <a:cs typeface="Courier New" pitchFamily="34" charset="-120"/>
              </a:rPr>
              <a:t>POST-SEAL ALTERATIONS</a:t>
            </a:r>
            <a:endParaRPr lang="en-US" sz="800" dirty="0"/>
          </a:p>
        </p:txBody>
      </p:sp>
      <p:sp>
        <p:nvSpPr>
          <p:cNvPr id="18" name="Text 15"/>
          <p:cNvSpPr/>
          <p:nvPr/>
        </p:nvSpPr>
        <p:spPr>
          <a:xfrm>
            <a:off x="7781544" y="4445813"/>
            <a:ext cx="3218688" cy="201168"/>
          </a:xfrm>
          <a:prstGeom prst="rect">
            <a:avLst/>
          </a:prstGeom>
          <a:noFill/>
          <a:ln/>
        </p:spPr>
        <p:txBody>
          <a:bodyPr wrap="square" lIns="0" tIns="0" rIns="0" bIns="0" rtlCol="0" anchor="t"/>
          <a:lstStyle/>
          <a:p>
            <a:pPr indent="0" marL="0">
              <a:buNone/>
            </a:pPr>
            <a:r>
              <a:rPr lang="en-US" sz="800" spc="120" kern="0" dirty="0">
                <a:solidFill>
                  <a:srgbClr val="6B6257"/>
                </a:solidFill>
                <a:latin typeface="Courier New" pitchFamily="34" charset="0"/>
                <a:ea typeface="Courier New" pitchFamily="34" charset="-122"/>
                <a:cs typeface="Courier New" pitchFamily="34" charset="-120"/>
              </a:rPr>
              <a:t>ALTERACIONES POST-SELLADO</a:t>
            </a:r>
            <a:endParaRPr lang="en-US" sz="800" dirty="0"/>
          </a:p>
        </p:txBody>
      </p:sp>
      <p:sp>
        <p:nvSpPr>
          <p:cNvPr id="19" name="Shape 16"/>
          <p:cNvSpPr/>
          <p:nvPr/>
        </p:nvSpPr>
        <p:spPr>
          <a:xfrm>
            <a:off x="685800" y="5010912"/>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20" name="Text 17"/>
          <p:cNvSpPr/>
          <p:nvPr/>
        </p:nvSpPr>
        <p:spPr>
          <a:xfrm>
            <a:off x="960120" y="5193792"/>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An expert buys reputation. An institution buys a trust layer over everything its people sign.</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Un perito compra reputación. Una institución compra una capa de confianza sobre lo que firma su gente.</a:t>
            </a:r>
            <a:endParaRPr lang="en-US" sz="1300" dirty="0"/>
          </a:p>
        </p:txBody>
      </p:sp>
      <p:sp>
        <p:nvSpPr>
          <p:cNvPr id="21" name="Text 18"/>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a:t>
            </a:r>
            <a:endParaRPr lang="en-US" sz="800" dirty="0"/>
          </a:p>
        </p:txBody>
      </p:sp>
      <p:sp>
        <p:nvSpPr>
          <p:cNvPr id="22" name="Text 19"/>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g-veil.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49224" y="1371600"/>
            <a:ext cx="2743200" cy="1463040"/>
          </a:xfrm>
          <a:prstGeom prst="rect">
            <a:avLst/>
          </a:prstGeom>
          <a:noFill/>
          <a:ln/>
        </p:spPr>
        <p:txBody>
          <a:bodyPr wrap="square" lIns="0" tIns="0" rIns="0" bIns="0" rtlCol="0" anchor="t"/>
          <a:lstStyle/>
          <a:p>
            <a:pPr indent="0" marL="0">
              <a:buNone/>
            </a:pPr>
            <a:r>
              <a:rPr lang="en-US" sz="10000" b="1" dirty="0">
                <a:solidFill>
                  <a:srgbClr val="2E323C"/>
                </a:solidFill>
                <a:latin typeface="Century Schoolbook" pitchFamily="34" charset="0"/>
                <a:ea typeface="Century Schoolbook" pitchFamily="34" charset="-122"/>
                <a:cs typeface="Century Schoolbook" pitchFamily="34" charset="-120"/>
              </a:rPr>
              <a:t>02</a:t>
            </a:r>
            <a:endParaRPr lang="en-US" sz="10000" dirty="0"/>
          </a:p>
        </p:txBody>
      </p:sp>
      <p:sp>
        <p:nvSpPr>
          <p:cNvPr id="4" name="Text 1"/>
          <p:cNvSpPr/>
          <p:nvPr/>
        </p:nvSpPr>
        <p:spPr>
          <a:xfrm>
            <a:off x="685800" y="2834640"/>
            <a:ext cx="10058400" cy="914400"/>
          </a:xfrm>
          <a:prstGeom prst="rect">
            <a:avLst/>
          </a:prstGeom>
          <a:noFill/>
          <a:ln/>
        </p:spPr>
        <p:txBody>
          <a:bodyPr wrap="square" lIns="0" tIns="0" rIns="0" bIns="0" rtlCol="0" anchor="t"/>
          <a:lstStyle/>
          <a:p>
            <a:pPr indent="0" marL="0">
              <a:buNone/>
            </a:pPr>
            <a:r>
              <a:rPr lang="en-US" sz="5400" dirty="0">
                <a:solidFill>
                  <a:srgbClr val="EDE7DA"/>
                </a:solidFill>
                <a:latin typeface="Century Schoolbook" pitchFamily="34" charset="0"/>
                <a:ea typeface="Century Schoolbook" pitchFamily="34" charset="-122"/>
                <a:cs typeface="Century Schoolbook" pitchFamily="34" charset="-120"/>
              </a:rPr>
              <a:t>How it holds</a:t>
            </a:r>
            <a:endParaRPr lang="en-US" sz="5400" dirty="0"/>
          </a:p>
        </p:txBody>
      </p:sp>
      <p:sp>
        <p:nvSpPr>
          <p:cNvPr id="5" name="Text 2"/>
          <p:cNvSpPr/>
          <p:nvPr/>
        </p:nvSpPr>
        <p:spPr>
          <a:xfrm>
            <a:off x="685800" y="3767328"/>
            <a:ext cx="10058400" cy="640080"/>
          </a:xfrm>
          <a:prstGeom prst="rect">
            <a:avLst/>
          </a:prstGeom>
          <a:noFill/>
          <a:ln/>
        </p:spPr>
        <p:txBody>
          <a:bodyPr wrap="square" lIns="0" tIns="0" rIns="0" bIns="0" rtlCol="0" anchor="t"/>
          <a:lstStyle/>
          <a:p>
            <a:pPr indent="0" marL="0">
              <a:buNone/>
            </a:pPr>
            <a:r>
              <a:rPr lang="en-US" sz="3200" i="1" dirty="0">
                <a:solidFill>
                  <a:srgbClr val="C9C4B8"/>
                </a:solidFill>
                <a:latin typeface="Century Schoolbook" pitchFamily="34" charset="0"/>
                <a:ea typeface="Century Schoolbook" pitchFamily="34" charset="-122"/>
                <a:cs typeface="Century Schoolbook" pitchFamily="34" charset="-120"/>
              </a:rPr>
              <a:t>Cómo se sostiene</a:t>
            </a:r>
            <a:endParaRPr lang="en-US" sz="3200" dirty="0"/>
          </a:p>
        </p:txBody>
      </p:sp>
      <p:sp>
        <p:nvSpPr>
          <p:cNvPr id="6" name="Text 3"/>
          <p:cNvSpPr/>
          <p:nvPr/>
        </p:nvSpPr>
        <p:spPr>
          <a:xfrm>
            <a:off x="685800" y="4709160"/>
            <a:ext cx="5074920" cy="640080"/>
          </a:xfrm>
          <a:prstGeom prst="rect">
            <a:avLst/>
          </a:prstGeom>
          <a:noFill/>
          <a:ln/>
        </p:spPr>
        <p:txBody>
          <a:bodyPr wrap="square" lIns="0" tIns="0" rIns="0" bIns="0" rtlCol="0" anchor="t"/>
          <a:lstStyle/>
          <a:p>
            <a:pPr indent="0" marL="0">
              <a:lnSpc>
                <a:spcPct val="130000"/>
              </a:lnSpc>
              <a:buNone/>
            </a:pPr>
            <a:r>
              <a:rPr lang="en-US" sz="1300" dirty="0">
                <a:solidFill>
                  <a:srgbClr val="C9C4B8"/>
                </a:solidFill>
                <a:latin typeface="Calibri" pitchFamily="34" charset="0"/>
                <a:ea typeface="Calibri" pitchFamily="34" charset="-122"/>
                <a:cs typeface="Calibri" pitchFamily="34" charset="-120"/>
              </a:rPr>
              <a:t>A reputation layer is worth exactly what the cryptography under it is worth.</a:t>
            </a:r>
            <a:endParaRPr lang="en-US" sz="1300" dirty="0"/>
          </a:p>
        </p:txBody>
      </p:sp>
      <p:sp>
        <p:nvSpPr>
          <p:cNvPr id="7" name="Text 4"/>
          <p:cNvSpPr/>
          <p:nvPr/>
        </p:nvSpPr>
        <p:spPr>
          <a:xfrm>
            <a:off x="6400800" y="4709160"/>
            <a:ext cx="5074920" cy="640080"/>
          </a:xfrm>
          <a:prstGeom prst="rect">
            <a:avLst/>
          </a:prstGeom>
          <a:noFill/>
          <a:ln/>
        </p:spPr>
        <p:txBody>
          <a:bodyPr wrap="square" lIns="0" tIns="0" rIns="0" bIns="0" rtlCol="0" anchor="t"/>
          <a:lstStyle/>
          <a:p>
            <a:pPr indent="0" marL="0">
              <a:lnSpc>
                <a:spcPct val="130000"/>
              </a:lnSpc>
              <a:buNone/>
            </a:pPr>
            <a:r>
              <a:rPr lang="en-US" sz="1300" i="1" dirty="0">
                <a:solidFill>
                  <a:srgbClr val="C9C4B8"/>
                </a:solidFill>
                <a:latin typeface="Calibri" pitchFamily="34" charset="0"/>
                <a:ea typeface="Calibri" pitchFamily="34" charset="-122"/>
                <a:cs typeface="Calibri" pitchFamily="34" charset="-120"/>
              </a:rPr>
              <a:t>Una capa de reputación vale exactamente lo que vale la criptografía que tiene debajo.</a:t>
            </a:r>
            <a:endParaRPr lang="en-US" sz="1300" dirty="0"/>
          </a:p>
        </p:txBody>
      </p:sp>
      <p:sp>
        <p:nvSpPr>
          <p:cNvPr id="8" name="Text 5"/>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C9C4B8"/>
                </a:solidFill>
                <a:latin typeface="Courier New" pitchFamily="34" charset="0"/>
                <a:ea typeface="Courier New" pitchFamily="34" charset="-122"/>
                <a:cs typeface="Courier New" pitchFamily="34" charset="-120"/>
              </a:rPr>
              <a:t>VELO · Professional Evidence Wallet</a:t>
            </a:r>
            <a:endParaRPr lang="en-US" sz="800" dirty="0"/>
          </a:p>
        </p:txBody>
      </p:sp>
      <p:sp>
        <p:nvSpPr>
          <p:cNvPr id="9" name="Text 6"/>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C9C4B8"/>
                </a:solidFill>
                <a:latin typeface="Courier New" pitchFamily="34" charset="0"/>
                <a:ea typeface="Courier New" pitchFamily="34" charset="-122"/>
                <a:cs typeface="Courier New"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10789920" cy="237744"/>
          </a:xfrm>
          <a:prstGeom prst="rect">
            <a:avLst/>
          </a:prstGeom>
          <a:noFill/>
          <a:ln/>
        </p:spPr>
        <p:txBody>
          <a:bodyPr wrap="square" lIns="0" tIns="0" rIns="0" bIns="0" rtlCol="0" anchor="t"/>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THE DUAL LEDGER</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EL DUAL-LEDGER</a:t>
            </a:r>
            <a:endParaRPr lang="en-US" sz="900" dirty="0"/>
          </a:p>
        </p:txBody>
      </p:sp>
      <p:sp>
        <p:nvSpPr>
          <p:cNvPr id="4" name="Text 1"/>
          <p:cNvSpPr/>
          <p:nvPr/>
        </p:nvSpPr>
        <p:spPr>
          <a:xfrm>
            <a:off x="685800" y="786384"/>
            <a:ext cx="10789920" cy="1016081"/>
          </a:xfrm>
          <a:prstGeom prst="rect">
            <a:avLst/>
          </a:prstGeom>
          <a:noFill/>
          <a:ln/>
        </p:spPr>
        <p:txBody>
          <a:bodyPr wrap="square" lIns="0" tIns="0" rIns="0" bIns="0" rtlCol="0" anchor="t"/>
          <a:lstStyle/>
          <a:p>
            <a:pPr indent="0" marL="0">
              <a:lnSpc>
                <a:spcPct val="114000"/>
              </a:lnSpc>
              <a:spcAft>
                <a:spcPts val="1000"/>
              </a:spcAft>
              <a:buNone/>
            </a:pPr>
            <a:r>
              <a:rPr lang="en-US" sz="2800" dirty="0">
                <a:solidFill>
                  <a:srgbClr val="1C1A17"/>
                </a:solidFill>
                <a:latin typeface="Century Schoolbook" pitchFamily="34" charset="0"/>
                <a:ea typeface="Century Schoolbook" pitchFamily="34" charset="-122"/>
                <a:cs typeface="Century Schoolbook" pitchFamily="34" charset="-120"/>
              </a:rPr>
              <a:t>Nothing crosses unless the author marks it.</a:t>
            </a:r>
            <a:endParaRPr lang="en-US" sz="2800" dirty="0"/>
          </a:p>
          <a:p>
            <a:pPr indent="0" marL="0">
              <a:lnSpc>
                <a:spcPct val="114000"/>
              </a:lnSpc>
              <a:buNone/>
            </a:pPr>
            <a:r>
              <a:rPr lang="en-US" sz="1680" i="1" dirty="0">
                <a:solidFill>
                  <a:srgbClr val="3A3F4B"/>
                </a:solidFill>
                <a:latin typeface="Century Schoolbook" pitchFamily="34" charset="0"/>
                <a:ea typeface="Century Schoolbook" pitchFamily="34" charset="-122"/>
                <a:cs typeface="Century Schoolbook" pitchFamily="34" charset="-120"/>
              </a:rPr>
              <a:t>Nada cruza salvo que el autor lo marque.</a:t>
            </a:r>
            <a:endParaRPr lang="en-US" sz="2800" dirty="0"/>
          </a:p>
        </p:txBody>
      </p:sp>
      <p:sp>
        <p:nvSpPr>
          <p:cNvPr id="5" name="Shape 2"/>
          <p:cNvSpPr/>
          <p:nvPr/>
        </p:nvSpPr>
        <p:spPr>
          <a:xfrm>
            <a:off x="685800" y="2213945"/>
            <a:ext cx="4782312" cy="274320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41832" y="2433401"/>
            <a:ext cx="4270248"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PUBLIC · THE WALLET</a:t>
            </a:r>
            <a:endParaRPr lang="en-US" sz="850" dirty="0"/>
          </a:p>
        </p:txBody>
      </p:sp>
      <p:sp>
        <p:nvSpPr>
          <p:cNvPr id="7" name="Text 4"/>
          <p:cNvSpPr/>
          <p:nvPr/>
        </p:nvSpPr>
        <p:spPr>
          <a:xfrm>
            <a:off x="941832" y="2625425"/>
            <a:ext cx="4270248"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PÚBLICO · LA WALLET</a:t>
            </a:r>
            <a:endParaRPr lang="en-US" sz="850" dirty="0"/>
          </a:p>
        </p:txBody>
      </p:sp>
      <p:sp>
        <p:nvSpPr>
          <p:cNvPr id="8" name="Text 5"/>
          <p:cNvSpPr/>
          <p:nvPr/>
        </p:nvSpPr>
        <p:spPr>
          <a:xfrm>
            <a:off x="941832" y="2908889"/>
            <a:ext cx="4270248" cy="566928"/>
          </a:xfrm>
          <a:prstGeom prst="rect">
            <a:avLst/>
          </a:prstGeom>
          <a:noFill/>
          <a:ln/>
        </p:spPr>
        <p:txBody>
          <a:bodyPr wrap="square" lIns="0" tIns="0" rIns="0" bIns="0" rtlCol="0" anchor="t"/>
          <a:lstStyle/>
          <a:p>
            <a:pPr indent="0" marL="0">
              <a:lnSpc>
                <a:spcPct val="120000"/>
              </a:lnSpc>
              <a:spcAft>
                <a:spcPts val="600"/>
              </a:spcAft>
              <a:buNone/>
            </a:pPr>
            <a:r>
              <a:rPr lang="en-US" sz="1200" dirty="0">
                <a:solidFill>
                  <a:srgbClr val="1C1A17"/>
                </a:solidFill>
                <a:latin typeface="Calibri" pitchFamily="34" charset="0"/>
                <a:ea typeface="Calibri" pitchFamily="34" charset="-122"/>
                <a:cs typeface="Calibri" pitchFamily="34" charset="-120"/>
              </a:rPr>
              <a:t>Anyone, forever, immutable.</a:t>
            </a:r>
            <a:endParaRPr lang="en-US" sz="1200" dirty="0"/>
          </a:p>
          <a:p>
            <a:pPr indent="0" marL="0">
              <a:lnSpc>
                <a:spcPct val="120000"/>
              </a:lnSpc>
              <a:buNone/>
            </a:pPr>
            <a:r>
              <a:rPr lang="en-US" sz="1150" i="1" dirty="0">
                <a:solidFill>
                  <a:srgbClr val="3A3F4B"/>
                </a:solidFill>
                <a:latin typeface="Calibri" pitchFamily="34" charset="0"/>
                <a:ea typeface="Calibri" pitchFamily="34" charset="-122"/>
                <a:cs typeface="Calibri" pitchFamily="34" charset="-120"/>
              </a:rPr>
              <a:t>Cualquiera, para siempre, inmutable.</a:t>
            </a:r>
            <a:endParaRPr lang="en-US" sz="1200" dirty="0"/>
          </a:p>
        </p:txBody>
      </p:sp>
      <p:sp>
        <p:nvSpPr>
          <p:cNvPr id="9" name="Text 6"/>
          <p:cNvSpPr/>
          <p:nvPr/>
        </p:nvSpPr>
        <p:spPr>
          <a:xfrm>
            <a:off x="941832" y="3548969"/>
            <a:ext cx="4270248" cy="1225296"/>
          </a:xfrm>
          <a:prstGeom prst="rect">
            <a:avLst/>
          </a:prstGeom>
          <a:noFill/>
          <a:ln/>
        </p:spPr>
        <p:txBody>
          <a:bodyPr wrap="square" lIns="0" tIns="0" rIns="0" bIns="0" rtlCol="0" anchor="t"/>
          <a:lstStyle/>
          <a:p>
            <a:pPr indent="0" marL="0">
              <a:lnSpc>
                <a:spcPct val="150000"/>
              </a:lnSpc>
              <a:buNone/>
            </a:pPr>
            <a:r>
              <a:rPr lang="en-US" sz="1100" dirty="0">
                <a:solidFill>
                  <a:srgbClr val="1C1A17"/>
                </a:solidFill>
                <a:latin typeface="Courier New" pitchFamily="34" charset="0"/>
                <a:ea typeface="Courier New" pitchFamily="34" charset="-122"/>
                <a:cs typeface="Courier New" pitchFamily="34" charset="-120"/>
              </a:rPr>
              <a:t>commitment</a:t>
            </a:r>
            <a:endParaRPr lang="en-US" sz="1100" dirty="0"/>
          </a:p>
          <a:p>
            <a:pPr indent="0" marL="0">
              <a:lnSpc>
                <a:spcPct val="150000"/>
              </a:lnSpc>
              <a:buNone/>
            </a:pPr>
            <a:r>
              <a:rPr lang="en-US" sz="1100" dirty="0">
                <a:solidFill>
                  <a:srgbClr val="1C1A17"/>
                </a:solidFill>
                <a:latin typeface="Courier New" pitchFamily="34" charset="0"/>
                <a:ea typeface="Courier New" pitchFamily="34" charset="-122"/>
                <a:cs typeface="Courier New" pitchFamily="34" charset="-120"/>
              </a:rPr>
              <a:t>outcome</a:t>
            </a:r>
            <a:endParaRPr lang="en-US" sz="1100" dirty="0"/>
          </a:p>
          <a:p>
            <a:pPr indent="0" marL="0">
              <a:lnSpc>
                <a:spcPct val="150000"/>
              </a:lnSpc>
              <a:buNone/>
            </a:pPr>
            <a:r>
              <a:rPr lang="en-US" sz="1100" dirty="0">
                <a:solidFill>
                  <a:srgbClr val="1C1A17"/>
                </a:solidFill>
                <a:latin typeface="Courier New" pitchFamily="34" charset="0"/>
                <a:ea typeface="Courier New" pitchFamily="34" charset="-122"/>
                <a:cs typeface="Courier New" pitchFamily="34" charset="-120"/>
              </a:rPr>
              <a:t>rule_satisfied</a:t>
            </a:r>
            <a:endParaRPr lang="en-US" sz="1100" dirty="0"/>
          </a:p>
          <a:p>
            <a:pPr indent="0" marL="0">
              <a:lnSpc>
                <a:spcPct val="150000"/>
              </a:lnSpc>
              <a:buNone/>
            </a:pPr>
            <a:r>
              <a:rPr lang="en-US" sz="1100" dirty="0">
                <a:solidFill>
                  <a:srgbClr val="1C1A17"/>
                </a:solidFill>
                <a:latin typeface="Courier New" pitchFamily="34" charset="0"/>
                <a:ea typeface="Courier New" pitchFamily="34" charset="-122"/>
                <a:cs typeface="Courier New" pitchFamily="34" charset="-120"/>
              </a:rPr>
              <a:t>attestation_count</a:t>
            </a:r>
            <a:endParaRPr lang="en-US" sz="1100" dirty="0"/>
          </a:p>
        </p:txBody>
      </p:sp>
      <p:sp>
        <p:nvSpPr>
          <p:cNvPr id="10" name="Shape 7"/>
          <p:cNvSpPr/>
          <p:nvPr/>
        </p:nvSpPr>
        <p:spPr>
          <a:xfrm>
            <a:off x="6693408" y="2213945"/>
            <a:ext cx="4782312" cy="2743200"/>
          </a:xfrm>
          <a:prstGeom prst="rect">
            <a:avLst/>
          </a:prstGeom>
          <a:solidFill>
            <a:srgbClr val="3A3F4B"/>
          </a:solidFill>
          <a:ln w="12700">
            <a:solidFill>
              <a:srgbClr val="3A3F4B"/>
            </a:solidFill>
            <a:prstDash val="solid"/>
          </a:ln>
          <a:effectLst>
            <a:outerShdw sx="100000" sy="100000" kx="0" ky="0" algn="bl" rotWithShape="0" blurRad="127000" dist="25400" dir="5400000">
              <a:srgbClr val="6B6257">
                <a:alpha val="35000"/>
              </a:srgbClr>
            </a:outerShdw>
          </a:effectLst>
        </p:spPr>
        <p:txBody>
          <a:bodyPr/>
          <a:p/>
        </p:txBody>
      </p:sp>
      <p:sp>
        <p:nvSpPr>
          <p:cNvPr id="11" name="Text 8"/>
          <p:cNvSpPr/>
          <p:nvPr/>
        </p:nvSpPr>
        <p:spPr>
          <a:xfrm>
            <a:off x="6949440" y="2433401"/>
            <a:ext cx="4270248"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PRIVATE · NEVER LEAVES</a:t>
            </a:r>
            <a:endParaRPr lang="en-US" sz="850" dirty="0"/>
          </a:p>
        </p:txBody>
      </p:sp>
      <p:sp>
        <p:nvSpPr>
          <p:cNvPr id="12" name="Text 9"/>
          <p:cNvSpPr/>
          <p:nvPr/>
        </p:nvSpPr>
        <p:spPr>
          <a:xfrm>
            <a:off x="6949440" y="2625425"/>
            <a:ext cx="4270248"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PRIVADO · NUNCA SALE</a:t>
            </a:r>
            <a:endParaRPr lang="en-US" sz="850" dirty="0"/>
          </a:p>
        </p:txBody>
      </p:sp>
      <p:sp>
        <p:nvSpPr>
          <p:cNvPr id="13" name="Text 10"/>
          <p:cNvSpPr/>
          <p:nvPr/>
        </p:nvSpPr>
        <p:spPr>
          <a:xfrm>
            <a:off x="6949440" y="2908889"/>
            <a:ext cx="4270248" cy="566928"/>
          </a:xfrm>
          <a:prstGeom prst="rect">
            <a:avLst/>
          </a:prstGeom>
          <a:noFill/>
          <a:ln/>
        </p:spPr>
        <p:txBody>
          <a:bodyPr wrap="square" lIns="0" tIns="0" rIns="0" bIns="0" rtlCol="0" anchor="t"/>
          <a:lstStyle/>
          <a:p>
            <a:pPr indent="0" marL="0">
              <a:lnSpc>
                <a:spcPct val="120000"/>
              </a:lnSpc>
              <a:spcAft>
                <a:spcPts val="600"/>
              </a:spcAft>
              <a:buNone/>
            </a:pPr>
            <a:r>
              <a:rPr lang="en-US" sz="1200" dirty="0">
                <a:solidFill>
                  <a:srgbClr val="EDE7DA"/>
                </a:solidFill>
                <a:latin typeface="Calibri" pitchFamily="34" charset="0"/>
                <a:ea typeface="Calibri" pitchFamily="34" charset="-122"/>
                <a:cs typeface="Calibri" pitchFamily="34" charset="-120"/>
              </a:rPr>
              <a:t>Nobody but the expert. Never leaves the machine.</a:t>
            </a:r>
            <a:endParaRPr lang="en-US" sz="1200" dirty="0"/>
          </a:p>
          <a:p>
            <a:pPr indent="0" marL="0">
              <a:lnSpc>
                <a:spcPct val="120000"/>
              </a:lnSpc>
              <a:buNone/>
            </a:pPr>
            <a:r>
              <a:rPr lang="en-US" sz="1150" i="1" dirty="0">
                <a:solidFill>
                  <a:srgbClr val="C9C4B8"/>
                </a:solidFill>
                <a:latin typeface="Calibri" pitchFamily="34" charset="0"/>
                <a:ea typeface="Calibri" pitchFamily="34" charset="-122"/>
                <a:cs typeface="Calibri" pitchFamily="34" charset="-120"/>
              </a:rPr>
              <a:t>Nadie salvo el perito. Nunca sale de la máquina.</a:t>
            </a:r>
            <a:endParaRPr lang="en-US" sz="1200" dirty="0"/>
          </a:p>
        </p:txBody>
      </p:sp>
      <p:sp>
        <p:nvSpPr>
          <p:cNvPr id="14" name="Text 11"/>
          <p:cNvSpPr/>
          <p:nvPr/>
        </p:nvSpPr>
        <p:spPr>
          <a:xfrm>
            <a:off x="6949440" y="3548969"/>
            <a:ext cx="4270248" cy="1225296"/>
          </a:xfrm>
          <a:prstGeom prst="rect">
            <a:avLst/>
          </a:prstGeom>
          <a:noFill/>
          <a:ln/>
        </p:spPr>
        <p:txBody>
          <a:bodyPr wrap="square" lIns="0" tIns="0" rIns="0" bIns="0" rtlCol="0" anchor="t"/>
          <a:lstStyle/>
          <a:p>
            <a:pPr indent="0" marL="0">
              <a:lnSpc>
                <a:spcPct val="150000"/>
              </a:lnSpc>
              <a:buNone/>
            </a:pPr>
            <a:r>
              <a:rPr lang="en-US" sz="1100" i="1" dirty="0">
                <a:solidFill>
                  <a:srgbClr val="C9C4B8"/>
                </a:solidFill>
                <a:latin typeface="Courier New" pitchFamily="34" charset="0"/>
                <a:ea typeface="Courier New" pitchFamily="34" charset="-122"/>
                <a:cs typeface="Courier New" pitchFamily="34" charset="-120"/>
              </a:rPr>
              <a:t>bundle_fingerprint</a:t>
            </a:r>
            <a:endParaRPr lang="en-US" sz="1100" dirty="0"/>
          </a:p>
          <a:p>
            <a:pPr indent="0" marL="0">
              <a:lnSpc>
                <a:spcPct val="150000"/>
              </a:lnSpc>
              <a:buNone/>
            </a:pPr>
            <a:r>
              <a:rPr lang="en-US" sz="1100" i="1" dirty="0">
                <a:solidFill>
                  <a:srgbClr val="C9C4B8"/>
                </a:solidFill>
                <a:latin typeface="Courier New" pitchFamily="34" charset="0"/>
                <a:ea typeface="Courier New" pitchFamily="34" charset="-122"/>
                <a:cs typeface="Courier New" pitchFamily="34" charset="-120"/>
              </a:rPr>
              <a:t>verdict_detail</a:t>
            </a:r>
            <a:endParaRPr lang="en-US" sz="1100" dirty="0"/>
          </a:p>
          <a:p>
            <a:pPr indent="0" marL="0">
              <a:lnSpc>
                <a:spcPct val="150000"/>
              </a:lnSpc>
              <a:buNone/>
            </a:pPr>
            <a:r>
              <a:rPr lang="en-US" sz="1100" i="1" dirty="0">
                <a:solidFill>
                  <a:srgbClr val="C9C4B8"/>
                </a:solidFill>
                <a:latin typeface="Courier New" pitchFamily="34" charset="0"/>
                <a:ea typeface="Courier New" pitchFamily="34" charset="-122"/>
                <a:cs typeface="Courier New" pitchFamily="34" charset="-120"/>
              </a:rPr>
              <a:t>corroboration_count</a:t>
            </a:r>
            <a:endParaRPr lang="en-US" sz="1100" dirty="0"/>
          </a:p>
          <a:p>
            <a:pPr indent="0" marL="0">
              <a:lnSpc>
                <a:spcPct val="150000"/>
              </a:lnSpc>
              <a:buNone/>
            </a:pPr>
            <a:r>
              <a:rPr lang="en-US" sz="1100" i="1" dirty="0">
                <a:solidFill>
                  <a:srgbClr val="C9C4B8"/>
                </a:solidFill>
                <a:latin typeface="Courier New" pitchFamily="34" charset="0"/>
                <a:ea typeface="Courier New" pitchFamily="34" charset="-122"/>
                <a:cs typeface="Courier New" pitchFamily="34" charset="-120"/>
              </a:rPr>
              <a:t>secret_salt</a:t>
            </a:r>
            <a:endParaRPr lang="en-US" sz="1100" dirty="0"/>
          </a:p>
        </p:txBody>
      </p:sp>
      <p:sp>
        <p:nvSpPr>
          <p:cNvPr id="15" name="Shape 12"/>
          <p:cNvSpPr/>
          <p:nvPr/>
        </p:nvSpPr>
        <p:spPr>
          <a:xfrm>
            <a:off x="5779008" y="2982041"/>
            <a:ext cx="603504" cy="1207008"/>
          </a:xfrm>
          <a:prstGeom prst="rect">
            <a:avLst/>
          </a:prstGeom>
          <a:solidFill>
            <a:srgbClr val="8B3A2F"/>
          </a:solidFill>
          <a:ln w="12700">
            <a:solidFill>
              <a:srgbClr val="8B3A2F"/>
            </a:solidFill>
            <a:prstDash val="solid"/>
          </a:ln>
        </p:spPr>
        <p:txBody>
          <a:bodyPr/>
          <a:p/>
        </p:txBody>
      </p:sp>
      <p:sp>
        <p:nvSpPr>
          <p:cNvPr id="16" name="Text 13"/>
          <p:cNvSpPr/>
          <p:nvPr/>
        </p:nvSpPr>
        <p:spPr>
          <a:xfrm rot="16200000">
            <a:off x="5074920" y="3466673"/>
            <a:ext cx="2011680" cy="274320"/>
          </a:xfrm>
          <a:prstGeom prst="rect">
            <a:avLst/>
          </a:prstGeom>
          <a:noFill/>
          <a:ln/>
        </p:spPr>
        <p:txBody>
          <a:bodyPr wrap="square" lIns="0" tIns="0" rIns="0" bIns="0" rtlCol="0" anchor="ctr"/>
          <a:lstStyle/>
          <a:p>
            <a:pPr algn="ctr" indent="0" marL="0">
              <a:buNone/>
            </a:pPr>
            <a:r>
              <a:rPr lang="en-US" sz="1050" dirty="0">
                <a:solidFill>
                  <a:srgbClr val="EDE7DA"/>
                </a:solidFill>
                <a:latin typeface="Courier New" pitchFamily="34" charset="0"/>
                <a:ea typeface="Courier New" pitchFamily="34" charset="-122"/>
                <a:cs typeface="Courier New" pitchFamily="34" charset="-120"/>
              </a:rPr>
              <a:t>disclose()</a:t>
            </a:r>
            <a:endParaRPr lang="en-US" sz="1050" dirty="0"/>
          </a:p>
        </p:txBody>
      </p:sp>
      <p:sp>
        <p:nvSpPr>
          <p:cNvPr id="17" name="Text 14"/>
          <p:cNvSpPr/>
          <p:nvPr/>
        </p:nvSpPr>
        <p:spPr>
          <a:xfrm>
            <a:off x="685800" y="5286329"/>
            <a:ext cx="5074920" cy="548640"/>
          </a:xfrm>
          <a:prstGeom prst="rect">
            <a:avLst/>
          </a:prstGeom>
          <a:noFill/>
          <a:ln/>
        </p:spPr>
        <p:txBody>
          <a:bodyPr wrap="square" lIns="0" tIns="0" rIns="0" bIns="0" rtlCol="0" anchor="t"/>
          <a:lstStyle/>
          <a:p>
            <a:pPr indent="0" marL="0">
              <a:lnSpc>
                <a:spcPct val="125000"/>
              </a:lnSpc>
              <a:buNone/>
            </a:pPr>
            <a:r>
              <a:rPr lang="en-US" sz="1100" dirty="0">
                <a:solidFill>
                  <a:srgbClr val="6B6257"/>
                </a:solidFill>
                <a:latin typeface="Calibri" pitchFamily="34" charset="0"/>
                <a:ea typeface="Calibri" pitchFamily="34" charset="-122"/>
                <a:cs typeface="Calibri" pitchFamily="34" charset="-120"/>
              </a:rPr>
              <a:t>Compact rejects at compile time any ledger write derived from a witness value unless it is wrapped in disclose().</a:t>
            </a:r>
            <a:endParaRPr lang="en-US" sz="1100" dirty="0"/>
          </a:p>
        </p:txBody>
      </p:sp>
      <p:sp>
        <p:nvSpPr>
          <p:cNvPr id="18" name="Text 15"/>
          <p:cNvSpPr/>
          <p:nvPr/>
        </p:nvSpPr>
        <p:spPr>
          <a:xfrm>
            <a:off x="6400800" y="5286329"/>
            <a:ext cx="5074920" cy="548640"/>
          </a:xfrm>
          <a:prstGeom prst="rect">
            <a:avLst/>
          </a:prstGeom>
          <a:noFill/>
          <a:ln/>
        </p:spPr>
        <p:txBody>
          <a:bodyPr wrap="square" lIns="0" tIns="0" rIns="0" bIns="0" rtlCol="0" anchor="t"/>
          <a:lstStyle/>
          <a:p>
            <a:pPr indent="0" marL="0">
              <a:lnSpc>
                <a:spcPct val="125000"/>
              </a:lnSpc>
              <a:buNone/>
            </a:pPr>
            <a:r>
              <a:rPr lang="en-US" sz="1100" i="1" dirty="0">
                <a:solidFill>
                  <a:srgbClr val="6B6257"/>
                </a:solidFill>
                <a:latin typeface="Calibri" pitchFamily="34" charset="0"/>
                <a:ea typeface="Calibri" pitchFamily="34" charset="-122"/>
                <a:cs typeface="Calibri" pitchFamily="34" charset="-120"/>
              </a:rPr>
              <a:t>Compact rechaza en tiempo de compilación toda escritura al ledger derivada de un witness salvo que esté envuelta en disclose().</a:t>
            </a:r>
            <a:endParaRPr lang="en-US" sz="1100" dirty="0"/>
          </a:p>
        </p:txBody>
      </p:sp>
      <p:sp>
        <p:nvSpPr>
          <p:cNvPr id="19" name="Text 16"/>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a:t>
            </a:r>
            <a:endParaRPr lang="en-US" sz="800" dirty="0"/>
          </a:p>
        </p:txBody>
      </p:sp>
      <p:sp>
        <p:nvSpPr>
          <p:cNvPr id="20" name="Text 17"/>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10789920" cy="237744"/>
          </a:xfrm>
          <a:prstGeom prst="rect">
            <a:avLst/>
          </a:prstGeom>
          <a:noFill/>
          <a:ln/>
        </p:spPr>
        <p:txBody>
          <a:bodyPr wrap="square" lIns="0" tIns="0" rIns="0" bIns="0" rtlCol="0" anchor="t"/>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HOW A CASE ENTERS THE WALLET</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CÓMO ENTRA UN CASO A LA WALLET</a:t>
            </a:r>
            <a:endParaRPr lang="en-US" sz="900" dirty="0"/>
          </a:p>
        </p:txBody>
      </p:sp>
      <p:sp>
        <p:nvSpPr>
          <p:cNvPr id="4" name="Text 1"/>
          <p:cNvSpPr/>
          <p:nvPr/>
        </p:nvSpPr>
        <p:spPr>
          <a:xfrm>
            <a:off x="685800" y="786384"/>
            <a:ext cx="10789920" cy="1071677"/>
          </a:xfrm>
          <a:prstGeom prst="rect">
            <a:avLst/>
          </a:prstGeom>
          <a:noFill/>
          <a:ln/>
        </p:spPr>
        <p:txBody>
          <a:bodyPr wrap="square" lIns="0" tIns="0" rIns="0" bIns="0" rtlCol="0" anchor="t"/>
          <a:lstStyle/>
          <a:p>
            <a:pPr indent="0" marL="0">
              <a:lnSpc>
                <a:spcPct val="114000"/>
              </a:lnSpc>
              <a:spcAft>
                <a:spcPts val="1000"/>
              </a:spcAft>
              <a:buNone/>
            </a:pPr>
            <a:r>
              <a:rPr lang="en-US" sz="3000" dirty="0">
                <a:solidFill>
                  <a:srgbClr val="1C1A17"/>
                </a:solidFill>
                <a:latin typeface="Century Schoolbook" pitchFamily="34" charset="0"/>
                <a:ea typeface="Century Schoolbook" pitchFamily="34" charset="-122"/>
                <a:cs typeface="Century Schoolbook" pitchFamily="34" charset="-120"/>
              </a:rPr>
              <a:t>The analysis is sealed locally.</a:t>
            </a:r>
            <a:endParaRPr lang="en-US" sz="3000" dirty="0"/>
          </a:p>
          <a:p>
            <a:pPr indent="0" marL="0">
              <a:lnSpc>
                <a:spcPct val="114000"/>
              </a:lnSpc>
              <a:buNone/>
            </a:pPr>
            <a:r>
              <a:rPr lang="en-US" sz="1800" i="1" dirty="0">
                <a:solidFill>
                  <a:srgbClr val="3A3F4B"/>
                </a:solidFill>
                <a:latin typeface="Century Schoolbook" pitchFamily="34" charset="0"/>
                <a:ea typeface="Century Schoolbook" pitchFamily="34" charset="-122"/>
                <a:cs typeface="Century Schoolbook" pitchFamily="34" charset="-120"/>
              </a:rPr>
              <a:t>El análisis se sella localmente.</a:t>
            </a:r>
            <a:endParaRPr lang="en-US" sz="3000" dirty="0"/>
          </a:p>
        </p:txBody>
      </p:sp>
      <p:sp>
        <p:nvSpPr>
          <p:cNvPr id="5" name="Shape 2"/>
          <p:cNvSpPr/>
          <p:nvPr/>
        </p:nvSpPr>
        <p:spPr>
          <a:xfrm>
            <a:off x="685800" y="2406701"/>
            <a:ext cx="4114800" cy="2377440"/>
          </a:xfrm>
          <a:prstGeom prst="rect">
            <a:avLst/>
          </a:prstGeom>
          <a:solidFill>
            <a:srgbClr val="3A3F4B"/>
          </a:solidFill>
          <a:ln w="12700">
            <a:solidFill>
              <a:srgbClr val="3A3F4B"/>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41832" y="2644445"/>
            <a:ext cx="3602736"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PRIVATE · SEALED BUNDLE</a:t>
            </a:r>
            <a:endParaRPr lang="en-US" sz="850" dirty="0"/>
          </a:p>
        </p:txBody>
      </p:sp>
      <p:sp>
        <p:nvSpPr>
          <p:cNvPr id="7" name="Text 4"/>
          <p:cNvSpPr/>
          <p:nvPr/>
        </p:nvSpPr>
        <p:spPr>
          <a:xfrm>
            <a:off x="941832" y="2836469"/>
            <a:ext cx="3602736"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PRIVADO · BUNDLE SELLADO</a:t>
            </a:r>
            <a:endParaRPr lang="en-US" sz="850" dirty="0"/>
          </a:p>
        </p:txBody>
      </p:sp>
      <p:sp>
        <p:nvSpPr>
          <p:cNvPr id="8" name="Text 5"/>
          <p:cNvSpPr/>
          <p:nvPr/>
        </p:nvSpPr>
        <p:spPr>
          <a:xfrm>
            <a:off x="941832" y="3266237"/>
            <a:ext cx="3602736" cy="1371600"/>
          </a:xfrm>
          <a:prstGeom prst="rect">
            <a:avLst/>
          </a:prstGeom>
          <a:noFill/>
          <a:ln/>
        </p:spPr>
        <p:txBody>
          <a:bodyPr wrap="square" lIns="0" tIns="0" rIns="0" bIns="0" rtlCol="0" anchor="t"/>
          <a:lstStyle/>
          <a:p>
            <a:pPr indent="0" marL="0">
              <a:lnSpc>
                <a:spcPct val="142000"/>
              </a:lnSpc>
              <a:buNone/>
            </a:pPr>
            <a:r>
              <a:rPr lang="en-US" sz="1050" i="1" dirty="0">
                <a:solidFill>
                  <a:srgbClr val="737A8C"/>
                </a:solidFill>
                <a:latin typeface="Courier New" pitchFamily="34" charset="0"/>
                <a:ea typeface="Courier New" pitchFamily="34" charset="-122"/>
                <a:cs typeface="Courier New" pitchFamily="34" charset="-120"/>
              </a:rPr>
              <a:t>verdict</a:t>
            </a:r>
            <a:endParaRPr lang="en-US" sz="1050" dirty="0"/>
          </a:p>
          <a:p>
            <a:pPr indent="0" marL="0">
              <a:lnSpc>
                <a:spcPct val="142000"/>
              </a:lnSpc>
              <a:buNone/>
            </a:pPr>
            <a:r>
              <a:rPr lang="en-US" sz="1050" i="1" dirty="0">
                <a:solidFill>
                  <a:srgbClr val="737A8C"/>
                </a:solidFill>
                <a:latin typeface="Courier New" pitchFamily="34" charset="0"/>
                <a:ea typeface="Courier New" pitchFamily="34" charset="-122"/>
                <a:cs typeface="Courier New" pitchFamily="34" charset="-120"/>
              </a:rPr>
              <a:t>score</a:t>
            </a:r>
            <a:endParaRPr lang="en-US" sz="1050" dirty="0"/>
          </a:p>
          <a:p>
            <a:pPr indent="0" marL="0">
              <a:lnSpc>
                <a:spcPct val="142000"/>
              </a:lnSpc>
              <a:buNone/>
            </a:pPr>
            <a:r>
              <a:rPr lang="en-US" sz="1050" i="1" dirty="0">
                <a:solidFill>
                  <a:srgbClr val="737A8C"/>
                </a:solidFill>
                <a:latin typeface="Courier New" pitchFamily="34" charset="0"/>
                <a:ea typeface="Courier New" pitchFamily="34" charset="-122"/>
                <a:cs typeface="Courier New" pitchFamily="34" charset="-120"/>
              </a:rPr>
              <a:t>detectors_fired</a:t>
            </a:r>
            <a:endParaRPr lang="en-US" sz="1050" dirty="0"/>
          </a:p>
          <a:p>
            <a:pPr indent="0" marL="0">
              <a:lnSpc>
                <a:spcPct val="142000"/>
              </a:lnSpc>
              <a:buNone/>
            </a:pPr>
            <a:r>
              <a:rPr lang="en-US" sz="1050" i="1" dirty="0">
                <a:solidFill>
                  <a:srgbClr val="737A8C"/>
                </a:solidFill>
                <a:latin typeface="Courier New" pitchFamily="34" charset="0"/>
                <a:ea typeface="Courier New" pitchFamily="34" charset="-122"/>
                <a:cs typeface="Courier New" pitchFamily="34" charset="-120"/>
              </a:rPr>
              <a:t>custody_chain</a:t>
            </a:r>
            <a:endParaRPr lang="en-US" sz="1050" dirty="0"/>
          </a:p>
          <a:p>
            <a:pPr indent="0" marL="0">
              <a:lnSpc>
                <a:spcPct val="142000"/>
              </a:lnSpc>
              <a:buNone/>
            </a:pPr>
            <a:r>
              <a:rPr lang="en-US" sz="1050" i="1" dirty="0">
                <a:solidFill>
                  <a:srgbClr val="737A8C"/>
                </a:solidFill>
                <a:latin typeface="Courier New" pitchFamily="34" charset="0"/>
                <a:ea typeface="Courier New" pitchFamily="34" charset="-122"/>
                <a:cs typeface="Courier New" pitchFamily="34" charset="-120"/>
              </a:rPr>
              <a:t>devil_advocate</a:t>
            </a:r>
            <a:endParaRPr lang="en-US" sz="1050" dirty="0"/>
          </a:p>
        </p:txBody>
      </p:sp>
      <p:sp>
        <p:nvSpPr>
          <p:cNvPr id="9" name="Shape 6"/>
          <p:cNvSpPr/>
          <p:nvPr/>
        </p:nvSpPr>
        <p:spPr>
          <a:xfrm>
            <a:off x="7360920" y="2406701"/>
            <a:ext cx="4114800" cy="23774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10" name="Text 7"/>
          <p:cNvSpPr/>
          <p:nvPr/>
        </p:nvSpPr>
        <p:spPr>
          <a:xfrm>
            <a:off x="7616952" y="2644445"/>
            <a:ext cx="3602736"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PUBLIC · ON-CHAIN</a:t>
            </a:r>
            <a:endParaRPr lang="en-US" sz="850" dirty="0"/>
          </a:p>
        </p:txBody>
      </p:sp>
      <p:sp>
        <p:nvSpPr>
          <p:cNvPr id="11" name="Text 8"/>
          <p:cNvSpPr/>
          <p:nvPr/>
        </p:nvSpPr>
        <p:spPr>
          <a:xfrm>
            <a:off x="7616952" y="2836469"/>
            <a:ext cx="3602736"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PÚBLICO · ON-CHAIN</a:t>
            </a:r>
            <a:endParaRPr lang="en-US" sz="850" dirty="0"/>
          </a:p>
        </p:txBody>
      </p:sp>
      <p:sp>
        <p:nvSpPr>
          <p:cNvPr id="12" name="Text 9"/>
          <p:cNvSpPr/>
          <p:nvPr/>
        </p:nvSpPr>
        <p:spPr>
          <a:xfrm>
            <a:off x="7616952" y="3449117"/>
            <a:ext cx="3602736" cy="457200"/>
          </a:xfrm>
          <a:prstGeom prst="rect">
            <a:avLst/>
          </a:prstGeom>
          <a:noFill/>
          <a:ln/>
        </p:spPr>
        <p:txBody>
          <a:bodyPr wrap="square" lIns="0" tIns="0" rIns="0" bIns="0" rtlCol="0" anchor="t"/>
          <a:lstStyle/>
          <a:p>
            <a:pPr indent="0" marL="0">
              <a:buNone/>
            </a:pPr>
            <a:r>
              <a:rPr lang="en-US" sz="2200" dirty="0">
                <a:solidFill>
                  <a:srgbClr val="C9C4B8"/>
                </a:solidFill>
                <a:latin typeface="Courier New" pitchFamily="34" charset="0"/>
                <a:ea typeface="Courier New" pitchFamily="34" charset="-122"/>
                <a:cs typeface="Courier New" pitchFamily="34" charset="-120"/>
              </a:rPr>
              <a:t>—</a:t>
            </a:r>
            <a:endParaRPr lang="en-US" sz="2200" dirty="0"/>
          </a:p>
        </p:txBody>
      </p:sp>
      <p:sp>
        <p:nvSpPr>
          <p:cNvPr id="13" name="Text 10"/>
          <p:cNvSpPr/>
          <p:nvPr/>
        </p:nvSpPr>
        <p:spPr>
          <a:xfrm>
            <a:off x="7616952" y="3924605"/>
            <a:ext cx="3602736" cy="256032"/>
          </a:xfrm>
          <a:prstGeom prst="rect">
            <a:avLst/>
          </a:prstGeom>
          <a:noFill/>
          <a:ln/>
        </p:spPr>
        <p:txBody>
          <a:bodyPr wrap="square" lIns="0" tIns="0" rIns="0" bIns="0" rtlCol="0" anchor="t"/>
          <a:lstStyle/>
          <a:p>
            <a:pPr indent="0" marL="0">
              <a:buNone/>
            </a:pPr>
            <a:r>
              <a:rPr lang="en-US" sz="950" dirty="0">
                <a:solidFill>
                  <a:srgbClr val="6B6257"/>
                </a:solidFill>
                <a:latin typeface="Courier New" pitchFamily="34" charset="0"/>
                <a:ea typeface="Courier New" pitchFamily="34" charset="-122"/>
                <a:cs typeface="Courier New" pitchFamily="34" charset="-120"/>
              </a:rPr>
              <a:t>nothing published yet</a:t>
            </a:r>
            <a:endParaRPr lang="en-US" sz="950" dirty="0"/>
          </a:p>
        </p:txBody>
      </p:sp>
      <p:sp>
        <p:nvSpPr>
          <p:cNvPr id="14" name="Text 11"/>
          <p:cNvSpPr/>
          <p:nvPr/>
        </p:nvSpPr>
        <p:spPr>
          <a:xfrm>
            <a:off x="7616952" y="4162349"/>
            <a:ext cx="3602736" cy="256032"/>
          </a:xfrm>
          <a:prstGeom prst="rect">
            <a:avLst/>
          </a:prstGeom>
          <a:noFill/>
          <a:ln/>
        </p:spPr>
        <p:txBody>
          <a:bodyPr wrap="square" lIns="0" tIns="0" rIns="0" bIns="0" rtlCol="0" anchor="t"/>
          <a:lstStyle/>
          <a:p>
            <a:pPr indent="0" marL="0">
              <a:buNone/>
            </a:pPr>
            <a:r>
              <a:rPr lang="en-US" sz="950" dirty="0">
                <a:solidFill>
                  <a:srgbClr val="6B6257"/>
                </a:solidFill>
                <a:latin typeface="Courier New" pitchFamily="34" charset="0"/>
                <a:ea typeface="Courier New" pitchFamily="34" charset="-122"/>
                <a:cs typeface="Courier New" pitchFamily="34" charset="-120"/>
              </a:rPr>
              <a:t>nada publicado aún</a:t>
            </a:r>
            <a:endParaRPr lang="en-US" sz="950" dirty="0"/>
          </a:p>
        </p:txBody>
      </p:sp>
      <p:sp>
        <p:nvSpPr>
          <p:cNvPr id="15" name="Shape 12"/>
          <p:cNvSpPr/>
          <p:nvPr/>
        </p:nvSpPr>
        <p:spPr>
          <a:xfrm>
            <a:off x="6071616" y="2681021"/>
            <a:ext cx="18288" cy="1828800"/>
          </a:xfrm>
          <a:prstGeom prst="rect">
            <a:avLst/>
          </a:prstGeom>
          <a:solidFill>
            <a:srgbClr val="C9C4B8"/>
          </a:solidFill>
          <a:ln w="12700">
            <a:solidFill>
              <a:srgbClr val="C9C4B8"/>
            </a:solidFill>
            <a:prstDash val="solid"/>
          </a:ln>
        </p:spPr>
        <p:txBody>
          <a:bodyPr/>
          <a:p/>
        </p:txBody>
      </p:sp>
      <p:sp>
        <p:nvSpPr>
          <p:cNvPr id="16" name="Text 13"/>
          <p:cNvSpPr/>
          <p:nvPr/>
        </p:nvSpPr>
        <p:spPr>
          <a:xfrm>
            <a:off x="685800" y="5149901"/>
            <a:ext cx="5074920" cy="548640"/>
          </a:xfrm>
          <a:prstGeom prst="rect">
            <a:avLst/>
          </a:prstGeom>
          <a:noFill/>
          <a:ln/>
        </p:spPr>
        <p:txBody>
          <a:bodyPr wrap="square" lIns="0" tIns="0" rIns="0" bIns="0" rtlCol="0" anchor="t"/>
          <a:lstStyle/>
          <a:p>
            <a:pPr indent="0" marL="0">
              <a:lnSpc>
                <a:spcPct val="125000"/>
              </a:lnSpc>
              <a:buNone/>
            </a:pPr>
            <a:r>
              <a:rPr lang="en-US" sz="1100" dirty="0">
                <a:solidFill>
                  <a:srgbClr val="6B6257"/>
                </a:solidFill>
                <a:latin typeface="Calibri" pitchFamily="34" charset="0"/>
                <a:ea typeface="Calibri" pitchFamily="34" charset="-122"/>
                <a:cs typeface="Calibri" pitchFamily="34" charset="-120"/>
              </a:rPr>
              <a:t>A silhouette: real, complete, and unreadable from outside.</a:t>
            </a:r>
            <a:endParaRPr lang="en-US" sz="1100" dirty="0"/>
          </a:p>
        </p:txBody>
      </p:sp>
      <p:sp>
        <p:nvSpPr>
          <p:cNvPr id="17" name="Text 14"/>
          <p:cNvSpPr/>
          <p:nvPr/>
        </p:nvSpPr>
        <p:spPr>
          <a:xfrm>
            <a:off x="6400800" y="5149901"/>
            <a:ext cx="5074920" cy="548640"/>
          </a:xfrm>
          <a:prstGeom prst="rect">
            <a:avLst/>
          </a:prstGeom>
          <a:noFill/>
          <a:ln/>
        </p:spPr>
        <p:txBody>
          <a:bodyPr wrap="square" lIns="0" tIns="0" rIns="0" bIns="0" rtlCol="0" anchor="t"/>
          <a:lstStyle/>
          <a:p>
            <a:pPr indent="0" marL="0">
              <a:lnSpc>
                <a:spcPct val="125000"/>
              </a:lnSpc>
              <a:buNone/>
            </a:pPr>
            <a:r>
              <a:rPr lang="en-US" sz="1100" i="1" dirty="0">
                <a:solidFill>
                  <a:srgbClr val="6B6257"/>
                </a:solidFill>
                <a:latin typeface="Calibri" pitchFamily="34" charset="0"/>
                <a:ea typeface="Calibri" pitchFamily="34" charset="-122"/>
                <a:cs typeface="Calibri" pitchFamily="34" charset="-120"/>
              </a:rPr>
              <a:t>Una silueta: real, completa, e ilegible desde afuera.</a:t>
            </a:r>
            <a:endParaRPr lang="en-US" sz="1100" dirty="0"/>
          </a:p>
        </p:txBody>
      </p:sp>
      <p:sp>
        <p:nvSpPr>
          <p:cNvPr id="18" name="Text 15"/>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a:t>
            </a:r>
            <a:endParaRPr lang="en-US" sz="800" dirty="0"/>
          </a:p>
        </p:txBody>
      </p:sp>
      <p:sp>
        <p:nvSpPr>
          <p:cNvPr id="19" name="Text 16"/>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10789920" cy="237744"/>
          </a:xfrm>
          <a:prstGeom prst="rect">
            <a:avLst/>
          </a:prstGeom>
          <a:noFill/>
          <a:ln/>
        </p:spPr>
        <p:txBody>
          <a:bodyPr wrap="square" lIns="0" tIns="0" rIns="0" bIns="0" rtlCol="0" anchor="t"/>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HOW A CASE ENTERS THE WALLET</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CÓMO ENTRA UN CASO A LA WALLET</a:t>
            </a:r>
            <a:endParaRPr lang="en-US" sz="900" dirty="0"/>
          </a:p>
        </p:txBody>
      </p:sp>
      <p:sp>
        <p:nvSpPr>
          <p:cNvPr id="4" name="Text 1"/>
          <p:cNvSpPr/>
          <p:nvPr/>
        </p:nvSpPr>
        <p:spPr>
          <a:xfrm>
            <a:off x="685800" y="786384"/>
            <a:ext cx="10789920" cy="1071677"/>
          </a:xfrm>
          <a:prstGeom prst="rect">
            <a:avLst/>
          </a:prstGeom>
          <a:noFill/>
          <a:ln/>
        </p:spPr>
        <p:txBody>
          <a:bodyPr wrap="square" lIns="0" tIns="0" rIns="0" bIns="0" rtlCol="0" anchor="t"/>
          <a:lstStyle/>
          <a:p>
            <a:pPr indent="0" marL="0">
              <a:lnSpc>
                <a:spcPct val="114000"/>
              </a:lnSpc>
              <a:spcAft>
                <a:spcPts val="1000"/>
              </a:spcAft>
              <a:buNone/>
            </a:pPr>
            <a:r>
              <a:rPr lang="en-US" sz="3000" dirty="0">
                <a:solidFill>
                  <a:srgbClr val="1C1A17"/>
                </a:solidFill>
                <a:latin typeface="Century Schoolbook" pitchFamily="34" charset="0"/>
                <a:ea typeface="Century Schoolbook" pitchFamily="34" charset="-122"/>
                <a:cs typeface="Century Schoolbook" pitchFamily="34" charset="-120"/>
              </a:rPr>
              <a:t>One value crosses. Nothing else.</a:t>
            </a:r>
            <a:endParaRPr lang="en-US" sz="3000" dirty="0"/>
          </a:p>
          <a:p>
            <a:pPr indent="0" marL="0">
              <a:lnSpc>
                <a:spcPct val="114000"/>
              </a:lnSpc>
              <a:buNone/>
            </a:pPr>
            <a:r>
              <a:rPr lang="en-US" sz="1800" i="1" dirty="0">
                <a:solidFill>
                  <a:srgbClr val="3A3F4B"/>
                </a:solidFill>
                <a:latin typeface="Century Schoolbook" pitchFamily="34" charset="0"/>
                <a:ea typeface="Century Schoolbook" pitchFamily="34" charset="-122"/>
                <a:cs typeface="Century Schoolbook" pitchFamily="34" charset="-120"/>
              </a:rPr>
              <a:t>Cruza un solo valor. Nada más.</a:t>
            </a:r>
            <a:endParaRPr lang="en-US" sz="3000" dirty="0"/>
          </a:p>
        </p:txBody>
      </p:sp>
      <p:sp>
        <p:nvSpPr>
          <p:cNvPr id="5" name="Shape 2"/>
          <p:cNvSpPr/>
          <p:nvPr/>
        </p:nvSpPr>
        <p:spPr>
          <a:xfrm>
            <a:off x="685800" y="2406701"/>
            <a:ext cx="4114800" cy="2377440"/>
          </a:xfrm>
          <a:prstGeom prst="rect">
            <a:avLst/>
          </a:prstGeom>
          <a:solidFill>
            <a:srgbClr val="3A3F4B"/>
          </a:solidFill>
          <a:ln w="12700">
            <a:solidFill>
              <a:srgbClr val="3A3F4B"/>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41832" y="2644445"/>
            <a:ext cx="3602736"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PRIVATE · SEALED BUNDLE</a:t>
            </a:r>
            <a:endParaRPr lang="en-US" sz="850" dirty="0"/>
          </a:p>
        </p:txBody>
      </p:sp>
      <p:sp>
        <p:nvSpPr>
          <p:cNvPr id="7" name="Text 4"/>
          <p:cNvSpPr/>
          <p:nvPr/>
        </p:nvSpPr>
        <p:spPr>
          <a:xfrm>
            <a:off x="941832" y="2836469"/>
            <a:ext cx="3602736"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PRIVADO · BUNDLE SELLADO</a:t>
            </a:r>
            <a:endParaRPr lang="en-US" sz="850" dirty="0"/>
          </a:p>
        </p:txBody>
      </p:sp>
      <p:sp>
        <p:nvSpPr>
          <p:cNvPr id="8" name="Text 5"/>
          <p:cNvSpPr/>
          <p:nvPr/>
        </p:nvSpPr>
        <p:spPr>
          <a:xfrm>
            <a:off x="941832" y="3266237"/>
            <a:ext cx="3602736" cy="1371600"/>
          </a:xfrm>
          <a:prstGeom prst="rect">
            <a:avLst/>
          </a:prstGeom>
          <a:noFill/>
          <a:ln/>
        </p:spPr>
        <p:txBody>
          <a:bodyPr wrap="square" lIns="0" tIns="0" rIns="0" bIns="0" rtlCol="0" anchor="t"/>
          <a:lstStyle/>
          <a:p>
            <a:pPr indent="0" marL="0">
              <a:lnSpc>
                <a:spcPct val="142000"/>
              </a:lnSpc>
              <a:buNone/>
            </a:pPr>
            <a:r>
              <a:rPr lang="en-US" sz="1050" i="1" dirty="0">
                <a:solidFill>
                  <a:srgbClr val="737A8C"/>
                </a:solidFill>
                <a:latin typeface="Courier New" pitchFamily="34" charset="0"/>
                <a:ea typeface="Courier New" pitchFamily="34" charset="-122"/>
                <a:cs typeface="Courier New" pitchFamily="34" charset="-120"/>
              </a:rPr>
              <a:t>verdict</a:t>
            </a:r>
            <a:endParaRPr lang="en-US" sz="1050" dirty="0"/>
          </a:p>
          <a:p>
            <a:pPr indent="0" marL="0">
              <a:lnSpc>
                <a:spcPct val="142000"/>
              </a:lnSpc>
              <a:buNone/>
            </a:pPr>
            <a:r>
              <a:rPr lang="en-US" sz="1050" i="1" dirty="0">
                <a:solidFill>
                  <a:srgbClr val="737A8C"/>
                </a:solidFill>
                <a:latin typeface="Courier New" pitchFamily="34" charset="0"/>
                <a:ea typeface="Courier New" pitchFamily="34" charset="-122"/>
                <a:cs typeface="Courier New" pitchFamily="34" charset="-120"/>
              </a:rPr>
              <a:t>score</a:t>
            </a:r>
            <a:endParaRPr lang="en-US" sz="1050" dirty="0"/>
          </a:p>
          <a:p>
            <a:pPr indent="0" marL="0">
              <a:lnSpc>
                <a:spcPct val="142000"/>
              </a:lnSpc>
              <a:buNone/>
            </a:pPr>
            <a:r>
              <a:rPr lang="en-US" sz="1050" i="1" dirty="0">
                <a:solidFill>
                  <a:srgbClr val="737A8C"/>
                </a:solidFill>
                <a:latin typeface="Courier New" pitchFamily="34" charset="0"/>
                <a:ea typeface="Courier New" pitchFamily="34" charset="-122"/>
                <a:cs typeface="Courier New" pitchFamily="34" charset="-120"/>
              </a:rPr>
              <a:t>detectors_fired</a:t>
            </a:r>
            <a:endParaRPr lang="en-US" sz="1050" dirty="0"/>
          </a:p>
          <a:p>
            <a:pPr indent="0" marL="0">
              <a:lnSpc>
                <a:spcPct val="142000"/>
              </a:lnSpc>
              <a:buNone/>
            </a:pPr>
            <a:r>
              <a:rPr lang="en-US" sz="1050" i="1" dirty="0">
                <a:solidFill>
                  <a:srgbClr val="737A8C"/>
                </a:solidFill>
                <a:latin typeface="Courier New" pitchFamily="34" charset="0"/>
                <a:ea typeface="Courier New" pitchFamily="34" charset="-122"/>
                <a:cs typeface="Courier New" pitchFamily="34" charset="-120"/>
              </a:rPr>
              <a:t>custody_chain</a:t>
            </a:r>
            <a:endParaRPr lang="en-US" sz="1050" dirty="0"/>
          </a:p>
          <a:p>
            <a:pPr indent="0" marL="0">
              <a:lnSpc>
                <a:spcPct val="142000"/>
              </a:lnSpc>
              <a:buNone/>
            </a:pPr>
            <a:r>
              <a:rPr lang="en-US" sz="1050" i="1" dirty="0">
                <a:solidFill>
                  <a:srgbClr val="737A8C"/>
                </a:solidFill>
                <a:latin typeface="Courier New" pitchFamily="34" charset="0"/>
                <a:ea typeface="Courier New" pitchFamily="34" charset="-122"/>
                <a:cs typeface="Courier New" pitchFamily="34" charset="-120"/>
              </a:rPr>
              <a:t>devil_advocate</a:t>
            </a:r>
            <a:endParaRPr lang="en-US" sz="1050" dirty="0"/>
          </a:p>
        </p:txBody>
      </p:sp>
      <p:sp>
        <p:nvSpPr>
          <p:cNvPr id="9" name="Shape 6"/>
          <p:cNvSpPr/>
          <p:nvPr/>
        </p:nvSpPr>
        <p:spPr>
          <a:xfrm>
            <a:off x="7360920" y="2406701"/>
            <a:ext cx="4114800" cy="2377440"/>
          </a:xfrm>
          <a:prstGeom prst="rect">
            <a:avLst/>
          </a:prstGeom>
          <a:solidFill>
            <a:srgbClr val="E4DDCC"/>
          </a:solidFill>
          <a:ln w="25400">
            <a:solidFill>
              <a:srgbClr val="8B3A2F"/>
            </a:solidFill>
            <a:prstDash val="solid"/>
          </a:ln>
          <a:effectLst>
            <a:outerShdw sx="100000" sy="100000" kx="0" ky="0" algn="bl" rotWithShape="0" blurRad="127000" dist="25400" dir="5400000">
              <a:srgbClr val="6B6257">
                <a:alpha val="35000"/>
              </a:srgbClr>
            </a:outerShdw>
          </a:effectLst>
        </p:spPr>
        <p:txBody>
          <a:bodyPr/>
          <a:p/>
        </p:txBody>
      </p:sp>
      <p:sp>
        <p:nvSpPr>
          <p:cNvPr id="10" name="Text 7"/>
          <p:cNvSpPr/>
          <p:nvPr/>
        </p:nvSpPr>
        <p:spPr>
          <a:xfrm>
            <a:off x="7616952" y="2644445"/>
            <a:ext cx="3602736"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PUBLIC · ON-CHAIN</a:t>
            </a:r>
            <a:endParaRPr lang="en-US" sz="850" dirty="0"/>
          </a:p>
        </p:txBody>
      </p:sp>
      <p:sp>
        <p:nvSpPr>
          <p:cNvPr id="11" name="Text 8"/>
          <p:cNvSpPr/>
          <p:nvPr/>
        </p:nvSpPr>
        <p:spPr>
          <a:xfrm>
            <a:off x="7616952" y="2836469"/>
            <a:ext cx="3602736"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PÚBLICO · ON-CHAIN</a:t>
            </a:r>
            <a:endParaRPr lang="en-US" sz="850" dirty="0"/>
          </a:p>
        </p:txBody>
      </p:sp>
      <p:sp>
        <p:nvSpPr>
          <p:cNvPr id="12" name="Text 9"/>
          <p:cNvSpPr/>
          <p:nvPr/>
        </p:nvSpPr>
        <p:spPr>
          <a:xfrm>
            <a:off x="7616952" y="3412541"/>
            <a:ext cx="3602736" cy="457200"/>
          </a:xfrm>
          <a:prstGeom prst="rect">
            <a:avLst/>
          </a:prstGeom>
          <a:noFill/>
          <a:ln/>
        </p:spPr>
        <p:txBody>
          <a:bodyPr wrap="square" lIns="0" tIns="0" rIns="0" bIns="0" rtlCol="0" anchor="t"/>
          <a:lstStyle/>
          <a:p>
            <a:pPr indent="0" marL="0">
              <a:buNone/>
            </a:pPr>
            <a:r>
              <a:rPr lang="en-US" sz="2100" dirty="0">
                <a:solidFill>
                  <a:srgbClr val="1C1A17"/>
                </a:solidFill>
                <a:latin typeface="Courier New" pitchFamily="34" charset="0"/>
                <a:ea typeface="Courier New" pitchFamily="34" charset="-122"/>
                <a:cs typeface="Courier New" pitchFamily="34" charset="-120"/>
              </a:rPr>
              <a:t>92af0c…e281c</a:t>
            </a:r>
            <a:endParaRPr lang="en-US" sz="2100" dirty="0"/>
          </a:p>
        </p:txBody>
      </p:sp>
      <p:sp>
        <p:nvSpPr>
          <p:cNvPr id="13" name="Text 10"/>
          <p:cNvSpPr/>
          <p:nvPr/>
        </p:nvSpPr>
        <p:spPr>
          <a:xfrm>
            <a:off x="7616952" y="3942893"/>
            <a:ext cx="3602736" cy="256032"/>
          </a:xfrm>
          <a:prstGeom prst="rect">
            <a:avLst/>
          </a:prstGeom>
          <a:noFill/>
          <a:ln/>
        </p:spPr>
        <p:txBody>
          <a:bodyPr wrap="square" lIns="0" tIns="0" rIns="0" bIns="0" rtlCol="0" anchor="t"/>
          <a:lstStyle/>
          <a:p>
            <a:pPr indent="0" marL="0">
              <a:buNone/>
            </a:pPr>
            <a:r>
              <a:rPr lang="en-US" sz="950" spc="120" kern="0" dirty="0">
                <a:solidFill>
                  <a:srgbClr val="8B3A2F"/>
                </a:solidFill>
                <a:latin typeface="Courier New" pitchFamily="34" charset="0"/>
                <a:ea typeface="Courier New" pitchFamily="34" charset="-122"/>
                <a:cs typeface="Courier New" pitchFamily="34" charset="-120"/>
              </a:rPr>
              <a:t>commitment</a:t>
            </a:r>
            <a:endParaRPr lang="en-US" sz="950" dirty="0"/>
          </a:p>
        </p:txBody>
      </p:sp>
      <p:sp>
        <p:nvSpPr>
          <p:cNvPr id="14" name="Shape 11"/>
          <p:cNvSpPr/>
          <p:nvPr/>
        </p:nvSpPr>
        <p:spPr>
          <a:xfrm>
            <a:off x="5074920" y="3595421"/>
            <a:ext cx="2011680" cy="0"/>
          </a:xfrm>
          <a:prstGeom prst="line">
            <a:avLst/>
          </a:prstGeom>
          <a:noFill/>
          <a:ln w="25400">
            <a:solidFill>
              <a:srgbClr val="8B3A2F"/>
            </a:solidFill>
            <a:prstDash val="solid"/>
            <a:tailEnd type="triangle"/>
          </a:ln>
        </p:spPr>
        <p:txBody>
          <a:bodyPr/>
          <a:p/>
        </p:txBody>
      </p:sp>
      <p:sp>
        <p:nvSpPr>
          <p:cNvPr id="15" name="Text 12"/>
          <p:cNvSpPr/>
          <p:nvPr/>
        </p:nvSpPr>
        <p:spPr>
          <a:xfrm>
            <a:off x="685800" y="5113325"/>
            <a:ext cx="10789920" cy="310896"/>
          </a:xfrm>
          <a:prstGeom prst="rect">
            <a:avLst/>
          </a:prstGeom>
          <a:noFill/>
          <a:ln/>
        </p:spPr>
        <p:txBody>
          <a:bodyPr wrap="square" lIns="0" tIns="0" rIns="0" bIns="0" rtlCol="0" anchor="t"/>
          <a:lstStyle/>
          <a:p>
            <a:pPr algn="ctr" indent="0" marL="0">
              <a:buNone/>
            </a:pPr>
            <a:r>
              <a:rPr lang="en-US" sz="1300" dirty="0">
                <a:solidFill>
                  <a:srgbClr val="1C1A17"/>
                </a:solidFill>
                <a:latin typeface="Courier New" pitchFamily="34" charset="0"/>
                <a:ea typeface="Courier New" pitchFamily="34" charset="-122"/>
                <a:cs typeface="Courier New" pitchFamily="34" charset="-120"/>
              </a:rPr>
              <a:t>persistentHash(domain, bundle_fingerprint, custody_tip, verdict, corroboration_count, salt)</a:t>
            </a:r>
            <a:endParaRPr lang="en-US" sz="1300" dirty="0"/>
          </a:p>
        </p:txBody>
      </p:sp>
      <p:sp>
        <p:nvSpPr>
          <p:cNvPr id="16" name="Text 13"/>
          <p:cNvSpPr/>
          <p:nvPr/>
        </p:nvSpPr>
        <p:spPr>
          <a:xfrm>
            <a:off x="685800" y="5625389"/>
            <a:ext cx="5074920" cy="548640"/>
          </a:xfrm>
          <a:prstGeom prst="rect">
            <a:avLst/>
          </a:prstGeom>
          <a:noFill/>
          <a:ln/>
        </p:spPr>
        <p:txBody>
          <a:bodyPr wrap="square" lIns="0" tIns="0" rIns="0" bIns="0" rtlCol="0" anchor="t"/>
          <a:lstStyle/>
          <a:p>
            <a:pPr indent="0" marL="0">
              <a:lnSpc>
                <a:spcPct val="125000"/>
              </a:lnSpc>
              <a:buNone/>
            </a:pPr>
            <a:r>
              <a:rPr lang="en-US" sz="1100" dirty="0">
                <a:solidFill>
                  <a:srgbClr val="6B6257"/>
                </a:solidFill>
                <a:latin typeface="Calibri" pitchFamily="34" charset="0"/>
                <a:ea typeface="Calibri" pitchFamily="34" charset="-122"/>
                <a:cs typeface="Calibri" pitchFamily="34" charset="-120"/>
              </a:rPr>
              <a:t>That value is the asset. It is what the wallet holds, and what a judge later verifies.</a:t>
            </a:r>
            <a:endParaRPr lang="en-US" sz="1100" dirty="0"/>
          </a:p>
        </p:txBody>
      </p:sp>
      <p:sp>
        <p:nvSpPr>
          <p:cNvPr id="17" name="Text 14"/>
          <p:cNvSpPr/>
          <p:nvPr/>
        </p:nvSpPr>
        <p:spPr>
          <a:xfrm>
            <a:off x="6400800" y="5625389"/>
            <a:ext cx="5074920" cy="548640"/>
          </a:xfrm>
          <a:prstGeom prst="rect">
            <a:avLst/>
          </a:prstGeom>
          <a:noFill/>
          <a:ln/>
        </p:spPr>
        <p:txBody>
          <a:bodyPr wrap="square" lIns="0" tIns="0" rIns="0" bIns="0" rtlCol="0" anchor="t"/>
          <a:lstStyle/>
          <a:p>
            <a:pPr indent="0" marL="0">
              <a:lnSpc>
                <a:spcPct val="125000"/>
              </a:lnSpc>
              <a:buNone/>
            </a:pPr>
            <a:r>
              <a:rPr lang="en-US" sz="1100" i="1" dirty="0">
                <a:solidFill>
                  <a:srgbClr val="6B6257"/>
                </a:solidFill>
                <a:latin typeface="Calibri" pitchFamily="34" charset="0"/>
                <a:ea typeface="Calibri" pitchFamily="34" charset="-122"/>
                <a:cs typeface="Calibri" pitchFamily="34" charset="-120"/>
              </a:rPr>
              <a:t>Ese valor es el activo. Es lo que la wallet guarda, y lo que un juez después verifica.</a:t>
            </a:r>
            <a:endParaRPr lang="en-US" sz="1100" dirty="0"/>
          </a:p>
        </p:txBody>
      </p:sp>
      <p:sp>
        <p:nvSpPr>
          <p:cNvPr id="18" name="Text 15"/>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a:t>
            </a:r>
            <a:endParaRPr lang="en-US" sz="800" dirty="0"/>
          </a:p>
        </p:txBody>
      </p:sp>
      <p:sp>
        <p:nvSpPr>
          <p:cNvPr id="19" name="Text 16"/>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bg-veil.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822960"/>
            <a:ext cx="10789920" cy="237744"/>
          </a:xfrm>
          <a:prstGeom prst="rect">
            <a:avLst/>
          </a:prstGeom>
          <a:noFill/>
          <a:ln/>
        </p:spPr>
        <p:txBody>
          <a:bodyPr wrap="square" lIns="0" tIns="0" rIns="0" bIns="0" rtlCol="0" anchor="t"/>
          <a:lstStyle/>
          <a:p>
            <a:pPr indent="0" marL="0">
              <a:buNone/>
            </a:pPr>
            <a:r>
              <a:rPr lang="en-US" sz="900" spc="140" kern="0" dirty="0">
                <a:solidFill>
                  <a:srgbClr val="C9C4B8"/>
                </a:solidFill>
                <a:latin typeface="Courier New" pitchFamily="34" charset="0"/>
                <a:ea typeface="Courier New" pitchFamily="34" charset="-122"/>
                <a:cs typeface="Courier New" pitchFamily="34" charset="-120"/>
              </a:rPr>
              <a:t>WHY THE NUMBERS MEAN ANYTHING</a:t>
            </a:r>
            <a:pPr indent="0" marL="0">
              <a:buNone/>
            </a:pPr>
            <a:r>
              <a:rPr lang="en-US" sz="900" spc="140" kern="0" dirty="0">
                <a:solidFill>
                  <a:srgbClr val="C9C4B8"/>
                </a:solidFill>
                <a:latin typeface="Courier New" pitchFamily="34" charset="0"/>
                <a:ea typeface="Courier New" pitchFamily="34" charset="-122"/>
                <a:cs typeface="Courier New" pitchFamily="34" charset="-120"/>
              </a:rPr>
              <a:t>   ·   </a:t>
            </a:r>
            <a:pPr indent="0" marL="0">
              <a:buNone/>
            </a:pPr>
            <a:r>
              <a:rPr lang="en-US" sz="900" spc="140" kern="0" dirty="0">
                <a:solidFill>
                  <a:srgbClr val="C9C4B8"/>
                </a:solidFill>
                <a:latin typeface="Courier New" pitchFamily="34" charset="0"/>
                <a:ea typeface="Courier New" pitchFamily="34" charset="-122"/>
                <a:cs typeface="Courier New" pitchFamily="34" charset="-120"/>
              </a:rPr>
              <a:t>POR QUÉ LOS NÚMEROS SIGNIFICAN ALGO</a:t>
            </a:r>
            <a:endParaRPr lang="en-US" sz="900" dirty="0"/>
          </a:p>
        </p:txBody>
      </p:sp>
      <p:sp>
        <p:nvSpPr>
          <p:cNvPr id="4" name="Text 1"/>
          <p:cNvSpPr/>
          <p:nvPr/>
        </p:nvSpPr>
        <p:spPr>
          <a:xfrm>
            <a:off x="685800" y="1481328"/>
            <a:ext cx="3840480" cy="310896"/>
          </a:xfrm>
          <a:prstGeom prst="rect">
            <a:avLst/>
          </a:prstGeom>
          <a:noFill/>
          <a:ln/>
        </p:spPr>
        <p:txBody>
          <a:bodyPr wrap="square" lIns="0" tIns="0" rIns="0" bIns="0" rtlCol="0" anchor="t"/>
          <a:lstStyle/>
          <a:p>
            <a:pPr indent="0" marL="0">
              <a:buNone/>
            </a:pPr>
            <a:r>
              <a:rPr lang="en-US" sz="1300" dirty="0">
                <a:solidFill>
                  <a:srgbClr val="C9C4B8"/>
                </a:solidFill>
                <a:latin typeface="Courier New" pitchFamily="34" charset="0"/>
                <a:ea typeface="Courier New" pitchFamily="34" charset="-122"/>
                <a:cs typeface="Courier New" pitchFamily="34" charset="-120"/>
              </a:rPr>
              <a:t>corroboration_count ≥</a:t>
            </a:r>
            <a:endParaRPr lang="en-US" sz="1300" dirty="0"/>
          </a:p>
        </p:txBody>
      </p:sp>
      <p:sp>
        <p:nvSpPr>
          <p:cNvPr id="5" name="Text 2"/>
          <p:cNvSpPr/>
          <p:nvPr/>
        </p:nvSpPr>
        <p:spPr>
          <a:xfrm>
            <a:off x="630936" y="1773936"/>
            <a:ext cx="3840480" cy="2194560"/>
          </a:xfrm>
          <a:prstGeom prst="rect">
            <a:avLst/>
          </a:prstGeom>
          <a:noFill/>
          <a:ln/>
        </p:spPr>
        <p:txBody>
          <a:bodyPr wrap="square" lIns="0" tIns="0" rIns="0" bIns="0" rtlCol="0" anchor="t"/>
          <a:lstStyle/>
          <a:p>
            <a:pPr indent="0" marL="0">
              <a:buNone/>
            </a:pPr>
            <a:r>
              <a:rPr lang="en-US" sz="13000" b="1" dirty="0">
                <a:solidFill>
                  <a:srgbClr val="EDE7DA"/>
                </a:solidFill>
                <a:latin typeface="Century Schoolbook" pitchFamily="34" charset="0"/>
                <a:ea typeface="Century Schoolbook" pitchFamily="34" charset="-122"/>
                <a:cs typeface="Century Schoolbook" pitchFamily="34" charset="-120"/>
              </a:rPr>
              <a:t>2</a:t>
            </a:r>
            <a:endParaRPr lang="en-US" sz="13000" dirty="0"/>
          </a:p>
        </p:txBody>
      </p:sp>
      <p:sp>
        <p:nvSpPr>
          <p:cNvPr id="6" name="Text 3"/>
          <p:cNvSpPr/>
          <p:nvPr/>
        </p:nvSpPr>
        <p:spPr>
          <a:xfrm>
            <a:off x="4617720" y="1645920"/>
            <a:ext cx="6858000" cy="1417320"/>
          </a:xfrm>
          <a:prstGeom prst="rect">
            <a:avLst/>
          </a:prstGeom>
          <a:noFill/>
          <a:ln/>
        </p:spPr>
        <p:txBody>
          <a:bodyPr wrap="square" lIns="0" tIns="0" rIns="0" bIns="0" rtlCol="0" anchor="t"/>
          <a:lstStyle/>
          <a:p>
            <a:pPr indent="0" marL="0">
              <a:lnSpc>
                <a:spcPct val="120000"/>
              </a:lnSpc>
              <a:spcAft>
                <a:spcPts val="1200"/>
              </a:spcAft>
              <a:buNone/>
            </a:pPr>
            <a:r>
              <a:rPr lang="en-US" sz="2200" dirty="0">
                <a:solidFill>
                  <a:srgbClr val="EDE7DA"/>
                </a:solidFill>
                <a:latin typeface="Century Schoolbook" pitchFamily="34" charset="0"/>
                <a:ea typeface="Century Schoolbook" pitchFamily="34" charset="-122"/>
                <a:cs typeface="Century Schoolbook" pitchFamily="34" charset="-120"/>
              </a:rPr>
              <a:t>A MALICE outcome cannot enter the wallet without corroboration_count ≥ 2.</a:t>
            </a:r>
            <a:endParaRPr lang="en-US" sz="2200" dirty="0"/>
          </a:p>
          <a:p>
            <a:pPr indent="0" marL="0">
              <a:lnSpc>
                <a:spcPct val="120000"/>
              </a:lnSpc>
              <a:buNone/>
            </a:pPr>
            <a:r>
              <a:rPr lang="en-US" sz="1600" i="1" dirty="0">
                <a:solidFill>
                  <a:srgbClr val="C9C4B8"/>
                </a:solidFill>
                <a:latin typeface="Century Schoolbook" pitchFamily="34" charset="0"/>
                <a:ea typeface="Century Schoolbook" pitchFamily="34" charset="-122"/>
                <a:cs typeface="Century Schoolbook" pitchFamily="34" charset="-120"/>
              </a:rPr>
              <a:t>Un resultado MALICE no puede entrar a la wallet sin corroboration_count ≥ 2.</a:t>
            </a:r>
            <a:endParaRPr lang="en-US" sz="2200" dirty="0"/>
          </a:p>
        </p:txBody>
      </p:sp>
      <p:sp>
        <p:nvSpPr>
          <p:cNvPr id="7" name="Shape 4"/>
          <p:cNvSpPr/>
          <p:nvPr/>
        </p:nvSpPr>
        <p:spPr>
          <a:xfrm>
            <a:off x="4617720" y="3401568"/>
            <a:ext cx="6858000" cy="18288"/>
          </a:xfrm>
          <a:prstGeom prst="rect">
            <a:avLst/>
          </a:prstGeom>
          <a:solidFill>
            <a:srgbClr val="C9C4B8"/>
          </a:solidFill>
          <a:ln w="12700">
            <a:solidFill>
              <a:srgbClr val="C9C4B8"/>
            </a:solidFill>
            <a:prstDash val="solid"/>
          </a:ln>
        </p:spPr>
        <p:txBody>
          <a:bodyPr/>
          <a:p/>
        </p:txBody>
      </p:sp>
      <p:sp>
        <p:nvSpPr>
          <p:cNvPr id="8" name="Text 5"/>
          <p:cNvSpPr/>
          <p:nvPr/>
        </p:nvSpPr>
        <p:spPr>
          <a:xfrm>
            <a:off x="4617720" y="3621024"/>
            <a:ext cx="6858000" cy="1005840"/>
          </a:xfrm>
          <a:prstGeom prst="rect">
            <a:avLst/>
          </a:prstGeom>
          <a:noFill/>
          <a:ln/>
        </p:spPr>
        <p:txBody>
          <a:bodyPr wrap="square" lIns="0" tIns="0" rIns="0" bIns="0" rtlCol="0" anchor="t"/>
          <a:lstStyle/>
          <a:p>
            <a:pPr indent="0" marL="0">
              <a:lnSpc>
                <a:spcPct val="120000"/>
              </a:lnSpc>
              <a:spcAft>
                <a:spcPts val="1100"/>
              </a:spcAft>
              <a:buNone/>
            </a:pPr>
            <a:r>
              <a:rPr lang="en-US" sz="1900" dirty="0">
                <a:solidFill>
                  <a:srgbClr val="EDE7DA"/>
                </a:solidFill>
                <a:latin typeface="Century Schoolbook" pitchFamily="34" charset="0"/>
                <a:ea typeface="Century Schoolbook" pitchFamily="34" charset="-122"/>
                <a:cs typeface="Century Schoolbook" pitchFamily="34" charset="-120"/>
              </a:rPr>
              <a:t>Not a policy note. A circuit constraint.</a:t>
            </a:r>
            <a:endParaRPr lang="en-US" sz="1900" dirty="0"/>
          </a:p>
          <a:p>
            <a:pPr indent="0" marL="0">
              <a:lnSpc>
                <a:spcPct val="120000"/>
              </a:lnSpc>
              <a:buNone/>
            </a:pPr>
            <a:r>
              <a:rPr lang="en-US" sz="1500" i="1" dirty="0">
                <a:solidFill>
                  <a:srgbClr val="C9C4B8"/>
                </a:solidFill>
                <a:latin typeface="Century Schoolbook" pitchFamily="34" charset="0"/>
                <a:ea typeface="Century Schoolbook" pitchFamily="34" charset="-122"/>
                <a:cs typeface="Century Schoolbook" pitchFamily="34" charset="-120"/>
              </a:rPr>
              <a:t>No es una nota de política. Es una restricción del circuito.</a:t>
            </a:r>
            <a:endParaRPr lang="en-US" sz="1900" dirty="0"/>
          </a:p>
        </p:txBody>
      </p:sp>
      <p:sp>
        <p:nvSpPr>
          <p:cNvPr id="9" name="Text 6"/>
          <p:cNvSpPr/>
          <p:nvPr/>
        </p:nvSpPr>
        <p:spPr>
          <a:xfrm>
            <a:off x="685800" y="4800600"/>
            <a:ext cx="5074920" cy="548640"/>
          </a:xfrm>
          <a:prstGeom prst="rect">
            <a:avLst/>
          </a:prstGeom>
          <a:noFill/>
          <a:ln/>
        </p:spPr>
        <p:txBody>
          <a:bodyPr wrap="square" lIns="0" tIns="0" rIns="0" bIns="0" rtlCol="0" anchor="t"/>
          <a:lstStyle/>
          <a:p>
            <a:pPr indent="0" marL="0">
              <a:lnSpc>
                <a:spcPct val="125000"/>
              </a:lnSpc>
              <a:buNone/>
            </a:pPr>
            <a:r>
              <a:rPr lang="en-US" sz="1100" dirty="0">
                <a:solidFill>
                  <a:srgbClr val="C9C4B8"/>
                </a:solidFill>
                <a:latin typeface="Calibri" pitchFamily="34" charset="0"/>
                <a:ea typeface="Calibri" pitchFamily="34" charset="-122"/>
                <a:cs typeface="Calibri" pitchFamily="34" charset="-120"/>
              </a:rPr>
              <a:t>This is what stops a portfolio from being inflated. An attempt to seal MALICE from a single source does not fail validation — it fails to produce a proof at all. The circuit enforces the count; sources are counted distinct by declared provenance root, not proven independent.</a:t>
            </a:r>
            <a:endParaRPr lang="en-US" sz="1100" dirty="0"/>
          </a:p>
        </p:txBody>
      </p:sp>
      <p:sp>
        <p:nvSpPr>
          <p:cNvPr id="10" name="Text 7"/>
          <p:cNvSpPr/>
          <p:nvPr/>
        </p:nvSpPr>
        <p:spPr>
          <a:xfrm>
            <a:off x="6400800" y="4800600"/>
            <a:ext cx="5074920" cy="548640"/>
          </a:xfrm>
          <a:prstGeom prst="rect">
            <a:avLst/>
          </a:prstGeom>
          <a:noFill/>
          <a:ln/>
        </p:spPr>
        <p:txBody>
          <a:bodyPr wrap="square" lIns="0" tIns="0" rIns="0" bIns="0" rtlCol="0" anchor="t"/>
          <a:lstStyle/>
          <a:p>
            <a:pPr indent="0" marL="0">
              <a:lnSpc>
                <a:spcPct val="125000"/>
              </a:lnSpc>
              <a:buNone/>
            </a:pPr>
            <a:r>
              <a:rPr lang="en-US" sz="1100" i="1" dirty="0">
                <a:solidFill>
                  <a:srgbClr val="C9C4B8"/>
                </a:solidFill>
                <a:latin typeface="Calibri" pitchFamily="34" charset="0"/>
                <a:ea typeface="Calibri" pitchFamily="34" charset="-122"/>
                <a:cs typeface="Calibri" pitchFamily="34" charset="-120"/>
              </a:rPr>
              <a:t>Esto es lo que impide inflar un portafolio. Un intento de sellar MALICE con una sola fuente no falla la validación — directamente no produce una prueba. El circuito impone el conteo; las fuentes se cuentan distintas por raíz de proveniencia declarada, no probada independiente.</a:t>
            </a:r>
            <a:endParaRPr lang="en-US" sz="1100" dirty="0"/>
          </a:p>
        </p:txBody>
      </p:sp>
      <p:sp>
        <p:nvSpPr>
          <p:cNvPr id="11" name="Text 8"/>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C9C4B8"/>
                </a:solidFill>
                <a:latin typeface="Courier New" pitchFamily="34" charset="0"/>
                <a:ea typeface="Courier New" pitchFamily="34" charset="-122"/>
                <a:cs typeface="Courier New" pitchFamily="34" charset="-120"/>
              </a:rPr>
              <a:t>VELO · Professional Evidence Wallet</a:t>
            </a:r>
            <a:endParaRPr lang="en-US" sz="800" dirty="0"/>
          </a:p>
        </p:txBody>
      </p:sp>
      <p:sp>
        <p:nvSpPr>
          <p:cNvPr id="12" name="Text 9"/>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C9C4B8"/>
                </a:solidFill>
                <a:latin typeface="Courier New" pitchFamily="34" charset="0"/>
                <a:ea typeface="Courier New" pitchFamily="34" charset="-122"/>
                <a:cs typeface="Courier New"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10789920" cy="237744"/>
          </a:xfrm>
          <a:prstGeom prst="rect">
            <a:avLst/>
          </a:prstGeom>
          <a:noFill/>
          <a:ln/>
        </p:spPr>
        <p:txBody>
          <a:bodyPr wrap="square" lIns="0" tIns="0" rIns="0" bIns="0" rtlCol="0" anchor="t"/>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FOUND BY OUR OWN RED TEAM</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ENCONTRADO POR NUESTRO PROPIO RED TEAM</a:t>
            </a:r>
            <a:endParaRPr lang="en-US" sz="900" dirty="0"/>
          </a:p>
        </p:txBody>
      </p:sp>
      <p:sp>
        <p:nvSpPr>
          <p:cNvPr id="4" name="Text 1"/>
          <p:cNvSpPr/>
          <p:nvPr/>
        </p:nvSpPr>
        <p:spPr>
          <a:xfrm>
            <a:off x="685800" y="786384"/>
            <a:ext cx="10789920" cy="1071677"/>
          </a:xfrm>
          <a:prstGeom prst="rect">
            <a:avLst/>
          </a:prstGeom>
          <a:noFill/>
          <a:ln/>
        </p:spPr>
        <p:txBody>
          <a:bodyPr wrap="square" lIns="0" tIns="0" rIns="0" bIns="0" rtlCol="0" anchor="t"/>
          <a:lstStyle/>
          <a:p>
            <a:pPr indent="0" marL="0">
              <a:lnSpc>
                <a:spcPct val="114000"/>
              </a:lnSpc>
              <a:spcAft>
                <a:spcPts val="1000"/>
              </a:spcAft>
              <a:buNone/>
            </a:pPr>
            <a:r>
              <a:rPr lang="en-US" sz="3000" dirty="0">
                <a:solidFill>
                  <a:srgbClr val="1C1A17"/>
                </a:solidFill>
                <a:latin typeface="Century Schoolbook" pitchFamily="34" charset="0"/>
                <a:ea typeface="Century Schoolbook" pitchFamily="34" charset="-122"/>
                <a:cs typeface="Century Schoolbook" pitchFamily="34" charset="-120"/>
              </a:rPr>
              <a:t>A hash proves consistency, not authorship.</a:t>
            </a:r>
            <a:endParaRPr lang="en-US" sz="3000" dirty="0"/>
          </a:p>
          <a:p>
            <a:pPr indent="0" marL="0">
              <a:lnSpc>
                <a:spcPct val="114000"/>
              </a:lnSpc>
              <a:buNone/>
            </a:pPr>
            <a:r>
              <a:rPr lang="en-US" sz="1800" i="1" dirty="0">
                <a:solidFill>
                  <a:srgbClr val="3A3F4B"/>
                </a:solidFill>
                <a:latin typeface="Century Schoolbook" pitchFamily="34" charset="0"/>
                <a:ea typeface="Century Schoolbook" pitchFamily="34" charset="-122"/>
                <a:cs typeface="Century Schoolbook" pitchFamily="34" charset="-120"/>
              </a:rPr>
              <a:t>Un hash prueba consistencia, no autoría.</a:t>
            </a:r>
            <a:endParaRPr lang="en-US" sz="3000" dirty="0"/>
          </a:p>
        </p:txBody>
      </p:sp>
      <p:sp>
        <p:nvSpPr>
          <p:cNvPr id="5" name="Text 2"/>
          <p:cNvSpPr/>
          <p:nvPr/>
        </p:nvSpPr>
        <p:spPr>
          <a:xfrm>
            <a:off x="685800" y="2040941"/>
            <a:ext cx="10789920" cy="585216"/>
          </a:xfrm>
          <a:prstGeom prst="rect">
            <a:avLst/>
          </a:prstGeom>
          <a:noFill/>
          <a:ln/>
        </p:spPr>
        <p:txBody>
          <a:bodyPr wrap="square" lIns="0" tIns="0" rIns="0" bIns="0" rtlCol="0" anchor="t"/>
          <a:lstStyle/>
          <a:p>
            <a:pPr indent="0" marL="0">
              <a:lnSpc>
                <a:spcPct val="120000"/>
              </a:lnSpc>
              <a:spcAft>
                <a:spcPts val="700"/>
              </a:spcAft>
              <a:buNone/>
            </a:pPr>
            <a:r>
              <a:rPr lang="en-US" sz="1200" dirty="0">
                <a:solidFill>
                  <a:srgbClr val="1C1A17"/>
                </a:solidFill>
                <a:latin typeface="Calibri" pitchFamily="34" charset="0"/>
                <a:ea typeface="Calibri" pitchFamily="34" charset="-122"/>
                <a:cs typeface="Calibri" pitchFamily="34" charset="-120"/>
              </a:rPr>
              <a:t>A sealed case proves the analysis was not altered. It does not prove who performed it. For a reputation layer, that gap is fatal.</a:t>
            </a:r>
            <a:endParaRPr lang="en-US" sz="1200" dirty="0"/>
          </a:p>
          <a:p>
            <a:pPr indent="0" marL="0">
              <a:lnSpc>
                <a:spcPct val="120000"/>
              </a:lnSpc>
              <a:buNone/>
            </a:pPr>
            <a:r>
              <a:rPr lang="en-US" sz="1150" i="1" dirty="0">
                <a:solidFill>
                  <a:srgbClr val="3A3F4B"/>
                </a:solidFill>
                <a:latin typeface="Calibri" pitchFamily="34" charset="0"/>
                <a:ea typeface="Calibri" pitchFamily="34" charset="-122"/>
                <a:cs typeface="Calibri" pitchFamily="34" charset="-120"/>
              </a:rPr>
              <a:t>Un caso sellado prueba que el análisis no fue alterado. No prueba quién lo hizo. Para una capa de reputación, ese hueco es fatal.</a:t>
            </a:r>
            <a:endParaRPr lang="en-US" sz="1200" dirty="0"/>
          </a:p>
        </p:txBody>
      </p:sp>
      <p:sp>
        <p:nvSpPr>
          <p:cNvPr id="6" name="Shape 3"/>
          <p:cNvSpPr/>
          <p:nvPr/>
        </p:nvSpPr>
        <p:spPr>
          <a:xfrm>
            <a:off x="685800" y="5010912"/>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7" name="Text 4"/>
          <p:cNvSpPr/>
          <p:nvPr/>
        </p:nvSpPr>
        <p:spPr>
          <a:xfrm>
            <a:off x="960120" y="5193792"/>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We attacked our own design, found the gap, and the fix became the feature.</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Atacamos nuestro propio diseño, encontramos el hueco, y el arreglo se volvió la función.</a:t>
            </a:r>
            <a:endParaRPr lang="en-US" sz="1300" dirty="0"/>
          </a:p>
        </p:txBody>
      </p:sp>
      <p:sp>
        <p:nvSpPr>
          <p:cNvPr id="8" name="Shape 5"/>
          <p:cNvSpPr/>
          <p:nvPr/>
        </p:nvSpPr>
        <p:spPr>
          <a:xfrm>
            <a:off x="685800" y="2918765"/>
            <a:ext cx="3108960" cy="786384"/>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9" name="Text 6"/>
          <p:cNvSpPr/>
          <p:nvPr/>
        </p:nvSpPr>
        <p:spPr>
          <a:xfrm>
            <a:off x="905256" y="3065069"/>
            <a:ext cx="2670048" cy="402336"/>
          </a:xfrm>
          <a:prstGeom prst="rect">
            <a:avLst/>
          </a:prstGeom>
          <a:noFill/>
          <a:ln/>
        </p:spPr>
        <p:txBody>
          <a:bodyPr wrap="square" lIns="0" tIns="0" rIns="0" bIns="0" rtlCol="0" anchor="t"/>
          <a:lstStyle/>
          <a:p>
            <a:pPr indent="0" marL="0">
              <a:buNone/>
            </a:pPr>
            <a:r>
              <a:rPr lang="en-US" sz="800" spc="120" kern="0" dirty="0">
                <a:solidFill>
                  <a:srgbClr val="8B3A2F"/>
                </a:solidFill>
                <a:latin typeface="Courier New" pitchFamily="34" charset="0"/>
                <a:ea typeface="Courier New" pitchFamily="34" charset="-122"/>
                <a:cs typeface="Courier New" pitchFamily="34" charset="-120"/>
              </a:rPr>
              <a:t>EXPERT</a:t>
            </a:r>
            <a:endParaRPr lang="en-US" sz="800" dirty="0"/>
          </a:p>
          <a:p>
            <a:pPr indent="0" marL="0">
              <a:buNone/>
            </a:pPr>
            <a:r>
              <a:rPr lang="en-US" sz="800" spc="120" kern="0" dirty="0">
                <a:solidFill>
                  <a:srgbClr val="6B6257"/>
                </a:solidFill>
                <a:latin typeface="Courier New" pitchFamily="34" charset="0"/>
                <a:ea typeface="Courier New" pitchFamily="34" charset="-122"/>
                <a:cs typeface="Courier New" pitchFamily="34" charset="-120"/>
              </a:rPr>
              <a:t>PERITO</a:t>
            </a:r>
            <a:endParaRPr lang="en-US" sz="800" dirty="0"/>
          </a:p>
        </p:txBody>
      </p:sp>
      <p:sp>
        <p:nvSpPr>
          <p:cNvPr id="10" name="Text 7"/>
          <p:cNvSpPr/>
          <p:nvPr/>
        </p:nvSpPr>
        <p:spPr>
          <a:xfrm>
            <a:off x="905256" y="3467405"/>
            <a:ext cx="2670048" cy="292608"/>
          </a:xfrm>
          <a:prstGeom prst="rect">
            <a:avLst/>
          </a:prstGeom>
          <a:noFill/>
          <a:ln/>
        </p:spPr>
        <p:txBody>
          <a:bodyPr wrap="square" lIns="0" tIns="0" rIns="0" bIns="0" rtlCol="0" anchor="t"/>
          <a:lstStyle/>
          <a:p>
            <a:pPr indent="0" marL="0">
              <a:buNone/>
            </a:pPr>
            <a:r>
              <a:rPr lang="en-US" sz="1200" dirty="0">
                <a:solidFill>
                  <a:srgbClr val="1C1A17"/>
                </a:solidFill>
                <a:latin typeface="Courier New" pitchFamily="34" charset="0"/>
                <a:ea typeface="Courier New" pitchFamily="34" charset="-122"/>
                <a:cs typeface="Courier New" pitchFamily="34" charset="-120"/>
              </a:rPr>
              <a:t>Perito-A7F3</a:t>
            </a:r>
            <a:endParaRPr lang="en-US" sz="1200" dirty="0"/>
          </a:p>
        </p:txBody>
      </p:sp>
      <p:sp>
        <p:nvSpPr>
          <p:cNvPr id="11" name="Shape 8"/>
          <p:cNvSpPr/>
          <p:nvPr/>
        </p:nvSpPr>
        <p:spPr>
          <a:xfrm>
            <a:off x="3977640" y="3311957"/>
            <a:ext cx="365760" cy="0"/>
          </a:xfrm>
          <a:prstGeom prst="line">
            <a:avLst/>
          </a:prstGeom>
          <a:noFill/>
          <a:ln w="15875">
            <a:solidFill>
              <a:srgbClr val="6B6257"/>
            </a:solidFill>
            <a:prstDash val="solid"/>
            <a:tailEnd type="triangle"/>
          </a:ln>
        </p:spPr>
        <p:txBody>
          <a:bodyPr/>
          <a:p/>
        </p:txBody>
      </p:sp>
      <p:sp>
        <p:nvSpPr>
          <p:cNvPr id="12" name="Shape 9"/>
          <p:cNvSpPr/>
          <p:nvPr/>
        </p:nvSpPr>
        <p:spPr>
          <a:xfrm>
            <a:off x="4526280" y="2918765"/>
            <a:ext cx="3108960" cy="786384"/>
          </a:xfrm>
          <a:prstGeom prst="rect">
            <a:avLst/>
          </a:prstGeom>
          <a:solidFill>
            <a:srgbClr val="8B3A2F"/>
          </a:solidFill>
          <a:ln w="12700">
            <a:solidFill>
              <a:srgbClr val="8B3A2F"/>
            </a:solidFill>
            <a:prstDash val="solid"/>
          </a:ln>
          <a:effectLst>
            <a:outerShdw sx="100000" sy="100000" kx="0" ky="0" algn="bl" rotWithShape="0" blurRad="127000" dist="25400" dir="5400000">
              <a:srgbClr val="6B6257">
                <a:alpha val="35000"/>
              </a:srgbClr>
            </a:outerShdw>
          </a:effectLst>
        </p:spPr>
        <p:txBody>
          <a:bodyPr/>
          <a:p/>
        </p:txBody>
      </p:sp>
      <p:sp>
        <p:nvSpPr>
          <p:cNvPr id="13" name="Text 10"/>
          <p:cNvSpPr/>
          <p:nvPr/>
        </p:nvSpPr>
        <p:spPr>
          <a:xfrm>
            <a:off x="4745736" y="3065069"/>
            <a:ext cx="2670048" cy="402336"/>
          </a:xfrm>
          <a:prstGeom prst="rect">
            <a:avLst/>
          </a:prstGeom>
          <a:noFill/>
          <a:ln/>
        </p:spPr>
        <p:txBody>
          <a:bodyPr wrap="square" lIns="0" tIns="0" rIns="0" bIns="0" rtlCol="0" anchor="t"/>
          <a:lstStyle/>
          <a:p>
            <a:pPr indent="0" marL="0">
              <a:buNone/>
            </a:pPr>
            <a:r>
              <a:rPr lang="en-US" sz="800" spc="120" kern="0" dirty="0">
                <a:solidFill>
                  <a:srgbClr val="E4DDCC"/>
                </a:solidFill>
                <a:latin typeface="Courier New" pitchFamily="34" charset="0"/>
                <a:ea typeface="Courier New" pitchFamily="34" charset="-122"/>
                <a:cs typeface="Courier New" pitchFamily="34" charset="-120"/>
              </a:rPr>
              <a:t>ZK CREDENTIAL</a:t>
            </a:r>
            <a:endParaRPr lang="en-US" sz="800" dirty="0"/>
          </a:p>
          <a:p>
            <a:pPr indent="0" marL="0">
              <a:buNone/>
            </a:pPr>
            <a:r>
              <a:rPr lang="en-US" sz="800" spc="120" kern="0" dirty="0">
                <a:solidFill>
                  <a:srgbClr val="E4DDCC"/>
                </a:solidFill>
                <a:latin typeface="Courier New" pitchFamily="34" charset="0"/>
                <a:ea typeface="Courier New" pitchFamily="34" charset="-122"/>
                <a:cs typeface="Courier New" pitchFamily="34" charset="-120"/>
              </a:rPr>
              <a:t>CREDENCIAL ZK</a:t>
            </a:r>
            <a:endParaRPr lang="en-US" sz="800" dirty="0"/>
          </a:p>
        </p:txBody>
      </p:sp>
      <p:sp>
        <p:nvSpPr>
          <p:cNvPr id="14" name="Text 11"/>
          <p:cNvSpPr/>
          <p:nvPr/>
        </p:nvSpPr>
        <p:spPr>
          <a:xfrm>
            <a:off x="4745736" y="3467405"/>
            <a:ext cx="2670048" cy="292608"/>
          </a:xfrm>
          <a:prstGeom prst="rect">
            <a:avLst/>
          </a:prstGeom>
          <a:noFill/>
          <a:ln/>
        </p:spPr>
        <p:txBody>
          <a:bodyPr wrap="square" lIns="0" tIns="0" rIns="0" bIns="0" rtlCol="0" anchor="t"/>
          <a:lstStyle/>
          <a:p>
            <a:pPr indent="0" marL="0">
              <a:buNone/>
            </a:pPr>
            <a:r>
              <a:rPr lang="en-US" sz="1200" dirty="0">
                <a:solidFill>
                  <a:srgbClr val="EDE7DA"/>
                </a:solidFill>
                <a:latin typeface="Courier New" pitchFamily="34" charset="0"/>
                <a:ea typeface="Courier New" pitchFamily="34" charset="-122"/>
                <a:cs typeface="Courier New" pitchFamily="34" charset="-120"/>
              </a:rPr>
              <a:t>membership proof</a:t>
            </a:r>
            <a:endParaRPr lang="en-US" sz="1200" dirty="0"/>
          </a:p>
        </p:txBody>
      </p:sp>
      <p:sp>
        <p:nvSpPr>
          <p:cNvPr id="15" name="Shape 12"/>
          <p:cNvSpPr/>
          <p:nvPr/>
        </p:nvSpPr>
        <p:spPr>
          <a:xfrm>
            <a:off x="7818120" y="3311957"/>
            <a:ext cx="365760" cy="0"/>
          </a:xfrm>
          <a:prstGeom prst="line">
            <a:avLst/>
          </a:prstGeom>
          <a:noFill/>
          <a:ln w="15875">
            <a:solidFill>
              <a:srgbClr val="6B6257"/>
            </a:solidFill>
            <a:prstDash val="solid"/>
            <a:tailEnd type="triangle"/>
          </a:ln>
        </p:spPr>
        <p:txBody>
          <a:bodyPr/>
          <a:p/>
        </p:txBody>
      </p:sp>
      <p:sp>
        <p:nvSpPr>
          <p:cNvPr id="16" name="Shape 13"/>
          <p:cNvSpPr/>
          <p:nvPr/>
        </p:nvSpPr>
        <p:spPr>
          <a:xfrm>
            <a:off x="8366760" y="2918765"/>
            <a:ext cx="3108960" cy="786384"/>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17" name="Text 14"/>
          <p:cNvSpPr/>
          <p:nvPr/>
        </p:nvSpPr>
        <p:spPr>
          <a:xfrm>
            <a:off x="8586216" y="3065069"/>
            <a:ext cx="2670048" cy="402336"/>
          </a:xfrm>
          <a:prstGeom prst="rect">
            <a:avLst/>
          </a:prstGeom>
          <a:noFill/>
          <a:ln/>
        </p:spPr>
        <p:txBody>
          <a:bodyPr wrap="square" lIns="0" tIns="0" rIns="0" bIns="0" rtlCol="0" anchor="t"/>
          <a:lstStyle/>
          <a:p>
            <a:pPr indent="0" marL="0">
              <a:buNone/>
            </a:pPr>
            <a:r>
              <a:rPr lang="en-US" sz="800" spc="120" kern="0" dirty="0">
                <a:solidFill>
                  <a:srgbClr val="8B3A2F"/>
                </a:solidFill>
                <a:latin typeface="Courier New" pitchFamily="34" charset="0"/>
                <a:ea typeface="Courier New" pitchFamily="34" charset="-122"/>
                <a:cs typeface="Courier New" pitchFamily="34" charset="-120"/>
              </a:rPr>
              <a:t>SEALED CASE</a:t>
            </a:r>
            <a:endParaRPr lang="en-US" sz="800" dirty="0"/>
          </a:p>
          <a:p>
            <a:pPr indent="0" marL="0">
              <a:buNone/>
            </a:pPr>
            <a:r>
              <a:rPr lang="en-US" sz="800" spc="120" kern="0" dirty="0">
                <a:solidFill>
                  <a:srgbClr val="6B6257"/>
                </a:solidFill>
                <a:latin typeface="Courier New" pitchFamily="34" charset="0"/>
                <a:ea typeface="Courier New" pitchFamily="34" charset="-122"/>
                <a:cs typeface="Courier New" pitchFamily="34" charset="-120"/>
              </a:rPr>
              <a:t>CASO SELLADO</a:t>
            </a:r>
            <a:endParaRPr lang="en-US" sz="800" dirty="0"/>
          </a:p>
        </p:txBody>
      </p:sp>
      <p:sp>
        <p:nvSpPr>
          <p:cNvPr id="18" name="Text 15"/>
          <p:cNvSpPr/>
          <p:nvPr/>
        </p:nvSpPr>
        <p:spPr>
          <a:xfrm>
            <a:off x="8586216" y="3467405"/>
            <a:ext cx="2670048" cy="292608"/>
          </a:xfrm>
          <a:prstGeom prst="rect">
            <a:avLst/>
          </a:prstGeom>
          <a:noFill/>
          <a:ln/>
        </p:spPr>
        <p:txBody>
          <a:bodyPr wrap="square" lIns="0" tIns="0" rIns="0" bIns="0" rtlCol="0" anchor="t"/>
          <a:lstStyle/>
          <a:p>
            <a:pPr indent="0" marL="0">
              <a:buNone/>
            </a:pPr>
            <a:r>
              <a:rPr lang="en-US" sz="1200" dirty="0">
                <a:solidFill>
                  <a:srgbClr val="1C1A17"/>
                </a:solidFill>
                <a:latin typeface="Courier New" pitchFamily="34" charset="0"/>
                <a:ea typeface="Courier New" pitchFamily="34" charset="-122"/>
                <a:cs typeface="Courier New" pitchFamily="34" charset="-120"/>
              </a:rPr>
              <a:t>commitment</a:t>
            </a:r>
            <a:endParaRPr lang="en-US" sz="1200" dirty="0"/>
          </a:p>
        </p:txBody>
      </p:sp>
      <p:sp>
        <p:nvSpPr>
          <p:cNvPr id="19" name="Text 16"/>
          <p:cNvSpPr/>
          <p:nvPr/>
        </p:nvSpPr>
        <p:spPr>
          <a:xfrm>
            <a:off x="685800" y="4016045"/>
            <a:ext cx="6400800" cy="219456"/>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THE PROOF ESTABLISHES   ·   LA PRUEBA ESTABLECERÁ · DISEÑADO, AÚN NO CONSTRUIDO</a:t>
            </a:r>
            <a:pPr indent="0" marL="0">
              <a:buNone/>
            </a:pPr>
            <a:r>
              <a:rPr lang="en-US" sz="850" spc="120" kern="0" dirty="0">
                <a:solidFill>
                  <a:srgbClr val="6B6257"/>
                </a:solidFill>
                <a:latin typeface="Courier New" pitchFamily="34" charset="0"/>
                <a:ea typeface="Courier New" pitchFamily="34" charset="-122"/>
                <a:cs typeface="Courier New" pitchFamily="34" charset="-120"/>
              </a:rPr>
              <a:t/>
            </a:r>
            <a:pPr indent="0" marL="0">
              <a:buNone/>
            </a:pPr>
            <a:r>
              <a:rPr lang="en-US" sz="850" spc="120" kern="0" dirty="0">
                <a:solidFill>
                  <a:srgbClr val="6B6257"/>
                </a:solidFill>
                <a:latin typeface="Courier New" pitchFamily="34" charset="0"/>
                <a:ea typeface="Courier New" pitchFamily="34" charset="-122"/>
                <a:cs typeface="Courier New" pitchFamily="34" charset="-120"/>
              </a:rPr>
              <a:t/>
            </a:r>
            <a:endParaRPr lang="en-US" sz="850" dirty="0"/>
          </a:p>
        </p:txBody>
      </p:sp>
      <p:sp>
        <p:nvSpPr>
          <p:cNvPr id="20" name="Text 17"/>
          <p:cNvSpPr/>
          <p:nvPr/>
        </p:nvSpPr>
        <p:spPr>
          <a:xfrm>
            <a:off x="685800" y="4308653"/>
            <a:ext cx="2491740" cy="480060"/>
          </a:xfrm>
          <a:prstGeom prst="rect">
            <a:avLst/>
          </a:prstGeom>
          <a:noFill/>
          <a:ln/>
        </p:spPr>
        <p:txBody>
          <a:bodyPr wrap="square" lIns="0" tIns="0" rIns="0" bIns="0" rtlCol="0" anchor="t"/>
          <a:lstStyle/>
          <a:p>
            <a:pPr indent="0" marL="0">
              <a:lnSpc>
                <a:spcPct val="124000"/>
              </a:lnSpc>
              <a:spcAft>
                <a:spcPts val="700"/>
              </a:spcAft>
              <a:buNone/>
            </a:pPr>
            <a:r>
              <a:rPr lang="en-US" sz="1150" dirty="0">
                <a:solidFill>
                  <a:srgbClr val="1C1A17"/>
                </a:solidFill>
                <a:latin typeface="Calibri" pitchFamily="34" charset="0"/>
                <a:ea typeface="Calibri" pitchFamily="34" charset="-122"/>
                <a:cs typeface="Calibri" pitchFamily="34" charset="-120"/>
              </a:rPr>
              <a:t>Belongs to an accredited body</a:t>
            </a:r>
            <a:endParaRPr lang="en-US" sz="1150" dirty="0"/>
          </a:p>
          <a:p>
            <a:pPr indent="0" marL="0">
              <a:lnSpc>
                <a:spcPct val="124000"/>
              </a:lnSpc>
              <a:buNone/>
            </a:pPr>
            <a:r>
              <a:rPr lang="en-US" sz="1100" i="1" dirty="0">
                <a:solidFill>
                  <a:srgbClr val="3A3F4B"/>
                </a:solidFill>
                <a:latin typeface="Calibri" pitchFamily="34" charset="0"/>
                <a:ea typeface="Calibri" pitchFamily="34" charset="-122"/>
                <a:cs typeface="Calibri" pitchFamily="34" charset="-120"/>
              </a:rPr>
              <a:t>Pertenece a un cuerpo acreditado</a:t>
            </a:r>
            <a:endParaRPr lang="en-US" sz="1150" dirty="0"/>
          </a:p>
        </p:txBody>
      </p:sp>
      <p:sp>
        <p:nvSpPr>
          <p:cNvPr id="21" name="Text 18"/>
          <p:cNvSpPr/>
          <p:nvPr/>
        </p:nvSpPr>
        <p:spPr>
          <a:xfrm>
            <a:off x="3451860" y="4308653"/>
            <a:ext cx="2491740" cy="480060"/>
          </a:xfrm>
          <a:prstGeom prst="rect">
            <a:avLst/>
          </a:prstGeom>
          <a:noFill/>
          <a:ln/>
        </p:spPr>
        <p:txBody>
          <a:bodyPr wrap="square" lIns="0" tIns="0" rIns="0" bIns="0" rtlCol="0" anchor="t"/>
          <a:lstStyle/>
          <a:p>
            <a:pPr indent="0" marL="0">
              <a:lnSpc>
                <a:spcPct val="124000"/>
              </a:lnSpc>
              <a:spcAft>
                <a:spcPts val="700"/>
              </a:spcAft>
              <a:buNone/>
            </a:pPr>
            <a:r>
              <a:rPr lang="en-US" sz="1150" dirty="0">
                <a:solidFill>
                  <a:srgbClr val="1C1A17"/>
                </a:solidFill>
                <a:latin typeface="Calibri" pitchFamily="34" charset="0"/>
                <a:ea typeface="Calibri" pitchFamily="34" charset="-122"/>
                <a:cs typeface="Calibri" pitchFamily="34" charset="-120"/>
              </a:rPr>
              <a:t>Licence valid when sealed</a:t>
            </a:r>
            <a:endParaRPr lang="en-US" sz="1150" dirty="0"/>
          </a:p>
          <a:p>
            <a:pPr indent="0" marL="0">
              <a:lnSpc>
                <a:spcPct val="124000"/>
              </a:lnSpc>
              <a:buNone/>
            </a:pPr>
            <a:r>
              <a:rPr lang="en-US" sz="1100" i="1" dirty="0">
                <a:solidFill>
                  <a:srgbClr val="3A3F4B"/>
                </a:solidFill>
                <a:latin typeface="Calibri" pitchFamily="34" charset="0"/>
                <a:ea typeface="Calibri" pitchFamily="34" charset="-122"/>
                <a:cs typeface="Calibri" pitchFamily="34" charset="-120"/>
              </a:rPr>
              <a:t>Licencia vigente al sellar</a:t>
            </a:r>
            <a:endParaRPr lang="en-US" sz="1150" dirty="0"/>
          </a:p>
        </p:txBody>
      </p:sp>
      <p:sp>
        <p:nvSpPr>
          <p:cNvPr id="22" name="Text 19"/>
          <p:cNvSpPr/>
          <p:nvPr/>
        </p:nvSpPr>
        <p:spPr>
          <a:xfrm>
            <a:off x="6217920" y="4308653"/>
            <a:ext cx="2491740" cy="480060"/>
          </a:xfrm>
          <a:prstGeom prst="rect">
            <a:avLst/>
          </a:prstGeom>
          <a:noFill/>
          <a:ln/>
        </p:spPr>
        <p:txBody>
          <a:bodyPr wrap="square" lIns="0" tIns="0" rIns="0" bIns="0" rtlCol="0" anchor="t"/>
          <a:lstStyle/>
          <a:p>
            <a:pPr indent="0" marL="0">
              <a:lnSpc>
                <a:spcPct val="124000"/>
              </a:lnSpc>
              <a:spcAft>
                <a:spcPts val="700"/>
              </a:spcAft>
              <a:buNone/>
            </a:pPr>
            <a:r>
              <a:rPr lang="en-US" sz="1150" dirty="0">
                <a:solidFill>
                  <a:srgbClr val="1C1A17"/>
                </a:solidFill>
                <a:latin typeface="Calibri" pitchFamily="34" charset="0"/>
                <a:ea typeface="Calibri" pitchFamily="34" charset="-122"/>
                <a:cs typeface="Calibri" pitchFamily="34" charset="-120"/>
              </a:rPr>
              <a:t>Admissibility rule satisfied</a:t>
            </a:r>
            <a:endParaRPr lang="en-US" sz="1150" dirty="0"/>
          </a:p>
          <a:p>
            <a:pPr indent="0" marL="0">
              <a:lnSpc>
                <a:spcPct val="124000"/>
              </a:lnSpc>
              <a:buNone/>
            </a:pPr>
            <a:r>
              <a:rPr lang="en-US" sz="1100" i="1" dirty="0">
                <a:solidFill>
                  <a:srgbClr val="3A3F4B"/>
                </a:solidFill>
                <a:latin typeface="Calibri" pitchFamily="34" charset="0"/>
                <a:ea typeface="Calibri" pitchFamily="34" charset="-122"/>
                <a:cs typeface="Calibri" pitchFamily="34" charset="-120"/>
              </a:rPr>
              <a:t>Regla de admisibilidad cumplida</a:t>
            </a:r>
            <a:endParaRPr lang="en-US" sz="1150" dirty="0"/>
          </a:p>
        </p:txBody>
      </p:sp>
      <p:sp>
        <p:nvSpPr>
          <p:cNvPr id="23" name="Text 20"/>
          <p:cNvSpPr/>
          <p:nvPr/>
        </p:nvSpPr>
        <p:spPr>
          <a:xfrm>
            <a:off x="8983980" y="4308653"/>
            <a:ext cx="2491740" cy="480060"/>
          </a:xfrm>
          <a:prstGeom prst="rect">
            <a:avLst/>
          </a:prstGeom>
          <a:noFill/>
          <a:ln/>
        </p:spPr>
        <p:txBody>
          <a:bodyPr wrap="square" lIns="0" tIns="0" rIns="0" bIns="0" rtlCol="0" anchor="t"/>
          <a:lstStyle/>
          <a:p>
            <a:pPr indent="0" marL="0">
              <a:lnSpc>
                <a:spcPct val="124000"/>
              </a:lnSpc>
              <a:spcAft>
                <a:spcPts val="700"/>
              </a:spcAft>
              <a:buNone/>
            </a:pPr>
            <a:r>
              <a:rPr lang="en-US" sz="1150" dirty="0">
                <a:solidFill>
                  <a:srgbClr val="1C1A17"/>
                </a:solidFill>
                <a:latin typeface="Calibri" pitchFamily="34" charset="0"/>
                <a:ea typeface="Calibri" pitchFamily="34" charset="-122"/>
                <a:cs typeface="Calibri" pitchFamily="34" charset="-120"/>
              </a:rPr>
              <a:t>Identity hidden unless ordered</a:t>
            </a:r>
            <a:endParaRPr lang="en-US" sz="1150" dirty="0"/>
          </a:p>
          <a:p>
            <a:pPr indent="0" marL="0">
              <a:lnSpc>
                <a:spcPct val="124000"/>
              </a:lnSpc>
              <a:buNone/>
            </a:pPr>
            <a:r>
              <a:rPr lang="en-US" sz="1100" i="1" dirty="0">
                <a:solidFill>
                  <a:srgbClr val="3A3F4B"/>
                </a:solidFill>
                <a:latin typeface="Calibri" pitchFamily="34" charset="0"/>
                <a:ea typeface="Calibri" pitchFamily="34" charset="-122"/>
                <a:cs typeface="Calibri" pitchFamily="34" charset="-120"/>
              </a:rPr>
              <a:t>Identidad oculta salvo orden judicial</a:t>
            </a:r>
            <a:endParaRPr lang="en-US" sz="1150" dirty="0"/>
          </a:p>
        </p:txBody>
      </p:sp>
      <p:sp>
        <p:nvSpPr>
          <p:cNvPr id="24" name="Text 21"/>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a:t>
            </a:r>
            <a:endParaRPr lang="en-US" sz="800" dirty="0"/>
          </a:p>
        </p:txBody>
      </p:sp>
      <p:sp>
        <p:nvSpPr>
          <p:cNvPr id="25" name="Text 22"/>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bg-sello.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822960"/>
            <a:ext cx="10789920" cy="237744"/>
          </a:xfrm>
          <a:prstGeom prst="rect">
            <a:avLst/>
          </a:prstGeom>
          <a:noFill/>
          <a:ln/>
        </p:spPr>
        <p:txBody>
          <a:bodyPr wrap="square" lIns="0" tIns="0" rIns="0" bIns="0" rtlCol="0" anchor="t"/>
          <a:lstStyle/>
          <a:p>
            <a:pPr indent="0" marL="0">
              <a:buNone/>
            </a:pPr>
            <a:r>
              <a:rPr lang="en-US" sz="900" spc="140" kern="0" dirty="0">
                <a:solidFill>
                  <a:srgbClr val="C9C4B8"/>
                </a:solidFill>
                <a:latin typeface="Courier New" pitchFamily="34" charset="0"/>
                <a:ea typeface="Courier New" pitchFamily="34" charset="-122"/>
                <a:cs typeface="Courier New" pitchFamily="34" charset="-120"/>
              </a:rPr>
              <a:t>SAID PLAINLY</a:t>
            </a:r>
            <a:pPr indent="0" marL="0">
              <a:buNone/>
            </a:pPr>
            <a:r>
              <a:rPr lang="en-US" sz="900" spc="140" kern="0" dirty="0">
                <a:solidFill>
                  <a:srgbClr val="C9C4B8"/>
                </a:solidFill>
                <a:latin typeface="Courier New" pitchFamily="34" charset="0"/>
                <a:ea typeface="Courier New" pitchFamily="34" charset="-122"/>
                <a:cs typeface="Courier New" pitchFamily="34" charset="-120"/>
              </a:rPr>
              <a:t>   ·   </a:t>
            </a:r>
            <a:pPr indent="0" marL="0">
              <a:buNone/>
            </a:pPr>
            <a:r>
              <a:rPr lang="en-US" sz="900" spc="140" kern="0" dirty="0">
                <a:solidFill>
                  <a:srgbClr val="C9C4B8"/>
                </a:solidFill>
                <a:latin typeface="Courier New" pitchFamily="34" charset="0"/>
                <a:ea typeface="Courier New" pitchFamily="34" charset="-122"/>
                <a:cs typeface="Courier New" pitchFamily="34" charset="-120"/>
              </a:rPr>
              <a:t>DICHO SIN VUELTAS</a:t>
            </a:r>
            <a:endParaRPr lang="en-US" sz="900" dirty="0"/>
          </a:p>
        </p:txBody>
      </p:sp>
      <p:sp>
        <p:nvSpPr>
          <p:cNvPr id="4" name="Text 1"/>
          <p:cNvSpPr/>
          <p:nvPr/>
        </p:nvSpPr>
        <p:spPr>
          <a:xfrm>
            <a:off x="685800" y="1371600"/>
            <a:ext cx="10332720" cy="2103120"/>
          </a:xfrm>
          <a:prstGeom prst="rect">
            <a:avLst/>
          </a:prstGeom>
          <a:noFill/>
          <a:ln/>
        </p:spPr>
        <p:txBody>
          <a:bodyPr wrap="square" lIns="0" tIns="0" rIns="0" bIns="0" rtlCol="0" anchor="t"/>
          <a:lstStyle/>
          <a:p>
            <a:pPr indent="0" marL="0">
              <a:lnSpc>
                <a:spcPct val="120000"/>
              </a:lnSpc>
              <a:spcAft>
                <a:spcPts val="1200"/>
              </a:spcAft>
              <a:buNone/>
            </a:pPr>
            <a:r>
              <a:rPr lang="en-US" sz="2500" dirty="0">
                <a:solidFill>
                  <a:srgbClr val="EDE7DA"/>
                </a:solidFill>
                <a:latin typeface="Century Schoolbook" pitchFamily="34" charset="0"/>
                <a:ea typeface="Century Schoolbook" pitchFamily="34" charset="-122"/>
                <a:cs typeface="Century Schoolbook" pitchFamily="34" charset="-120"/>
              </a:rPr>
              <a:t>VELO proves a sealed case was not altered afterwards and that the admissibility rule was satisfied. Binding it to an accredited expert is designed and specified — the credential circuit is not built yet, and we do not claim it is.</a:t>
            </a:r>
            <a:endParaRPr lang="en-US" sz="2500" dirty="0"/>
          </a:p>
          <a:p>
            <a:pPr indent="0" marL="0">
              <a:lnSpc>
                <a:spcPct val="120000"/>
              </a:lnSpc>
              <a:buNone/>
            </a:pPr>
            <a:r>
              <a:rPr lang="en-US" sz="1600" i="1" dirty="0">
                <a:solidFill>
                  <a:srgbClr val="E4DDCC"/>
                </a:solidFill>
                <a:latin typeface="Century Schoolbook" pitchFamily="34" charset="0"/>
                <a:ea typeface="Century Schoolbook" pitchFamily="34" charset="-122"/>
                <a:cs typeface="Century Schoolbook" pitchFamily="34" charset="-120"/>
              </a:rPr>
              <a:t>VELO prueba que un caso sellado no fue alterado después y que la regla de admisibilidad se cumplió. Ligarlo a un perito acreditado está diseñado y especificado — el circuito de credencial todavía no está construido, y no afirmamos que lo esté.</a:t>
            </a:r>
            <a:endParaRPr lang="en-US" sz="2500" dirty="0"/>
          </a:p>
        </p:txBody>
      </p:sp>
      <p:sp>
        <p:nvSpPr>
          <p:cNvPr id="5" name="Shape 2"/>
          <p:cNvSpPr/>
          <p:nvPr/>
        </p:nvSpPr>
        <p:spPr>
          <a:xfrm>
            <a:off x="685800" y="3840480"/>
            <a:ext cx="10789920" cy="18288"/>
          </a:xfrm>
          <a:prstGeom prst="rect">
            <a:avLst/>
          </a:prstGeom>
          <a:solidFill>
            <a:srgbClr val="E4DDCC"/>
          </a:solidFill>
          <a:ln w="12700">
            <a:solidFill>
              <a:srgbClr val="E4DDCC"/>
            </a:solidFill>
            <a:prstDash val="solid"/>
          </a:ln>
        </p:spPr>
        <p:txBody>
          <a:bodyPr/>
          <a:p/>
        </p:txBody>
      </p:sp>
      <p:sp>
        <p:nvSpPr>
          <p:cNvPr id="6" name="Text 3"/>
          <p:cNvSpPr/>
          <p:nvPr/>
        </p:nvSpPr>
        <p:spPr>
          <a:xfrm>
            <a:off x="685800" y="4151376"/>
            <a:ext cx="10332720" cy="896112"/>
          </a:xfrm>
          <a:prstGeom prst="rect">
            <a:avLst/>
          </a:prstGeom>
          <a:noFill/>
          <a:ln/>
        </p:spPr>
        <p:txBody>
          <a:bodyPr wrap="square" lIns="0" tIns="0" rIns="0" bIns="0" rtlCol="0" anchor="t"/>
          <a:lstStyle/>
          <a:p>
            <a:pPr indent="0" marL="0">
              <a:lnSpc>
                <a:spcPct val="120000"/>
              </a:lnSpc>
              <a:spcAft>
                <a:spcPts val="1200"/>
              </a:spcAft>
              <a:buNone/>
            </a:pPr>
            <a:r>
              <a:rPr lang="en-US" sz="2500" dirty="0">
                <a:solidFill>
                  <a:srgbClr val="EDE7DA"/>
                </a:solidFill>
                <a:latin typeface="Century Schoolbook" pitchFamily="34" charset="0"/>
                <a:ea typeface="Century Schoolbook" pitchFamily="34" charset="-122"/>
                <a:cs typeface="Century Schoolbook" pitchFamily="34" charset="-120"/>
              </a:rPr>
              <a:t>It does not prove the original analysis was performed honestly.</a:t>
            </a:r>
            <a:endParaRPr lang="en-US" sz="2500" dirty="0"/>
          </a:p>
          <a:p>
            <a:pPr indent="0" marL="0">
              <a:lnSpc>
                <a:spcPct val="120000"/>
              </a:lnSpc>
              <a:buNone/>
            </a:pPr>
            <a:r>
              <a:rPr lang="en-US" sz="1600" i="1" dirty="0">
                <a:solidFill>
                  <a:srgbClr val="E4DDCC"/>
                </a:solidFill>
                <a:latin typeface="Century Schoolbook" pitchFamily="34" charset="0"/>
                <a:ea typeface="Century Schoolbook" pitchFamily="34" charset="-122"/>
                <a:cs typeface="Century Schoolbook" pitchFamily="34" charset="-120"/>
              </a:rPr>
              <a:t>No prueba que el análisis original se haya hecho de forma honesta.</a:t>
            </a:r>
            <a:endParaRPr lang="en-US" sz="2500" dirty="0"/>
          </a:p>
        </p:txBody>
      </p:sp>
      <p:sp>
        <p:nvSpPr>
          <p:cNvPr id="7" name="Text 4"/>
          <p:cNvSpPr/>
          <p:nvPr/>
        </p:nvSpPr>
        <p:spPr>
          <a:xfrm>
            <a:off x="685800" y="5431536"/>
            <a:ext cx="5074920" cy="777240"/>
          </a:xfrm>
          <a:prstGeom prst="rect">
            <a:avLst/>
          </a:prstGeom>
          <a:noFill/>
          <a:ln/>
        </p:spPr>
        <p:txBody>
          <a:bodyPr wrap="square" lIns="0" tIns="0" rIns="0" bIns="0" rtlCol="0" anchor="t"/>
          <a:lstStyle/>
          <a:p>
            <a:pPr indent="0" marL="0">
              <a:lnSpc>
                <a:spcPct val="128000"/>
              </a:lnSpc>
              <a:buNone/>
            </a:pPr>
            <a:r>
              <a:rPr lang="en-US" sz="1150" dirty="0">
                <a:solidFill>
                  <a:srgbClr val="E4DDCC"/>
                </a:solidFill>
                <a:latin typeface="Calibri" pitchFamily="34" charset="0"/>
                <a:ea typeface="Calibri" pitchFamily="34" charset="-122"/>
                <a:cs typeface="Calibri" pitchFamily="34" charset="-120"/>
              </a:rPr>
              <a:t>That remains a human and judicial responsibility, exactly as with any forensic report today. VELO removes post-hoc tampering and unverifiable claims of experience. It does not remove a corrupt expert.</a:t>
            </a:r>
            <a:endParaRPr lang="en-US" sz="1150" dirty="0"/>
          </a:p>
        </p:txBody>
      </p:sp>
      <p:sp>
        <p:nvSpPr>
          <p:cNvPr id="8" name="Text 5"/>
          <p:cNvSpPr/>
          <p:nvPr/>
        </p:nvSpPr>
        <p:spPr>
          <a:xfrm>
            <a:off x="6400800" y="5431536"/>
            <a:ext cx="5074920" cy="777240"/>
          </a:xfrm>
          <a:prstGeom prst="rect">
            <a:avLst/>
          </a:prstGeom>
          <a:noFill/>
          <a:ln/>
        </p:spPr>
        <p:txBody>
          <a:bodyPr wrap="square" lIns="0" tIns="0" rIns="0" bIns="0" rtlCol="0" anchor="t"/>
          <a:lstStyle/>
          <a:p>
            <a:pPr indent="0" marL="0">
              <a:lnSpc>
                <a:spcPct val="128000"/>
              </a:lnSpc>
              <a:buNone/>
            </a:pPr>
            <a:r>
              <a:rPr lang="en-US" sz="1150" i="1" dirty="0">
                <a:solidFill>
                  <a:srgbClr val="E4DDCC"/>
                </a:solidFill>
                <a:latin typeface="Calibri" pitchFamily="34" charset="0"/>
                <a:ea typeface="Calibri" pitchFamily="34" charset="-122"/>
                <a:cs typeface="Calibri" pitchFamily="34" charset="-120"/>
              </a:rPr>
              <a:t>Eso sigue siendo responsabilidad humana y judicial, igual que con cualquier peritaje hoy. VELO elimina la manipulación posterior y las afirmaciones de experiencia no verificables. No elimina a un perito corrupto.</a:t>
            </a:r>
            <a:endParaRPr lang="en-US" sz="1150" dirty="0"/>
          </a:p>
        </p:txBody>
      </p:sp>
      <p:sp>
        <p:nvSpPr>
          <p:cNvPr id="9" name="Text 6"/>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C9C4B8"/>
                </a:solidFill>
                <a:latin typeface="Courier New" pitchFamily="34" charset="0"/>
                <a:ea typeface="Courier New" pitchFamily="34" charset="-122"/>
                <a:cs typeface="Courier New" pitchFamily="34" charset="-120"/>
              </a:rPr>
              <a:t>VELO · Professional Evidence Wallet</a:t>
            </a:r>
            <a:endParaRPr lang="en-US" sz="800" dirty="0"/>
          </a:p>
        </p:txBody>
      </p:sp>
      <p:sp>
        <p:nvSpPr>
          <p:cNvPr id="10" name="Text 7"/>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C9C4B8"/>
                </a:solidFill>
                <a:latin typeface="Courier New" pitchFamily="34" charset="0"/>
                <a:ea typeface="Courier New" pitchFamily="34" charset="-122"/>
                <a:cs typeface="Courier New"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10789920" cy="237744"/>
          </a:xfrm>
          <a:prstGeom prst="rect">
            <a:avLst/>
          </a:prstGeom>
          <a:noFill/>
          <a:ln/>
        </p:spPr>
        <p:txBody>
          <a:bodyPr wrap="square" lIns="0" tIns="0" rIns="0" bIns="0" rtlCol="0" anchor="t"/>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THE PATH</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EL CAMINO</a:t>
            </a:r>
            <a:endParaRPr lang="en-US" sz="900" dirty="0"/>
          </a:p>
        </p:txBody>
      </p:sp>
      <p:sp>
        <p:nvSpPr>
          <p:cNvPr id="4" name="Text 1"/>
          <p:cNvSpPr/>
          <p:nvPr/>
        </p:nvSpPr>
        <p:spPr>
          <a:xfrm>
            <a:off x="685800" y="786384"/>
            <a:ext cx="10789920" cy="1071677"/>
          </a:xfrm>
          <a:prstGeom prst="rect">
            <a:avLst/>
          </a:prstGeom>
          <a:noFill/>
          <a:ln/>
        </p:spPr>
        <p:txBody>
          <a:bodyPr wrap="square" lIns="0" tIns="0" rIns="0" bIns="0" rtlCol="0" anchor="t"/>
          <a:lstStyle/>
          <a:p>
            <a:pPr indent="0" marL="0">
              <a:lnSpc>
                <a:spcPct val="114000"/>
              </a:lnSpc>
              <a:spcAft>
                <a:spcPts val="1000"/>
              </a:spcAft>
              <a:buNone/>
            </a:pPr>
            <a:r>
              <a:rPr lang="en-US" sz="3000" dirty="0">
                <a:solidFill>
                  <a:srgbClr val="1C1A17"/>
                </a:solidFill>
                <a:latin typeface="Century Schoolbook" pitchFamily="34" charset="0"/>
                <a:ea typeface="Century Schoolbook" pitchFamily="34" charset="-122"/>
                <a:cs typeface="Century Schoolbook" pitchFamily="34" charset="-120"/>
              </a:rPr>
              <a:t>From one wallet to a market.</a:t>
            </a:r>
            <a:endParaRPr lang="en-US" sz="3000" dirty="0"/>
          </a:p>
          <a:p>
            <a:pPr indent="0" marL="0">
              <a:lnSpc>
                <a:spcPct val="114000"/>
              </a:lnSpc>
              <a:buNone/>
            </a:pPr>
            <a:r>
              <a:rPr lang="en-US" sz="1800" i="1" dirty="0">
                <a:solidFill>
                  <a:srgbClr val="3A3F4B"/>
                </a:solidFill>
                <a:latin typeface="Century Schoolbook" pitchFamily="34" charset="0"/>
                <a:ea typeface="Century Schoolbook" pitchFamily="34" charset="-122"/>
                <a:cs typeface="Century Schoolbook" pitchFamily="34" charset="-120"/>
              </a:rPr>
              <a:t>De una wallet a un mercado.</a:t>
            </a:r>
            <a:endParaRPr lang="en-US" sz="3000" dirty="0"/>
          </a:p>
        </p:txBody>
      </p:sp>
      <p:sp>
        <p:nvSpPr>
          <p:cNvPr id="5" name="Shape 2"/>
          <p:cNvSpPr/>
          <p:nvPr/>
        </p:nvSpPr>
        <p:spPr>
          <a:xfrm>
            <a:off x="685800" y="2315261"/>
            <a:ext cx="3291840" cy="3639312"/>
          </a:xfrm>
          <a:prstGeom prst="rect">
            <a:avLst/>
          </a:prstGeom>
          <a:solidFill>
            <a:srgbClr val="3A3F4B"/>
          </a:solidFill>
          <a:ln w="12700">
            <a:solidFill>
              <a:srgbClr val="3A3F4B"/>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41832" y="2534717"/>
            <a:ext cx="2779776"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AT THE DEMO</a:t>
            </a:r>
            <a:endParaRPr lang="en-US" sz="850" dirty="0"/>
          </a:p>
        </p:txBody>
      </p:sp>
      <p:sp>
        <p:nvSpPr>
          <p:cNvPr id="7" name="Text 4"/>
          <p:cNvSpPr/>
          <p:nvPr/>
        </p:nvSpPr>
        <p:spPr>
          <a:xfrm>
            <a:off x="941832" y="2726741"/>
            <a:ext cx="2779776" cy="201168"/>
          </a:xfrm>
          <a:prstGeom prst="rect">
            <a:avLst/>
          </a:prstGeom>
          <a:noFill/>
          <a:ln/>
        </p:spPr>
        <p:txBody>
          <a:bodyPr wrap="square" lIns="0" tIns="0" rIns="0" bIns="0" rtlCol="0" anchor="t"/>
          <a:lstStyle/>
          <a:p>
            <a:pPr indent="0" marL="0">
              <a:buNone/>
            </a:pPr>
            <a:r>
              <a:rPr lang="en-US" sz="850" spc="120" kern="0" dirty="0">
                <a:solidFill>
                  <a:srgbClr val="C9C4B8"/>
                </a:solidFill>
                <a:latin typeface="Courier New" pitchFamily="34" charset="0"/>
                <a:ea typeface="Courier New" pitchFamily="34" charset="-122"/>
                <a:cs typeface="Courier New" pitchFamily="34" charset="-120"/>
              </a:rPr>
              <a:t>EN LA DEMO</a:t>
            </a:r>
            <a:endParaRPr lang="en-US" sz="850" dirty="0"/>
          </a:p>
        </p:txBody>
      </p:sp>
      <p:sp>
        <p:nvSpPr>
          <p:cNvPr id="8" name="Text 5"/>
          <p:cNvSpPr/>
          <p:nvPr/>
        </p:nvSpPr>
        <p:spPr>
          <a:xfrm>
            <a:off x="941832" y="3156509"/>
            <a:ext cx="2779776" cy="658368"/>
          </a:xfrm>
          <a:prstGeom prst="rect">
            <a:avLst/>
          </a:prstGeom>
          <a:noFill/>
          <a:ln/>
        </p:spPr>
        <p:txBody>
          <a:bodyPr wrap="square" lIns="0" tIns="0" rIns="0" bIns="0" rtlCol="0" anchor="t"/>
          <a:lstStyle/>
          <a:p>
            <a:pPr indent="0" marL="0">
              <a:lnSpc>
                <a:spcPct val="116000"/>
              </a:lnSpc>
              <a:spcAft>
                <a:spcPts val="500"/>
              </a:spcAft>
              <a:buNone/>
            </a:pPr>
            <a:r>
              <a:rPr lang="en-US" sz="1200" dirty="0">
                <a:solidFill>
                  <a:srgbClr val="EDE7DA"/>
                </a:solidFill>
                <a:latin typeface="Calibri" pitchFamily="34" charset="0"/>
                <a:ea typeface="Calibri" pitchFamily="34" charset="-122"/>
                <a:cs typeface="Calibri" pitchFamily="34" charset="-120"/>
              </a:rPr>
              <a:t>Expert profile and sealed-case list</a:t>
            </a:r>
            <a:endParaRPr lang="en-US" sz="1200" dirty="0"/>
          </a:p>
          <a:p>
            <a:pPr indent="0" marL="0">
              <a:lnSpc>
                <a:spcPct val="116000"/>
              </a:lnSpc>
              <a:buNone/>
            </a:pPr>
            <a:r>
              <a:rPr lang="en-US" sz="1100" i="1" dirty="0">
                <a:solidFill>
                  <a:srgbClr val="C9C4B8"/>
                </a:solidFill>
                <a:latin typeface="Calibri" pitchFamily="34" charset="0"/>
                <a:ea typeface="Calibri" pitchFamily="34" charset="-122"/>
                <a:cs typeface="Calibri" pitchFamily="34" charset="-120"/>
              </a:rPr>
              <a:t>Perfil del perito y lista de casos sellados</a:t>
            </a:r>
            <a:endParaRPr lang="en-US" sz="1200" dirty="0"/>
          </a:p>
        </p:txBody>
      </p:sp>
      <p:sp>
        <p:nvSpPr>
          <p:cNvPr id="9" name="Text 6"/>
          <p:cNvSpPr/>
          <p:nvPr/>
        </p:nvSpPr>
        <p:spPr>
          <a:xfrm>
            <a:off x="941832" y="3814877"/>
            <a:ext cx="2779776" cy="658368"/>
          </a:xfrm>
          <a:prstGeom prst="rect">
            <a:avLst/>
          </a:prstGeom>
          <a:noFill/>
          <a:ln/>
        </p:spPr>
        <p:txBody>
          <a:bodyPr wrap="square" lIns="0" tIns="0" rIns="0" bIns="0" rtlCol="0" anchor="t"/>
          <a:lstStyle/>
          <a:p>
            <a:pPr indent="0" marL="0">
              <a:lnSpc>
                <a:spcPct val="116000"/>
              </a:lnSpc>
              <a:spcAft>
                <a:spcPts val="500"/>
              </a:spcAft>
              <a:buNone/>
            </a:pPr>
            <a:r>
              <a:rPr lang="en-US" sz="1200" dirty="0">
                <a:solidFill>
                  <a:srgbClr val="EDE7DA"/>
                </a:solidFill>
                <a:latin typeface="Calibri" pitchFamily="34" charset="0"/>
                <a:ea typeface="Calibri" pitchFamily="34" charset="-122"/>
                <a:cs typeface="Calibri" pitchFamily="34" charset="-120"/>
              </a:rPr>
              <a:t>One case verified end to end</a:t>
            </a:r>
            <a:endParaRPr lang="en-US" sz="1200" dirty="0"/>
          </a:p>
          <a:p>
            <a:pPr indent="0" marL="0">
              <a:lnSpc>
                <a:spcPct val="116000"/>
              </a:lnSpc>
              <a:buNone/>
            </a:pPr>
            <a:r>
              <a:rPr lang="en-US" sz="1100" i="1" dirty="0">
                <a:solidFill>
                  <a:srgbClr val="C9C4B8"/>
                </a:solidFill>
                <a:latin typeface="Calibri" pitchFamily="34" charset="0"/>
                <a:ea typeface="Calibri" pitchFamily="34" charset="-122"/>
                <a:cs typeface="Calibri" pitchFamily="34" charset="-120"/>
              </a:rPr>
              <a:t>Un caso verificado de punta a punta</a:t>
            </a:r>
            <a:endParaRPr lang="en-US" sz="1200" dirty="0"/>
          </a:p>
        </p:txBody>
      </p:sp>
      <p:sp>
        <p:nvSpPr>
          <p:cNvPr id="10" name="Text 7"/>
          <p:cNvSpPr/>
          <p:nvPr/>
        </p:nvSpPr>
        <p:spPr>
          <a:xfrm>
            <a:off x="941832" y="4473245"/>
            <a:ext cx="2779776" cy="658368"/>
          </a:xfrm>
          <a:prstGeom prst="rect">
            <a:avLst/>
          </a:prstGeom>
          <a:noFill/>
          <a:ln/>
        </p:spPr>
        <p:txBody>
          <a:bodyPr wrap="square" lIns="0" tIns="0" rIns="0" bIns="0" rtlCol="0" anchor="t"/>
          <a:lstStyle/>
          <a:p>
            <a:pPr indent="0" marL="0">
              <a:lnSpc>
                <a:spcPct val="116000"/>
              </a:lnSpc>
              <a:spcAft>
                <a:spcPts val="500"/>
              </a:spcAft>
              <a:buNone/>
            </a:pPr>
            <a:r>
              <a:rPr lang="en-US" sz="1200" dirty="0">
                <a:solidFill>
                  <a:srgbClr val="EDE7DA"/>
                </a:solidFill>
                <a:latin typeface="Calibri" pitchFamily="34" charset="0"/>
                <a:ea typeface="Calibri" pitchFamily="34" charset="-122"/>
                <a:cs typeface="Calibri" pitchFamily="34" charset="-120"/>
              </a:rPr>
              <a:t>Admissibility gate enforced inside the compiled circuit</a:t>
            </a:r>
            <a:endParaRPr lang="en-US" sz="1200" dirty="0"/>
          </a:p>
          <a:p>
            <a:pPr indent="0" marL="0">
              <a:lnSpc>
                <a:spcPct val="116000"/>
              </a:lnSpc>
              <a:buNone/>
            </a:pPr>
            <a:r>
              <a:rPr lang="en-US" sz="1100" i="1" dirty="0">
                <a:solidFill>
                  <a:srgbClr val="C9C4B8"/>
                </a:solidFill>
                <a:latin typeface="Calibri" pitchFamily="34" charset="0"/>
                <a:ea typeface="Calibri" pitchFamily="34" charset="-122"/>
                <a:cs typeface="Calibri" pitchFamily="34" charset="-120"/>
              </a:rPr>
              <a:t>Gate de admisibilidad impuesto dentro del circuito compilado</a:t>
            </a:r>
            <a:endParaRPr lang="en-US" sz="1200" dirty="0"/>
          </a:p>
        </p:txBody>
      </p:sp>
      <p:sp>
        <p:nvSpPr>
          <p:cNvPr id="11" name="Text 8"/>
          <p:cNvSpPr/>
          <p:nvPr/>
        </p:nvSpPr>
        <p:spPr>
          <a:xfrm>
            <a:off x="941832" y="5131613"/>
            <a:ext cx="2779776" cy="658368"/>
          </a:xfrm>
          <a:prstGeom prst="rect">
            <a:avLst/>
          </a:prstGeom>
          <a:noFill/>
          <a:ln/>
        </p:spPr>
        <p:txBody>
          <a:bodyPr wrap="square" lIns="0" tIns="0" rIns="0" bIns="0" rtlCol="0" anchor="t"/>
          <a:lstStyle/>
          <a:p>
            <a:pPr indent="0" marL="0">
              <a:lnSpc>
                <a:spcPct val="116000"/>
              </a:lnSpc>
              <a:spcAft>
                <a:spcPts val="500"/>
              </a:spcAft>
              <a:buNone/>
            </a:pPr>
            <a:r>
              <a:rPr lang="en-US" sz="1200" dirty="0">
                <a:solidFill>
                  <a:srgbClr val="EDE7DA"/>
                </a:solidFill>
                <a:latin typeface="Calibri" pitchFamily="34" charset="0"/>
                <a:ea typeface="Calibri" pitchFamily="34" charset="-122"/>
                <a:cs typeface="Calibri" pitchFamily="34" charset="-120"/>
              </a:rPr>
              <a:t>Evidence never leaves the wallet</a:t>
            </a:r>
            <a:endParaRPr lang="en-US" sz="1200" dirty="0"/>
          </a:p>
          <a:p>
            <a:pPr indent="0" marL="0">
              <a:lnSpc>
                <a:spcPct val="116000"/>
              </a:lnSpc>
              <a:buNone/>
            </a:pPr>
            <a:r>
              <a:rPr lang="en-US" sz="1100" i="1" dirty="0">
                <a:solidFill>
                  <a:srgbClr val="C9C4B8"/>
                </a:solidFill>
                <a:latin typeface="Calibri" pitchFamily="34" charset="0"/>
                <a:ea typeface="Calibri" pitchFamily="34" charset="-122"/>
                <a:cs typeface="Calibri" pitchFamily="34" charset="-120"/>
              </a:rPr>
              <a:t>La evidencia nunca sale de la wallet</a:t>
            </a:r>
            <a:endParaRPr lang="en-US" sz="1200" dirty="0"/>
          </a:p>
        </p:txBody>
      </p:sp>
      <p:sp>
        <p:nvSpPr>
          <p:cNvPr id="12" name="Shape 9"/>
          <p:cNvSpPr/>
          <p:nvPr/>
        </p:nvSpPr>
        <p:spPr>
          <a:xfrm>
            <a:off x="4434840" y="2315261"/>
            <a:ext cx="3291840" cy="3639312"/>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13" name="Text 10"/>
          <p:cNvSpPr/>
          <p:nvPr/>
        </p:nvSpPr>
        <p:spPr>
          <a:xfrm>
            <a:off x="4690872" y="2534717"/>
            <a:ext cx="2779776"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NEXT</a:t>
            </a:r>
            <a:endParaRPr lang="en-US" sz="850" dirty="0"/>
          </a:p>
        </p:txBody>
      </p:sp>
      <p:sp>
        <p:nvSpPr>
          <p:cNvPr id="14" name="Text 11"/>
          <p:cNvSpPr/>
          <p:nvPr/>
        </p:nvSpPr>
        <p:spPr>
          <a:xfrm>
            <a:off x="4690872" y="2726741"/>
            <a:ext cx="2779776"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DESPUÉS</a:t>
            </a:r>
            <a:endParaRPr lang="en-US" sz="850" dirty="0"/>
          </a:p>
        </p:txBody>
      </p:sp>
      <p:sp>
        <p:nvSpPr>
          <p:cNvPr id="15" name="Text 12"/>
          <p:cNvSpPr/>
          <p:nvPr/>
        </p:nvSpPr>
        <p:spPr>
          <a:xfrm>
            <a:off x="4690872" y="3156509"/>
            <a:ext cx="2779776" cy="658368"/>
          </a:xfrm>
          <a:prstGeom prst="rect">
            <a:avLst/>
          </a:prstGeom>
          <a:noFill/>
          <a:ln/>
        </p:spPr>
        <p:txBody>
          <a:bodyPr wrap="square" lIns="0" tIns="0" rIns="0" bIns="0" rtlCol="0" anchor="t"/>
          <a:lstStyle/>
          <a:p>
            <a:pPr indent="0" marL="0">
              <a:lnSpc>
                <a:spcPct val="116000"/>
              </a:lnSpc>
              <a:spcAft>
                <a:spcPts val="500"/>
              </a:spcAft>
              <a:buNone/>
            </a:pPr>
            <a:r>
              <a:rPr lang="en-US" sz="1200" dirty="0">
                <a:solidFill>
                  <a:srgbClr val="1C1A17"/>
                </a:solidFill>
                <a:latin typeface="Calibri" pitchFamily="34" charset="0"/>
                <a:ea typeface="Calibri" pitchFamily="34" charset="-122"/>
                <a:cs typeface="Calibri" pitchFamily="34" charset="-120"/>
              </a:rPr>
              <a:t>Deploy to testnet, and the anonymous expert credential</a:t>
            </a:r>
            <a:endParaRPr lang="en-US" sz="1200" dirty="0"/>
          </a:p>
          <a:p>
            <a:pPr indent="0" marL="0">
              <a:lnSpc>
                <a:spcPct val="116000"/>
              </a:lnSpc>
              <a:buNone/>
            </a:pPr>
            <a:r>
              <a:rPr lang="en-US" sz="1100" i="1" dirty="0">
                <a:solidFill>
                  <a:srgbClr val="3A3F4B"/>
                </a:solidFill>
                <a:latin typeface="Calibri" pitchFamily="34" charset="0"/>
                <a:ea typeface="Calibri" pitchFamily="34" charset="-122"/>
                <a:cs typeface="Calibri" pitchFamily="34" charset="-120"/>
              </a:rPr>
              <a:t>Deploy a testnet, y la credencial anónima del perito</a:t>
            </a:r>
            <a:endParaRPr lang="en-US" sz="1200" dirty="0"/>
          </a:p>
        </p:txBody>
      </p:sp>
      <p:sp>
        <p:nvSpPr>
          <p:cNvPr id="16" name="Text 13"/>
          <p:cNvSpPr/>
          <p:nvPr/>
        </p:nvSpPr>
        <p:spPr>
          <a:xfrm>
            <a:off x="4690872" y="3814877"/>
            <a:ext cx="2779776" cy="658368"/>
          </a:xfrm>
          <a:prstGeom prst="rect">
            <a:avLst/>
          </a:prstGeom>
          <a:noFill/>
          <a:ln/>
        </p:spPr>
        <p:txBody>
          <a:bodyPr wrap="square" lIns="0" tIns="0" rIns="0" bIns="0" rtlCol="0" anchor="t"/>
          <a:lstStyle/>
          <a:p>
            <a:pPr indent="0" marL="0">
              <a:lnSpc>
                <a:spcPct val="116000"/>
              </a:lnSpc>
              <a:spcAft>
                <a:spcPts val="500"/>
              </a:spcAft>
              <a:buNone/>
            </a:pPr>
            <a:r>
              <a:rPr lang="en-US" sz="1200" dirty="0">
                <a:solidFill>
                  <a:srgbClr val="1C1A17"/>
                </a:solidFill>
                <a:latin typeface="Calibri" pitchFamily="34" charset="0"/>
                <a:ea typeface="Calibri" pitchFamily="34" charset="-122"/>
                <a:cs typeface="Calibri" pitchFamily="34" charset="-120"/>
              </a:rPr>
              <a:t>Institutional dashboards</a:t>
            </a:r>
            <a:endParaRPr lang="en-US" sz="1200" dirty="0"/>
          </a:p>
          <a:p>
            <a:pPr indent="0" marL="0">
              <a:lnSpc>
                <a:spcPct val="116000"/>
              </a:lnSpc>
              <a:buNone/>
            </a:pPr>
            <a:r>
              <a:rPr lang="en-US" sz="1100" i="1" dirty="0">
                <a:solidFill>
                  <a:srgbClr val="3A3F4B"/>
                </a:solidFill>
                <a:latin typeface="Calibri" pitchFamily="34" charset="0"/>
                <a:ea typeface="Calibri" pitchFamily="34" charset="-122"/>
                <a:cs typeface="Calibri" pitchFamily="34" charset="-120"/>
              </a:rPr>
              <a:t>Tableros institucionales</a:t>
            </a:r>
            <a:endParaRPr lang="en-US" sz="1200" dirty="0"/>
          </a:p>
        </p:txBody>
      </p:sp>
      <p:sp>
        <p:nvSpPr>
          <p:cNvPr id="17" name="Text 14"/>
          <p:cNvSpPr/>
          <p:nvPr/>
        </p:nvSpPr>
        <p:spPr>
          <a:xfrm>
            <a:off x="4690872" y="4473245"/>
            <a:ext cx="2779776" cy="658368"/>
          </a:xfrm>
          <a:prstGeom prst="rect">
            <a:avLst/>
          </a:prstGeom>
          <a:noFill/>
          <a:ln/>
        </p:spPr>
        <p:txBody>
          <a:bodyPr wrap="square" lIns="0" tIns="0" rIns="0" bIns="0" rtlCol="0" anchor="t"/>
          <a:lstStyle/>
          <a:p>
            <a:pPr indent="0" marL="0">
              <a:lnSpc>
                <a:spcPct val="116000"/>
              </a:lnSpc>
              <a:spcAft>
                <a:spcPts val="500"/>
              </a:spcAft>
              <a:buNone/>
            </a:pPr>
            <a:r>
              <a:rPr lang="en-US" sz="1200" dirty="0">
                <a:solidFill>
                  <a:srgbClr val="1C1A17"/>
                </a:solidFill>
                <a:latin typeface="Calibri" pitchFamily="34" charset="0"/>
                <a:ea typeface="Calibri" pitchFamily="34" charset="-122"/>
                <a:cs typeface="Calibri" pitchFamily="34" charset="-120"/>
              </a:rPr>
              <a:t>Judge-initiated selective disclosure</a:t>
            </a:r>
            <a:endParaRPr lang="en-US" sz="1200" dirty="0"/>
          </a:p>
          <a:p>
            <a:pPr indent="0" marL="0">
              <a:lnSpc>
                <a:spcPct val="116000"/>
              </a:lnSpc>
              <a:buNone/>
            </a:pPr>
            <a:r>
              <a:rPr lang="en-US" sz="1100" i="1" dirty="0">
                <a:solidFill>
                  <a:srgbClr val="3A3F4B"/>
                </a:solidFill>
                <a:latin typeface="Calibri" pitchFamily="34" charset="0"/>
                <a:ea typeface="Calibri" pitchFamily="34" charset="-122"/>
                <a:cs typeface="Calibri" pitchFamily="34" charset="-120"/>
              </a:rPr>
              <a:t>Divulgación selectiva iniciada por el juez</a:t>
            </a:r>
            <a:endParaRPr lang="en-US" sz="1200" dirty="0"/>
          </a:p>
        </p:txBody>
      </p:sp>
      <p:sp>
        <p:nvSpPr>
          <p:cNvPr id="18" name="Shape 15"/>
          <p:cNvSpPr/>
          <p:nvPr/>
        </p:nvSpPr>
        <p:spPr>
          <a:xfrm>
            <a:off x="8183880" y="2315261"/>
            <a:ext cx="3291840" cy="3639312"/>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19" name="Text 16"/>
          <p:cNvSpPr/>
          <p:nvPr/>
        </p:nvSpPr>
        <p:spPr>
          <a:xfrm>
            <a:off x="8439912" y="2534717"/>
            <a:ext cx="2779776" cy="201168"/>
          </a:xfrm>
          <a:prstGeom prst="rect">
            <a:avLst/>
          </a:prstGeom>
          <a:noFill/>
          <a:ln/>
        </p:spPr>
        <p:txBody>
          <a:bodyPr wrap="square" lIns="0" tIns="0" rIns="0" bIns="0" rtlCol="0" anchor="t"/>
          <a:lstStyle/>
          <a:p>
            <a:pPr indent="0" marL="0">
              <a:buNone/>
            </a:pPr>
            <a:r>
              <a:rPr lang="en-US" sz="850" spc="120" kern="0" dirty="0">
                <a:solidFill>
                  <a:srgbClr val="8B3A2F"/>
                </a:solidFill>
                <a:latin typeface="Courier New" pitchFamily="34" charset="0"/>
                <a:ea typeface="Courier New" pitchFamily="34" charset="-122"/>
                <a:cs typeface="Courier New" pitchFamily="34" charset="-120"/>
              </a:rPr>
              <a:t>LATER</a:t>
            </a:r>
            <a:endParaRPr lang="en-US" sz="850" dirty="0"/>
          </a:p>
        </p:txBody>
      </p:sp>
      <p:sp>
        <p:nvSpPr>
          <p:cNvPr id="20" name="Text 17"/>
          <p:cNvSpPr/>
          <p:nvPr/>
        </p:nvSpPr>
        <p:spPr>
          <a:xfrm>
            <a:off x="8439912" y="2726741"/>
            <a:ext cx="2779776" cy="201168"/>
          </a:xfrm>
          <a:prstGeom prst="rect">
            <a:avLst/>
          </a:prstGeom>
          <a:noFill/>
          <a:ln/>
        </p:spPr>
        <p:txBody>
          <a:bodyPr wrap="square" lIns="0" tIns="0" rIns="0" bIns="0" rtlCol="0" anchor="t"/>
          <a:lstStyle/>
          <a:p>
            <a:pPr indent="0" marL="0">
              <a:buNone/>
            </a:pPr>
            <a:r>
              <a:rPr lang="en-US" sz="850" spc="120" kern="0" dirty="0">
                <a:solidFill>
                  <a:srgbClr val="6B6257"/>
                </a:solidFill>
                <a:latin typeface="Courier New" pitchFamily="34" charset="0"/>
                <a:ea typeface="Courier New" pitchFamily="34" charset="-122"/>
                <a:cs typeface="Courier New" pitchFamily="34" charset="-120"/>
              </a:rPr>
              <a:t>MÁS ADELANTE</a:t>
            </a:r>
            <a:endParaRPr lang="en-US" sz="850" dirty="0"/>
          </a:p>
        </p:txBody>
      </p:sp>
      <p:sp>
        <p:nvSpPr>
          <p:cNvPr id="21" name="Text 18"/>
          <p:cNvSpPr/>
          <p:nvPr/>
        </p:nvSpPr>
        <p:spPr>
          <a:xfrm>
            <a:off x="8439912" y="3156509"/>
            <a:ext cx="2779776" cy="658368"/>
          </a:xfrm>
          <a:prstGeom prst="rect">
            <a:avLst/>
          </a:prstGeom>
          <a:noFill/>
          <a:ln/>
        </p:spPr>
        <p:txBody>
          <a:bodyPr wrap="square" lIns="0" tIns="0" rIns="0" bIns="0" rtlCol="0" anchor="t"/>
          <a:lstStyle/>
          <a:p>
            <a:pPr indent="0" marL="0">
              <a:lnSpc>
                <a:spcPct val="116000"/>
              </a:lnSpc>
              <a:spcAft>
                <a:spcPts val="500"/>
              </a:spcAft>
              <a:buNone/>
            </a:pPr>
            <a:r>
              <a:rPr lang="en-US" sz="1200" dirty="0">
                <a:solidFill>
                  <a:srgbClr val="1C1A17"/>
                </a:solidFill>
                <a:latin typeface="Calibri" pitchFamily="34" charset="0"/>
                <a:ea typeface="Calibri" pitchFamily="34" charset="-122"/>
                <a:cs typeface="Calibri" pitchFamily="34" charset="-120"/>
              </a:rPr>
              <a:t>Multi-expert attestation network</a:t>
            </a:r>
            <a:endParaRPr lang="en-US" sz="1200" dirty="0"/>
          </a:p>
          <a:p>
            <a:pPr indent="0" marL="0">
              <a:lnSpc>
                <a:spcPct val="116000"/>
              </a:lnSpc>
              <a:buNone/>
            </a:pPr>
            <a:r>
              <a:rPr lang="en-US" sz="1100" i="1" dirty="0">
                <a:solidFill>
                  <a:srgbClr val="3A3F4B"/>
                </a:solidFill>
                <a:latin typeface="Calibri" pitchFamily="34" charset="0"/>
                <a:ea typeface="Calibri" pitchFamily="34" charset="-122"/>
                <a:cs typeface="Calibri" pitchFamily="34" charset="-120"/>
              </a:rPr>
              <a:t>Red de atestación multi-perito</a:t>
            </a:r>
            <a:endParaRPr lang="en-US" sz="1200" dirty="0"/>
          </a:p>
        </p:txBody>
      </p:sp>
      <p:sp>
        <p:nvSpPr>
          <p:cNvPr id="22" name="Text 19"/>
          <p:cNvSpPr/>
          <p:nvPr/>
        </p:nvSpPr>
        <p:spPr>
          <a:xfrm>
            <a:off x="8439912" y="3814877"/>
            <a:ext cx="2779776" cy="658368"/>
          </a:xfrm>
          <a:prstGeom prst="rect">
            <a:avLst/>
          </a:prstGeom>
          <a:noFill/>
          <a:ln/>
        </p:spPr>
        <p:txBody>
          <a:bodyPr wrap="square" lIns="0" tIns="0" rIns="0" bIns="0" rtlCol="0" anchor="t"/>
          <a:lstStyle/>
          <a:p>
            <a:pPr indent="0" marL="0">
              <a:lnSpc>
                <a:spcPct val="116000"/>
              </a:lnSpc>
              <a:spcAft>
                <a:spcPts val="500"/>
              </a:spcAft>
              <a:buNone/>
            </a:pPr>
            <a:r>
              <a:rPr lang="en-US" sz="1200" dirty="0">
                <a:solidFill>
                  <a:srgbClr val="1C1A17"/>
                </a:solidFill>
                <a:latin typeface="Calibri" pitchFamily="34" charset="0"/>
                <a:ea typeface="Calibri" pitchFamily="34" charset="-122"/>
                <a:cs typeface="Calibri" pitchFamily="34" charset="-120"/>
              </a:rPr>
              <a:t>Accreditation-authority integrations</a:t>
            </a:r>
            <a:endParaRPr lang="en-US" sz="1200" dirty="0"/>
          </a:p>
          <a:p>
            <a:pPr indent="0" marL="0">
              <a:lnSpc>
                <a:spcPct val="116000"/>
              </a:lnSpc>
              <a:buNone/>
            </a:pPr>
            <a:r>
              <a:rPr lang="en-US" sz="1100" i="1" dirty="0">
                <a:solidFill>
                  <a:srgbClr val="3A3F4B"/>
                </a:solidFill>
                <a:latin typeface="Calibri" pitchFamily="34" charset="0"/>
                <a:ea typeface="Calibri" pitchFamily="34" charset="-122"/>
                <a:cs typeface="Calibri" pitchFamily="34" charset="-120"/>
              </a:rPr>
              <a:t>Integraciones con autoridades de acreditación</a:t>
            </a:r>
            <a:endParaRPr lang="en-US" sz="1200" dirty="0"/>
          </a:p>
        </p:txBody>
      </p:sp>
      <p:sp>
        <p:nvSpPr>
          <p:cNvPr id="23" name="Text 20"/>
          <p:cNvSpPr/>
          <p:nvPr/>
        </p:nvSpPr>
        <p:spPr>
          <a:xfrm>
            <a:off x="8439912" y="4473245"/>
            <a:ext cx="2779776" cy="658368"/>
          </a:xfrm>
          <a:prstGeom prst="rect">
            <a:avLst/>
          </a:prstGeom>
          <a:noFill/>
          <a:ln/>
        </p:spPr>
        <p:txBody>
          <a:bodyPr wrap="square" lIns="0" tIns="0" rIns="0" bIns="0" rtlCol="0" anchor="t"/>
          <a:lstStyle/>
          <a:p>
            <a:pPr indent="0" marL="0">
              <a:lnSpc>
                <a:spcPct val="116000"/>
              </a:lnSpc>
              <a:spcAft>
                <a:spcPts val="500"/>
              </a:spcAft>
              <a:buNone/>
            </a:pPr>
            <a:r>
              <a:rPr lang="en-US" sz="1200" dirty="0">
                <a:solidFill>
                  <a:srgbClr val="1C1A17"/>
                </a:solidFill>
                <a:latin typeface="Calibri" pitchFamily="34" charset="0"/>
                <a:ea typeface="Calibri" pitchFamily="34" charset="-122"/>
                <a:cs typeface="Calibri" pitchFamily="34" charset="-120"/>
              </a:rPr>
              <a:t>Blind second opinion between experts</a:t>
            </a:r>
            <a:endParaRPr lang="en-US" sz="1200" dirty="0"/>
          </a:p>
          <a:p>
            <a:pPr indent="0" marL="0">
              <a:lnSpc>
                <a:spcPct val="116000"/>
              </a:lnSpc>
              <a:buNone/>
            </a:pPr>
            <a:r>
              <a:rPr lang="en-US" sz="1100" i="1" dirty="0">
                <a:solidFill>
                  <a:srgbClr val="3A3F4B"/>
                </a:solidFill>
                <a:latin typeface="Calibri" pitchFamily="34" charset="0"/>
                <a:ea typeface="Calibri" pitchFamily="34" charset="-122"/>
                <a:cs typeface="Calibri" pitchFamily="34" charset="-120"/>
              </a:rPr>
              <a:t>Segunda opinión ciega entre peritos</a:t>
            </a:r>
            <a:endParaRPr lang="en-US" sz="1200" dirty="0"/>
          </a:p>
        </p:txBody>
      </p:sp>
      <p:sp>
        <p:nvSpPr>
          <p:cNvPr id="24" name="Text 21"/>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a:t>
            </a:r>
            <a:endParaRPr lang="en-US" sz="800" dirty="0"/>
          </a:p>
        </p:txBody>
      </p:sp>
      <p:sp>
        <p:nvSpPr>
          <p:cNvPr id="25" name="Text 22"/>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bg-veil.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822960"/>
            <a:ext cx="10058400" cy="274320"/>
          </a:xfrm>
          <a:prstGeom prst="rect">
            <a:avLst/>
          </a:prstGeom>
          <a:noFill/>
          <a:ln/>
        </p:spPr>
        <p:txBody>
          <a:bodyPr wrap="square" lIns="0" tIns="0" rIns="0" bIns="0" rtlCol="0" anchor="ctr"/>
          <a:lstStyle/>
          <a:p>
            <a:pPr indent="0" marL="0">
              <a:buNone/>
            </a:pPr>
            <a:r>
              <a:rPr lang="en-US" sz="950" spc="180" kern="0" dirty="0">
                <a:solidFill>
                  <a:srgbClr val="C9C4B8"/>
                </a:solidFill>
                <a:latin typeface="Courier New" pitchFamily="34" charset="0"/>
                <a:ea typeface="Courier New" pitchFamily="34" charset="-122"/>
                <a:cs typeface="Courier New" pitchFamily="34" charset="-120"/>
              </a:rPr>
              <a:t>THE PITCH, IN ONE SENTENCE · EL PITCH, EN UNA ORACIÓN</a:t>
            </a:r>
            <a:endParaRPr lang="en-US" sz="950" dirty="0"/>
          </a:p>
        </p:txBody>
      </p:sp>
      <p:sp>
        <p:nvSpPr>
          <p:cNvPr id="4" name="Text 1"/>
          <p:cNvSpPr/>
          <p:nvPr/>
        </p:nvSpPr>
        <p:spPr>
          <a:xfrm>
            <a:off x="685800" y="1207008"/>
            <a:ext cx="10515600" cy="2377440"/>
          </a:xfrm>
          <a:prstGeom prst="rect">
            <a:avLst/>
          </a:prstGeom>
          <a:noFill/>
          <a:ln/>
        </p:spPr>
        <p:txBody>
          <a:bodyPr wrap="square" lIns="0" tIns="0" rIns="0" bIns="0" rtlCol="0" anchor="t"/>
          <a:lstStyle/>
          <a:p>
            <a:pPr indent="0" marL="0">
              <a:lnSpc>
                <a:spcPct val="120000"/>
              </a:lnSpc>
              <a:spcAft>
                <a:spcPts val="1400"/>
              </a:spcAft>
              <a:buNone/>
            </a:pPr>
            <a:r>
              <a:rPr lang="en-US" sz="2800" dirty="0">
                <a:solidFill>
                  <a:srgbClr val="EDE7DA"/>
                </a:solidFill>
                <a:latin typeface="Century Schoolbook" pitchFamily="34" charset="0"/>
                <a:ea typeface="Century Schoolbook" pitchFamily="34" charset="-122"/>
                <a:cs typeface="Century Schoolbook" pitchFamily="34" charset="-120"/>
              </a:rPr>
              <a:t>VELO is a reputation layer for forensic professionals:</a:t>
            </a:r>
            <a:endParaRPr lang="en-US" sz="2800" dirty="0"/>
          </a:p>
          <a:p>
            <a:pPr indent="0" marL="0">
              <a:lnSpc>
                <a:spcPct val="120000"/>
              </a:lnSpc>
              <a:spcAft>
                <a:spcPts val="1400"/>
              </a:spcAft>
              <a:buNone/>
            </a:pPr>
            <a:r>
              <a:rPr lang="en-US" sz="2800" dirty="0">
                <a:solidFill>
                  <a:srgbClr val="EDE7DA"/>
                </a:solidFill>
                <a:latin typeface="Century Schoolbook" pitchFamily="34" charset="0"/>
                <a:ea typeface="Century Schoolbook" pitchFamily="34" charset="-122"/>
                <a:cs typeface="Century Schoolbook" pitchFamily="34" charset="-120"/>
              </a:rPr>
              <a:t>prove the quality of your work without exposing the evidence.</a:t>
            </a:r>
            <a:endParaRPr lang="en-US" sz="2800" dirty="0"/>
          </a:p>
          <a:p>
            <a:pPr indent="0" marL="0">
              <a:lnSpc>
                <a:spcPct val="120000"/>
              </a:lnSpc>
              <a:buNone/>
            </a:pPr>
            <a:r>
              <a:rPr lang="en-US" sz="1900" i="1" dirty="0">
                <a:solidFill>
                  <a:srgbClr val="C9C4B8"/>
                </a:solidFill>
                <a:latin typeface="Century Schoolbook" pitchFamily="34" charset="0"/>
                <a:ea typeface="Century Schoolbook" pitchFamily="34" charset="-122"/>
                <a:cs typeface="Century Schoolbook" pitchFamily="34" charset="-120"/>
              </a:rPr>
              <a:t>VELO es una capa de reputación para peritos forenses:</a:t>
            </a:r>
            <a:endParaRPr lang="en-US" sz="2800" dirty="0"/>
          </a:p>
          <a:p>
            <a:pPr indent="0" marL="0">
              <a:lnSpc>
                <a:spcPct val="120000"/>
              </a:lnSpc>
              <a:buNone/>
            </a:pPr>
            <a:r>
              <a:rPr lang="en-US" sz="1900" i="1" dirty="0">
                <a:solidFill>
                  <a:srgbClr val="C9C4B8"/>
                </a:solidFill>
                <a:latin typeface="Century Schoolbook" pitchFamily="34" charset="0"/>
                <a:ea typeface="Century Schoolbook" pitchFamily="34" charset="-122"/>
                <a:cs typeface="Century Schoolbook" pitchFamily="34" charset="-120"/>
              </a:rPr>
              <a:t>demostrar la calidad del trabajo sin exponer la evidencia.</a:t>
            </a:r>
            <a:endParaRPr lang="en-US" sz="2800" dirty="0"/>
          </a:p>
        </p:txBody>
      </p:sp>
      <p:sp>
        <p:nvSpPr>
          <p:cNvPr id="5" name="Shape 2"/>
          <p:cNvSpPr/>
          <p:nvPr/>
        </p:nvSpPr>
        <p:spPr>
          <a:xfrm>
            <a:off x="685800" y="3913632"/>
            <a:ext cx="2478024" cy="1463040"/>
          </a:xfrm>
          <a:prstGeom prst="rect">
            <a:avLst/>
          </a:prstGeom>
          <a:solidFill>
            <a:srgbClr val="2E323C"/>
          </a:solidFill>
          <a:ln w="12700">
            <a:solidFill>
              <a:srgbClr val="C9C4B8"/>
            </a:solidFill>
            <a:prstDash val="solid"/>
          </a:ln>
        </p:spPr>
        <p:txBody>
          <a:bodyPr/>
          <a:p/>
        </p:txBody>
      </p:sp>
      <p:sp>
        <p:nvSpPr>
          <p:cNvPr id="6" name="Text 3"/>
          <p:cNvSpPr/>
          <p:nvPr/>
        </p:nvSpPr>
        <p:spPr>
          <a:xfrm>
            <a:off x="905256" y="4096512"/>
            <a:ext cx="2039112" cy="237744"/>
          </a:xfrm>
          <a:prstGeom prst="rect">
            <a:avLst/>
          </a:prstGeom>
          <a:noFill/>
          <a:ln/>
        </p:spPr>
        <p:txBody>
          <a:bodyPr wrap="square" lIns="0" tIns="0" rIns="0" bIns="0" rtlCol="0" anchor="t"/>
          <a:lstStyle/>
          <a:p>
            <a:pPr indent="0" marL="0">
              <a:buNone/>
            </a:pPr>
            <a:r>
              <a:rPr lang="en-US" sz="800" spc="110" kern="0" dirty="0">
                <a:solidFill>
                  <a:srgbClr val="C9C4B8"/>
                </a:solidFill>
                <a:latin typeface="Courier New" pitchFamily="34" charset="0"/>
                <a:ea typeface="Courier New" pitchFamily="34" charset="-122"/>
                <a:cs typeface="Courier New" pitchFamily="34" charset="-120"/>
              </a:rPr>
              <a:t>EVIDENCE · EVIDENCIA</a:t>
            </a:r>
            <a:endParaRPr lang="en-US" sz="800" dirty="0"/>
          </a:p>
        </p:txBody>
      </p:sp>
      <p:sp>
        <p:nvSpPr>
          <p:cNvPr id="7" name="Text 4"/>
          <p:cNvSpPr/>
          <p:nvPr/>
        </p:nvSpPr>
        <p:spPr>
          <a:xfrm>
            <a:off x="905256" y="4443984"/>
            <a:ext cx="2039112" cy="822960"/>
          </a:xfrm>
          <a:prstGeom prst="rect">
            <a:avLst/>
          </a:prstGeom>
          <a:noFill/>
          <a:ln/>
        </p:spPr>
        <p:txBody>
          <a:bodyPr wrap="square" lIns="0" tIns="0" rIns="0" bIns="0" rtlCol="0" anchor="t"/>
          <a:lstStyle/>
          <a:p>
            <a:pPr indent="0" marL="0">
              <a:lnSpc>
                <a:spcPct val="124000"/>
              </a:lnSpc>
              <a:spcAft>
                <a:spcPts val="1000"/>
              </a:spcAft>
              <a:buNone/>
            </a:pPr>
            <a:r>
              <a:rPr lang="en-US" sz="1400" dirty="0">
                <a:solidFill>
                  <a:srgbClr val="EDE7DA"/>
                </a:solidFill>
                <a:latin typeface="Calibri" pitchFamily="34" charset="0"/>
                <a:ea typeface="Calibri" pitchFamily="34" charset="-122"/>
                <a:cs typeface="Calibri" pitchFamily="34" charset="-120"/>
              </a:rPr>
              <a:t>Private.</a:t>
            </a:r>
            <a:endParaRPr lang="en-US" sz="1400" dirty="0"/>
          </a:p>
          <a:p>
            <a:pPr indent="0" marL="0">
              <a:lnSpc>
                <a:spcPct val="124000"/>
              </a:lnSpc>
              <a:buNone/>
            </a:pPr>
            <a:r>
              <a:rPr lang="en-US" sz="1300" i="1" dirty="0">
                <a:solidFill>
                  <a:srgbClr val="C9C4B8"/>
                </a:solidFill>
                <a:latin typeface="Calibri" pitchFamily="34" charset="0"/>
                <a:ea typeface="Calibri" pitchFamily="34" charset="-122"/>
                <a:cs typeface="Calibri" pitchFamily="34" charset="-120"/>
              </a:rPr>
              <a:t>Privada.</a:t>
            </a:r>
            <a:endParaRPr lang="en-US" sz="1400" dirty="0"/>
          </a:p>
        </p:txBody>
      </p:sp>
      <p:sp>
        <p:nvSpPr>
          <p:cNvPr id="8" name="Shape 5"/>
          <p:cNvSpPr/>
          <p:nvPr/>
        </p:nvSpPr>
        <p:spPr>
          <a:xfrm>
            <a:off x="3456432" y="3913632"/>
            <a:ext cx="2478024" cy="1463040"/>
          </a:xfrm>
          <a:prstGeom prst="rect">
            <a:avLst/>
          </a:prstGeom>
          <a:solidFill>
            <a:srgbClr val="2E323C"/>
          </a:solidFill>
          <a:ln w="12700">
            <a:solidFill>
              <a:srgbClr val="C9C4B8"/>
            </a:solidFill>
            <a:prstDash val="solid"/>
          </a:ln>
        </p:spPr>
        <p:txBody>
          <a:bodyPr/>
          <a:p/>
        </p:txBody>
      </p:sp>
      <p:sp>
        <p:nvSpPr>
          <p:cNvPr id="9" name="Text 6"/>
          <p:cNvSpPr/>
          <p:nvPr/>
        </p:nvSpPr>
        <p:spPr>
          <a:xfrm>
            <a:off x="3675888" y="4096512"/>
            <a:ext cx="2039112" cy="237744"/>
          </a:xfrm>
          <a:prstGeom prst="rect">
            <a:avLst/>
          </a:prstGeom>
          <a:noFill/>
          <a:ln/>
        </p:spPr>
        <p:txBody>
          <a:bodyPr wrap="square" lIns="0" tIns="0" rIns="0" bIns="0" rtlCol="0" anchor="t"/>
          <a:lstStyle/>
          <a:p>
            <a:pPr indent="0" marL="0">
              <a:buNone/>
            </a:pPr>
            <a:r>
              <a:rPr lang="en-US" sz="800" spc="110" kern="0" dirty="0">
                <a:solidFill>
                  <a:srgbClr val="C9C4B8"/>
                </a:solidFill>
                <a:latin typeface="Courier New" pitchFamily="34" charset="0"/>
                <a:ea typeface="Courier New" pitchFamily="34" charset="-122"/>
                <a:cs typeface="Courier New" pitchFamily="34" charset="-120"/>
              </a:rPr>
              <a:t>RESULT · RESULTADO</a:t>
            </a:r>
            <a:endParaRPr lang="en-US" sz="800" dirty="0"/>
          </a:p>
        </p:txBody>
      </p:sp>
      <p:sp>
        <p:nvSpPr>
          <p:cNvPr id="10" name="Text 7"/>
          <p:cNvSpPr/>
          <p:nvPr/>
        </p:nvSpPr>
        <p:spPr>
          <a:xfrm>
            <a:off x="3675888" y="4443984"/>
            <a:ext cx="2039112" cy="822960"/>
          </a:xfrm>
          <a:prstGeom prst="rect">
            <a:avLst/>
          </a:prstGeom>
          <a:noFill/>
          <a:ln/>
        </p:spPr>
        <p:txBody>
          <a:bodyPr wrap="square" lIns="0" tIns="0" rIns="0" bIns="0" rtlCol="0" anchor="t"/>
          <a:lstStyle/>
          <a:p>
            <a:pPr indent="0" marL="0">
              <a:lnSpc>
                <a:spcPct val="124000"/>
              </a:lnSpc>
              <a:spcAft>
                <a:spcPts val="1000"/>
              </a:spcAft>
              <a:buNone/>
            </a:pPr>
            <a:r>
              <a:rPr lang="en-US" sz="1400" dirty="0">
                <a:solidFill>
                  <a:srgbClr val="EDE7DA"/>
                </a:solidFill>
                <a:latin typeface="Calibri" pitchFamily="34" charset="0"/>
                <a:ea typeface="Calibri" pitchFamily="34" charset="-122"/>
                <a:cs typeface="Calibri" pitchFamily="34" charset="-120"/>
              </a:rPr>
              <a:t>Public.</a:t>
            </a:r>
            <a:endParaRPr lang="en-US" sz="1400" dirty="0"/>
          </a:p>
          <a:p>
            <a:pPr indent="0" marL="0">
              <a:lnSpc>
                <a:spcPct val="124000"/>
              </a:lnSpc>
              <a:buNone/>
            </a:pPr>
            <a:r>
              <a:rPr lang="en-US" sz="1300" i="1" dirty="0">
                <a:solidFill>
                  <a:srgbClr val="C9C4B8"/>
                </a:solidFill>
                <a:latin typeface="Calibri" pitchFamily="34" charset="0"/>
                <a:ea typeface="Calibri" pitchFamily="34" charset="-122"/>
                <a:cs typeface="Calibri" pitchFamily="34" charset="-120"/>
              </a:rPr>
              <a:t>Público.</a:t>
            </a:r>
            <a:endParaRPr lang="en-US" sz="1400" dirty="0"/>
          </a:p>
        </p:txBody>
      </p:sp>
      <p:sp>
        <p:nvSpPr>
          <p:cNvPr id="11" name="Shape 8"/>
          <p:cNvSpPr/>
          <p:nvPr/>
        </p:nvSpPr>
        <p:spPr>
          <a:xfrm>
            <a:off x="6227064" y="3913632"/>
            <a:ext cx="2478024" cy="1463040"/>
          </a:xfrm>
          <a:prstGeom prst="rect">
            <a:avLst/>
          </a:prstGeom>
          <a:solidFill>
            <a:srgbClr val="2E323C"/>
          </a:solidFill>
          <a:ln w="12700">
            <a:solidFill>
              <a:srgbClr val="C9C4B8"/>
            </a:solidFill>
            <a:prstDash val="solid"/>
          </a:ln>
        </p:spPr>
        <p:txBody>
          <a:bodyPr/>
          <a:p/>
        </p:txBody>
      </p:sp>
      <p:sp>
        <p:nvSpPr>
          <p:cNvPr id="12" name="Text 9"/>
          <p:cNvSpPr/>
          <p:nvPr/>
        </p:nvSpPr>
        <p:spPr>
          <a:xfrm>
            <a:off x="6446520" y="4096512"/>
            <a:ext cx="2039112" cy="237744"/>
          </a:xfrm>
          <a:prstGeom prst="rect">
            <a:avLst/>
          </a:prstGeom>
          <a:noFill/>
          <a:ln/>
        </p:spPr>
        <p:txBody>
          <a:bodyPr wrap="square" lIns="0" tIns="0" rIns="0" bIns="0" rtlCol="0" anchor="t"/>
          <a:lstStyle/>
          <a:p>
            <a:pPr indent="0" marL="0">
              <a:buNone/>
            </a:pPr>
            <a:r>
              <a:rPr lang="en-US" sz="800" spc="110" kern="0" dirty="0">
                <a:solidFill>
                  <a:srgbClr val="C9C4B8"/>
                </a:solidFill>
                <a:latin typeface="Courier New" pitchFamily="34" charset="0"/>
                <a:ea typeface="Courier New" pitchFamily="34" charset="-122"/>
                <a:cs typeface="Courier New" pitchFamily="34" charset="-120"/>
              </a:rPr>
              <a:t>REPUTATION · REPUTACIÓN</a:t>
            </a:r>
            <a:endParaRPr lang="en-US" sz="800" dirty="0"/>
          </a:p>
        </p:txBody>
      </p:sp>
      <p:sp>
        <p:nvSpPr>
          <p:cNvPr id="13" name="Text 10"/>
          <p:cNvSpPr/>
          <p:nvPr/>
        </p:nvSpPr>
        <p:spPr>
          <a:xfrm>
            <a:off x="6446520" y="4443984"/>
            <a:ext cx="2039112" cy="822960"/>
          </a:xfrm>
          <a:prstGeom prst="rect">
            <a:avLst/>
          </a:prstGeom>
          <a:noFill/>
          <a:ln/>
        </p:spPr>
        <p:txBody>
          <a:bodyPr wrap="square" lIns="0" tIns="0" rIns="0" bIns="0" rtlCol="0" anchor="t"/>
          <a:lstStyle/>
          <a:p>
            <a:pPr indent="0" marL="0">
              <a:lnSpc>
                <a:spcPct val="124000"/>
              </a:lnSpc>
              <a:spcAft>
                <a:spcPts val="1000"/>
              </a:spcAft>
              <a:buNone/>
            </a:pPr>
            <a:r>
              <a:rPr lang="en-US" sz="1400" dirty="0">
                <a:solidFill>
                  <a:srgbClr val="EDE7DA"/>
                </a:solidFill>
                <a:latin typeface="Calibri" pitchFamily="34" charset="0"/>
                <a:ea typeface="Calibri" pitchFamily="34" charset="-122"/>
                <a:cs typeface="Calibri" pitchFamily="34" charset="-120"/>
              </a:rPr>
              <a:t>Public.</a:t>
            </a:r>
            <a:endParaRPr lang="en-US" sz="1400" dirty="0"/>
          </a:p>
          <a:p>
            <a:pPr indent="0" marL="0">
              <a:lnSpc>
                <a:spcPct val="124000"/>
              </a:lnSpc>
              <a:buNone/>
            </a:pPr>
            <a:r>
              <a:rPr lang="en-US" sz="1300" i="1" dirty="0">
                <a:solidFill>
                  <a:srgbClr val="C9C4B8"/>
                </a:solidFill>
                <a:latin typeface="Calibri" pitchFamily="34" charset="0"/>
                <a:ea typeface="Calibri" pitchFamily="34" charset="-122"/>
                <a:cs typeface="Calibri" pitchFamily="34" charset="-120"/>
              </a:rPr>
              <a:t>Pública.</a:t>
            </a:r>
            <a:endParaRPr lang="en-US" sz="1400" dirty="0"/>
          </a:p>
        </p:txBody>
      </p:sp>
      <p:sp>
        <p:nvSpPr>
          <p:cNvPr id="14" name="Shape 11"/>
          <p:cNvSpPr/>
          <p:nvPr/>
        </p:nvSpPr>
        <p:spPr>
          <a:xfrm>
            <a:off x="8997696" y="3913632"/>
            <a:ext cx="2478024" cy="1463040"/>
          </a:xfrm>
          <a:prstGeom prst="rect">
            <a:avLst/>
          </a:prstGeom>
          <a:solidFill>
            <a:srgbClr val="2E323C"/>
          </a:solidFill>
          <a:ln w="12700">
            <a:solidFill>
              <a:srgbClr val="C9C4B8"/>
            </a:solidFill>
            <a:prstDash val="solid"/>
          </a:ln>
        </p:spPr>
        <p:txBody>
          <a:bodyPr/>
          <a:p/>
        </p:txBody>
      </p:sp>
      <p:sp>
        <p:nvSpPr>
          <p:cNvPr id="15" name="Text 12"/>
          <p:cNvSpPr/>
          <p:nvPr/>
        </p:nvSpPr>
        <p:spPr>
          <a:xfrm>
            <a:off x="9217152" y="4096512"/>
            <a:ext cx="2039112" cy="237744"/>
          </a:xfrm>
          <a:prstGeom prst="rect">
            <a:avLst/>
          </a:prstGeom>
          <a:noFill/>
          <a:ln/>
        </p:spPr>
        <p:txBody>
          <a:bodyPr wrap="square" lIns="0" tIns="0" rIns="0" bIns="0" rtlCol="0" anchor="t"/>
          <a:lstStyle/>
          <a:p>
            <a:pPr indent="0" marL="0">
              <a:buNone/>
            </a:pPr>
            <a:r>
              <a:rPr lang="en-US" sz="800" spc="110" kern="0" dirty="0">
                <a:solidFill>
                  <a:srgbClr val="C9C4B8"/>
                </a:solidFill>
                <a:latin typeface="Courier New" pitchFamily="34" charset="0"/>
                <a:ea typeface="Courier New" pitchFamily="34" charset="-122"/>
                <a:cs typeface="Courier New" pitchFamily="34" charset="-120"/>
              </a:rPr>
              <a:t>PROOF · PRUEBA</a:t>
            </a:r>
            <a:endParaRPr lang="en-US" sz="800" dirty="0"/>
          </a:p>
        </p:txBody>
      </p:sp>
      <p:sp>
        <p:nvSpPr>
          <p:cNvPr id="16" name="Text 13"/>
          <p:cNvSpPr/>
          <p:nvPr/>
        </p:nvSpPr>
        <p:spPr>
          <a:xfrm>
            <a:off x="9217152" y="4443984"/>
            <a:ext cx="2039112" cy="822960"/>
          </a:xfrm>
          <a:prstGeom prst="rect">
            <a:avLst/>
          </a:prstGeom>
          <a:noFill/>
          <a:ln/>
        </p:spPr>
        <p:txBody>
          <a:bodyPr wrap="square" lIns="0" tIns="0" rIns="0" bIns="0" rtlCol="0" anchor="t"/>
          <a:lstStyle/>
          <a:p>
            <a:pPr indent="0" marL="0">
              <a:lnSpc>
                <a:spcPct val="124000"/>
              </a:lnSpc>
              <a:spcAft>
                <a:spcPts val="1000"/>
              </a:spcAft>
              <a:buNone/>
            </a:pPr>
            <a:r>
              <a:rPr lang="en-US" sz="1400" dirty="0">
                <a:solidFill>
                  <a:srgbClr val="EDE7DA"/>
                </a:solidFill>
                <a:latin typeface="Calibri" pitchFamily="34" charset="0"/>
                <a:ea typeface="Calibri" pitchFamily="34" charset="-122"/>
                <a:cs typeface="Calibri" pitchFamily="34" charset="-120"/>
              </a:rPr>
              <a:t>Private.</a:t>
            </a:r>
            <a:endParaRPr lang="en-US" sz="1400" dirty="0"/>
          </a:p>
          <a:p>
            <a:pPr indent="0" marL="0">
              <a:lnSpc>
                <a:spcPct val="124000"/>
              </a:lnSpc>
              <a:buNone/>
            </a:pPr>
            <a:r>
              <a:rPr lang="en-US" sz="1300" i="1" dirty="0">
                <a:solidFill>
                  <a:srgbClr val="C9C4B8"/>
                </a:solidFill>
                <a:latin typeface="Calibri" pitchFamily="34" charset="0"/>
                <a:ea typeface="Calibri" pitchFamily="34" charset="-122"/>
                <a:cs typeface="Calibri" pitchFamily="34" charset="-120"/>
              </a:rPr>
              <a:t>Privada.</a:t>
            </a:r>
            <a:endParaRPr lang="en-US" sz="1400" dirty="0"/>
          </a:p>
        </p:txBody>
      </p:sp>
      <p:sp>
        <p:nvSpPr>
          <p:cNvPr id="17" name="Text 14"/>
          <p:cNvSpPr/>
          <p:nvPr/>
        </p:nvSpPr>
        <p:spPr>
          <a:xfrm>
            <a:off x="685800" y="5742432"/>
            <a:ext cx="5074920" cy="292608"/>
          </a:xfrm>
          <a:prstGeom prst="rect">
            <a:avLst/>
          </a:prstGeom>
          <a:noFill/>
          <a:ln/>
        </p:spPr>
        <p:txBody>
          <a:bodyPr wrap="square" lIns="0" tIns="0" rIns="0" bIns="0" rtlCol="0" anchor="t"/>
          <a:lstStyle/>
          <a:p>
            <a:pPr indent="0" marL="0">
              <a:buNone/>
            </a:pPr>
            <a:r>
              <a:rPr lang="en-US" sz="1500" i="1" dirty="0">
                <a:solidFill>
                  <a:srgbClr val="C9C4B8"/>
                </a:solidFill>
                <a:latin typeface="Century Schoolbook" pitchFamily="34" charset="0"/>
                <a:ea typeface="Century Schoolbook" pitchFamily="34" charset="-122"/>
                <a:cs typeface="Century Schoolbook" pitchFamily="34" charset="-120"/>
              </a:rPr>
              <a:t>And where something is not yet proven, we say so.</a:t>
            </a:r>
            <a:endParaRPr lang="en-US" sz="1500" dirty="0"/>
          </a:p>
        </p:txBody>
      </p:sp>
      <p:sp>
        <p:nvSpPr>
          <p:cNvPr id="18" name="Text 15"/>
          <p:cNvSpPr/>
          <p:nvPr/>
        </p:nvSpPr>
        <p:spPr>
          <a:xfrm>
            <a:off x="6400800" y="5742432"/>
            <a:ext cx="5074920" cy="292608"/>
          </a:xfrm>
          <a:prstGeom prst="rect">
            <a:avLst/>
          </a:prstGeom>
          <a:noFill/>
          <a:ln/>
        </p:spPr>
        <p:txBody>
          <a:bodyPr wrap="square" lIns="0" tIns="0" rIns="0" bIns="0" rtlCol="0" anchor="t"/>
          <a:lstStyle/>
          <a:p>
            <a:pPr indent="0" marL="0">
              <a:buNone/>
            </a:pPr>
            <a:r>
              <a:rPr lang="en-US" sz="1500" i="1" dirty="0">
                <a:solidFill>
                  <a:srgbClr val="C9C4B8"/>
                </a:solidFill>
                <a:latin typeface="Century Schoolbook" pitchFamily="34" charset="0"/>
                <a:ea typeface="Century Schoolbook" pitchFamily="34" charset="-122"/>
                <a:cs typeface="Century Schoolbook" pitchFamily="34" charset="-120"/>
              </a:rPr>
              <a:t>Y lo que todavía no está probado, lo decimos.</a:t>
            </a:r>
            <a:endParaRPr lang="en-US" sz="1500" dirty="0"/>
          </a:p>
        </p:txBody>
      </p:sp>
      <p:sp>
        <p:nvSpPr>
          <p:cNvPr id="19" name="Text 16"/>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C9C4B8"/>
                </a:solidFill>
                <a:latin typeface="Courier New" pitchFamily="34" charset="0"/>
                <a:ea typeface="Courier New" pitchFamily="34" charset="-122"/>
                <a:cs typeface="Courier New" pitchFamily="34" charset="-120"/>
              </a:rPr>
              <a:t>VELO · Professional Evidence Wallet</a:t>
            </a:r>
            <a:endParaRPr lang="en-US" sz="800" dirty="0"/>
          </a:p>
        </p:txBody>
      </p:sp>
      <p:sp>
        <p:nvSpPr>
          <p:cNvPr id="20" name="Text 17"/>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C9C4B8"/>
                </a:solidFill>
                <a:latin typeface="Courier New" pitchFamily="34" charset="0"/>
                <a:ea typeface="Courier New" pitchFamily="34" charset="-122"/>
                <a:cs typeface="Courier New"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bg-veil.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1463040"/>
            <a:ext cx="5486400" cy="365760"/>
          </a:xfrm>
          <a:prstGeom prst="rect">
            <a:avLst/>
          </a:prstGeom>
          <a:noFill/>
          <a:ln/>
        </p:spPr>
        <p:txBody>
          <a:bodyPr wrap="square" lIns="0" tIns="0" rIns="0" bIns="0" rtlCol="0" anchor="ctr"/>
          <a:lstStyle/>
          <a:p>
            <a:pPr indent="0" marL="0">
              <a:buNone/>
            </a:pPr>
            <a:r>
              <a:rPr lang="en-US" sz="1100" spc="240" kern="0" dirty="0">
                <a:solidFill>
                  <a:srgbClr val="C9C4B8"/>
                </a:solidFill>
                <a:latin typeface="Courier New" pitchFamily="34" charset="0"/>
                <a:ea typeface="Courier New" pitchFamily="34" charset="-122"/>
                <a:cs typeface="Courier New" pitchFamily="34" charset="-120"/>
              </a:rPr>
              <a:t>BACKUP</a:t>
            </a:r>
            <a:endParaRPr lang="en-US" sz="1100" dirty="0"/>
          </a:p>
        </p:txBody>
      </p:sp>
      <p:sp>
        <p:nvSpPr>
          <p:cNvPr id="4" name="Text 1"/>
          <p:cNvSpPr/>
          <p:nvPr/>
        </p:nvSpPr>
        <p:spPr>
          <a:xfrm>
            <a:off x="685800" y="2194560"/>
            <a:ext cx="10058400" cy="914400"/>
          </a:xfrm>
          <a:prstGeom prst="rect">
            <a:avLst/>
          </a:prstGeom>
          <a:noFill/>
          <a:ln/>
        </p:spPr>
        <p:txBody>
          <a:bodyPr wrap="square" lIns="0" tIns="0" rIns="0" bIns="0" rtlCol="0" anchor="t"/>
          <a:lstStyle/>
          <a:p>
            <a:pPr indent="0" marL="0">
              <a:buNone/>
            </a:pPr>
            <a:r>
              <a:rPr lang="en-US" sz="5400" dirty="0">
                <a:solidFill>
                  <a:srgbClr val="EDE7DA"/>
                </a:solidFill>
                <a:latin typeface="Century Schoolbook" pitchFamily="34" charset="0"/>
                <a:ea typeface="Century Schoolbook" pitchFamily="34" charset="-122"/>
                <a:cs typeface="Century Schoolbook" pitchFamily="34" charset="-120"/>
              </a:rPr>
              <a:t>Objections</a:t>
            </a:r>
            <a:endParaRPr lang="en-US" sz="5400" dirty="0"/>
          </a:p>
        </p:txBody>
      </p:sp>
      <p:sp>
        <p:nvSpPr>
          <p:cNvPr id="5" name="Text 2"/>
          <p:cNvSpPr/>
          <p:nvPr/>
        </p:nvSpPr>
        <p:spPr>
          <a:xfrm>
            <a:off x="685800" y="3127248"/>
            <a:ext cx="10058400" cy="640080"/>
          </a:xfrm>
          <a:prstGeom prst="rect">
            <a:avLst/>
          </a:prstGeom>
          <a:noFill/>
          <a:ln/>
        </p:spPr>
        <p:txBody>
          <a:bodyPr wrap="square" lIns="0" tIns="0" rIns="0" bIns="0" rtlCol="0" anchor="t"/>
          <a:lstStyle/>
          <a:p>
            <a:pPr indent="0" marL="0">
              <a:buNone/>
            </a:pPr>
            <a:r>
              <a:rPr lang="en-US" sz="3200" i="1" dirty="0">
                <a:solidFill>
                  <a:srgbClr val="C9C4B8"/>
                </a:solidFill>
                <a:latin typeface="Century Schoolbook" pitchFamily="34" charset="0"/>
                <a:ea typeface="Century Schoolbook" pitchFamily="34" charset="-122"/>
                <a:cs typeface="Century Schoolbook" pitchFamily="34" charset="-120"/>
              </a:rPr>
              <a:t>Objeciones</a:t>
            </a:r>
            <a:endParaRPr lang="en-US" sz="3200" dirty="0"/>
          </a:p>
        </p:txBody>
      </p:sp>
      <p:sp>
        <p:nvSpPr>
          <p:cNvPr id="6" name="Text 3"/>
          <p:cNvSpPr/>
          <p:nvPr/>
        </p:nvSpPr>
        <p:spPr>
          <a:xfrm>
            <a:off x="685800" y="4069080"/>
            <a:ext cx="5074920" cy="640080"/>
          </a:xfrm>
          <a:prstGeom prst="rect">
            <a:avLst/>
          </a:prstGeom>
          <a:noFill/>
          <a:ln/>
        </p:spPr>
        <p:txBody>
          <a:bodyPr wrap="square" lIns="0" tIns="0" rIns="0" bIns="0" rtlCol="0" anchor="t"/>
          <a:lstStyle/>
          <a:p>
            <a:pPr indent="0" marL="0">
              <a:lnSpc>
                <a:spcPct val="130000"/>
              </a:lnSpc>
              <a:buNone/>
            </a:pPr>
            <a:r>
              <a:rPr lang="en-US" sz="1300" dirty="0">
                <a:solidFill>
                  <a:srgbClr val="C9C4B8"/>
                </a:solidFill>
                <a:latin typeface="Calibri" pitchFamily="34" charset="0"/>
                <a:ea typeface="Calibri" pitchFamily="34" charset="-122"/>
                <a:cs typeface="Calibri" pitchFamily="34" charset="-120"/>
              </a:rPr>
              <a:t>Ten challenges to the product and the design, and why each one survives.</a:t>
            </a:r>
            <a:endParaRPr lang="en-US" sz="1300" dirty="0"/>
          </a:p>
        </p:txBody>
      </p:sp>
      <p:sp>
        <p:nvSpPr>
          <p:cNvPr id="7" name="Text 4"/>
          <p:cNvSpPr/>
          <p:nvPr/>
        </p:nvSpPr>
        <p:spPr>
          <a:xfrm>
            <a:off x="6400800" y="4069080"/>
            <a:ext cx="5074920" cy="640080"/>
          </a:xfrm>
          <a:prstGeom prst="rect">
            <a:avLst/>
          </a:prstGeom>
          <a:noFill/>
          <a:ln/>
        </p:spPr>
        <p:txBody>
          <a:bodyPr wrap="square" lIns="0" tIns="0" rIns="0" bIns="0" rtlCol="0" anchor="t"/>
          <a:lstStyle/>
          <a:p>
            <a:pPr indent="0" marL="0">
              <a:lnSpc>
                <a:spcPct val="130000"/>
              </a:lnSpc>
              <a:buNone/>
            </a:pPr>
            <a:r>
              <a:rPr lang="en-US" sz="1300" i="1" dirty="0">
                <a:solidFill>
                  <a:srgbClr val="C9C4B8"/>
                </a:solidFill>
                <a:latin typeface="Calibri" pitchFamily="34" charset="0"/>
                <a:ea typeface="Calibri" pitchFamily="34" charset="-122"/>
                <a:cs typeface="Calibri" pitchFamily="34" charset="-120"/>
              </a:rPr>
              <a:t>Diez objeciones al producto y al diseño, y por qué cada una sobrevive.</a:t>
            </a:r>
            <a:endParaRPr lang="en-US" sz="1300" dirty="0"/>
          </a:p>
        </p:txBody>
      </p:sp>
      <p:sp>
        <p:nvSpPr>
          <p:cNvPr id="8" name="Text 5"/>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C9C4B8"/>
                </a:solidFill>
                <a:latin typeface="Courier New" pitchFamily="34" charset="0"/>
                <a:ea typeface="Courier New" pitchFamily="34" charset="-122"/>
                <a:cs typeface="Courier New" pitchFamily="34" charset="-120"/>
              </a:rPr>
              <a:t>VELO · Professional Evidence Wallet · BACKUP</a:t>
            </a:r>
            <a:endParaRPr lang="en-US" sz="800" dirty="0"/>
          </a:p>
        </p:txBody>
      </p:sp>
      <p:sp>
        <p:nvSpPr>
          <p:cNvPr id="9" name="Text 6"/>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C9C4B8"/>
                </a:solidFill>
                <a:latin typeface="Courier New" pitchFamily="34" charset="0"/>
                <a:ea typeface="Courier New" pitchFamily="34" charset="-122"/>
                <a:cs typeface="Courier New"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5486400" cy="237744"/>
          </a:xfrm>
          <a:prstGeom prst="rect">
            <a:avLst/>
          </a:prstGeom>
          <a:noFill/>
          <a:ln/>
        </p:spPr>
        <p:txBody>
          <a:bodyPr wrap="square" lIns="0" tIns="0" rIns="0" bIns="0" rtlCol="0" anchor="ctr"/>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BACKUP</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01 / 10</a:t>
            </a:r>
            <a:endParaRPr lang="en-US" sz="900" dirty="0"/>
          </a:p>
        </p:txBody>
      </p:sp>
      <p:sp>
        <p:nvSpPr>
          <p:cNvPr id="4" name="Text 1"/>
          <p:cNvSpPr/>
          <p:nvPr/>
        </p:nvSpPr>
        <p:spPr>
          <a:xfrm>
            <a:off x="685800" y="768096"/>
            <a:ext cx="10789920" cy="988284"/>
          </a:xfrm>
          <a:prstGeom prst="rect">
            <a:avLst/>
          </a:prstGeom>
          <a:noFill/>
          <a:ln/>
        </p:spPr>
        <p:txBody>
          <a:bodyPr wrap="square" lIns="0" tIns="0" rIns="0" bIns="0" rtlCol="0" anchor="t"/>
          <a:lstStyle/>
          <a:p>
            <a:pPr indent="0" marL="0">
              <a:lnSpc>
                <a:spcPct val="114000"/>
              </a:lnSpc>
              <a:spcAft>
                <a:spcPts val="1000"/>
              </a:spcAft>
              <a:buNone/>
            </a:pPr>
            <a:r>
              <a:rPr lang="en-US" sz="2700" dirty="0">
                <a:solidFill>
                  <a:srgbClr val="1C1A17"/>
                </a:solidFill>
                <a:latin typeface="Century Schoolbook" pitchFamily="34" charset="0"/>
                <a:ea typeface="Century Schoolbook" pitchFamily="34" charset="-122"/>
                <a:cs typeface="Century Schoolbook" pitchFamily="34" charset="-120"/>
              </a:rPr>
              <a:t>Who actually pays for this?</a:t>
            </a:r>
            <a:endParaRPr lang="en-US" sz="2700" dirty="0"/>
          </a:p>
          <a:p>
            <a:pPr indent="0" marL="0">
              <a:lnSpc>
                <a:spcPct val="114000"/>
              </a:lnSpc>
              <a:buNone/>
            </a:pPr>
            <a:r>
              <a:rPr lang="en-US" sz="1620" dirty="0">
                <a:solidFill>
                  <a:srgbClr val="3A3F4B"/>
                </a:solidFill>
                <a:latin typeface="Century Schoolbook" pitchFamily="34" charset="0"/>
                <a:ea typeface="Century Schoolbook" pitchFamily="34" charset="-122"/>
                <a:cs typeface="Century Schoolbook" pitchFamily="34" charset="-120"/>
              </a:rPr>
              <a:t>¿Quién paga esto realmente?</a:t>
            </a:r>
            <a:endParaRPr lang="en-US" sz="2700" dirty="0"/>
          </a:p>
        </p:txBody>
      </p:sp>
      <p:sp>
        <p:nvSpPr>
          <p:cNvPr id="5" name="Shape 2"/>
          <p:cNvSpPr/>
          <p:nvPr/>
        </p:nvSpPr>
        <p:spPr>
          <a:xfrm>
            <a:off x="685800" y="5047488"/>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60120" y="5230368"/>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The individual expert is the wedge. The institution is the revenue.</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El perito individual es la cuña. La institución es la facturación.</a:t>
            </a:r>
            <a:endParaRPr lang="en-US" sz="1300" dirty="0"/>
          </a:p>
        </p:txBody>
      </p:sp>
      <p:sp>
        <p:nvSpPr>
          <p:cNvPr id="7" name="Text 4"/>
          <p:cNvSpPr/>
          <p:nvPr/>
        </p:nvSpPr>
        <p:spPr>
          <a:xfrm>
            <a:off x="685800" y="2761854"/>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1C1A17"/>
                </a:solidFill>
                <a:latin typeface="Calibri" pitchFamily="34" charset="0"/>
                <a:ea typeface="Calibri" pitchFamily="34" charset="-122"/>
                <a:cs typeface="Calibri" pitchFamily="34" charset="-120"/>
              </a:rPr>
              <a:t>Three payers, in order of contract size: institutions pay for a trust layer over everything their people sign; marketplaces take a fee on matched work; individual experts pay for the credential that makes them findable.</a:t>
            </a:r>
            <a:endParaRPr lang="en-US" sz="1500" dirty="0"/>
          </a:p>
        </p:txBody>
      </p:sp>
      <p:sp>
        <p:nvSpPr>
          <p:cNvPr id="8" name="Text 5"/>
          <p:cNvSpPr/>
          <p:nvPr/>
        </p:nvSpPr>
        <p:spPr>
          <a:xfrm>
            <a:off x="6400800" y="2761854"/>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3A3F4B"/>
                </a:solidFill>
                <a:latin typeface="Calibri" pitchFamily="34" charset="0"/>
                <a:ea typeface="Calibri" pitchFamily="34" charset="-122"/>
                <a:cs typeface="Calibri" pitchFamily="34" charset="-120"/>
              </a:rPr>
              <a:t>Tres pagadores, por tamaño de contrato: las instituciones pagan una capa de confianza sobre todo lo que firma su gente; los marketplaces cobran por trabajo emparejado; los peritos pagan la credencial que los vuelve encontrables.</a:t>
            </a:r>
            <a:endParaRPr lang="en-US" sz="1500" dirty="0"/>
          </a:p>
        </p:txBody>
      </p:sp>
      <p:sp>
        <p:nvSpPr>
          <p:cNvPr id="9" name="Text 6"/>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 · BACKUP</a:t>
            </a:r>
            <a:endParaRPr lang="en-US" sz="800" dirty="0"/>
          </a:p>
        </p:txBody>
      </p:sp>
      <p:sp>
        <p:nvSpPr>
          <p:cNvPr id="10" name="Text 7"/>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5486400" cy="237744"/>
          </a:xfrm>
          <a:prstGeom prst="rect">
            <a:avLst/>
          </a:prstGeom>
          <a:noFill/>
          <a:ln/>
        </p:spPr>
        <p:txBody>
          <a:bodyPr wrap="square" lIns="0" tIns="0" rIns="0" bIns="0" rtlCol="0" anchor="ctr"/>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BACKUP</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02 / 10</a:t>
            </a:r>
            <a:endParaRPr lang="en-US" sz="900" dirty="0"/>
          </a:p>
        </p:txBody>
      </p:sp>
      <p:sp>
        <p:nvSpPr>
          <p:cNvPr id="4" name="Text 1"/>
          <p:cNvSpPr/>
          <p:nvPr/>
        </p:nvSpPr>
        <p:spPr>
          <a:xfrm>
            <a:off x="685800" y="768096"/>
            <a:ext cx="10789920" cy="988284"/>
          </a:xfrm>
          <a:prstGeom prst="rect">
            <a:avLst/>
          </a:prstGeom>
          <a:noFill/>
          <a:ln/>
        </p:spPr>
        <p:txBody>
          <a:bodyPr wrap="square" lIns="0" tIns="0" rIns="0" bIns="0" rtlCol="0" anchor="t"/>
          <a:lstStyle/>
          <a:p>
            <a:pPr indent="0" marL="0">
              <a:lnSpc>
                <a:spcPct val="114000"/>
              </a:lnSpc>
              <a:spcAft>
                <a:spcPts val="1000"/>
              </a:spcAft>
              <a:buNone/>
            </a:pPr>
            <a:r>
              <a:rPr lang="en-US" sz="2700" dirty="0">
                <a:solidFill>
                  <a:srgbClr val="1C1A17"/>
                </a:solidFill>
                <a:latin typeface="Century Schoolbook" pitchFamily="34" charset="0"/>
                <a:ea typeface="Century Schoolbook" pitchFamily="34" charset="-122"/>
                <a:cs typeface="Century Schoolbook" pitchFamily="34" charset="-120"/>
              </a:rPr>
              <a:t>What stops an expert inflating their numbers?</a:t>
            </a:r>
            <a:endParaRPr lang="en-US" sz="2700" dirty="0"/>
          </a:p>
          <a:p>
            <a:pPr indent="0" marL="0">
              <a:lnSpc>
                <a:spcPct val="114000"/>
              </a:lnSpc>
              <a:buNone/>
            </a:pPr>
            <a:r>
              <a:rPr lang="en-US" sz="1620" dirty="0">
                <a:solidFill>
                  <a:srgbClr val="3A3F4B"/>
                </a:solidFill>
                <a:latin typeface="Century Schoolbook" pitchFamily="34" charset="0"/>
                <a:ea typeface="Century Schoolbook" pitchFamily="34" charset="-122"/>
                <a:cs typeface="Century Schoolbook" pitchFamily="34" charset="-120"/>
              </a:rPr>
              <a:t>¿Qué impide que un perito infle sus números?</a:t>
            </a:r>
            <a:endParaRPr lang="en-US" sz="2700" dirty="0"/>
          </a:p>
        </p:txBody>
      </p:sp>
      <p:sp>
        <p:nvSpPr>
          <p:cNvPr id="5" name="Shape 2"/>
          <p:cNvSpPr/>
          <p:nvPr/>
        </p:nvSpPr>
        <p:spPr>
          <a:xfrm>
            <a:off x="685800" y="5047488"/>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60120" y="5230368"/>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An attestation also cannot be withdrawn, only contradicted by a later one. The record accumulates in both directions.</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Una atestación tampoco se puede retirar, solo contradecir con una posterior. El registro se acumula en los dos sentidos.</a:t>
            </a:r>
            <a:endParaRPr lang="en-US" sz="1300" dirty="0"/>
          </a:p>
        </p:txBody>
      </p:sp>
      <p:sp>
        <p:nvSpPr>
          <p:cNvPr id="7" name="Text 4"/>
          <p:cNvSpPr/>
          <p:nvPr/>
        </p:nvSpPr>
        <p:spPr>
          <a:xfrm>
            <a:off x="685800" y="2761854"/>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1C1A17"/>
                </a:solidFill>
                <a:latin typeface="Calibri" pitchFamily="34" charset="0"/>
                <a:ea typeface="Calibri" pitchFamily="34" charset="-122"/>
                <a:cs typeface="Calibri" pitchFamily="34" charset="-120"/>
              </a:rPr>
              <a:t>Nothing in the wallet is self-reported by design: every count derives from on-chain attestations once deployed. The rule itself is already enforced — a MALICE outcome cannot be attested without two corroborating sources, because the compiled circuit refuses to produce the proof.</a:t>
            </a:r>
            <a:endParaRPr lang="en-US" sz="1500" dirty="0"/>
          </a:p>
        </p:txBody>
      </p:sp>
      <p:sp>
        <p:nvSpPr>
          <p:cNvPr id="8" name="Text 5"/>
          <p:cNvSpPr/>
          <p:nvPr/>
        </p:nvSpPr>
        <p:spPr>
          <a:xfrm>
            <a:off x="6400800" y="2761854"/>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3A3F4B"/>
                </a:solidFill>
                <a:latin typeface="Calibri" pitchFamily="34" charset="0"/>
                <a:ea typeface="Calibri" pitchFamily="34" charset="-122"/>
                <a:cs typeface="Calibri" pitchFamily="34" charset="-120"/>
              </a:rPr>
              <a:t>Nada en la wallet es autodeclarado por diseño: cada conteo se deriva de atestaciones on-chain una vez desplegado. La regla ya está impuesta — un resultado MALICE no se puede atestar sin dos fuentes de corroboración, porque el circuito compilado se niega a producir la prueba.</a:t>
            </a:r>
            <a:endParaRPr lang="en-US" sz="1500" dirty="0"/>
          </a:p>
        </p:txBody>
      </p:sp>
      <p:sp>
        <p:nvSpPr>
          <p:cNvPr id="9" name="Text 6"/>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 · BACKUP</a:t>
            </a:r>
            <a:endParaRPr lang="en-US" sz="800" dirty="0"/>
          </a:p>
        </p:txBody>
      </p:sp>
      <p:sp>
        <p:nvSpPr>
          <p:cNvPr id="10" name="Text 7"/>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5486400" cy="237744"/>
          </a:xfrm>
          <a:prstGeom prst="rect">
            <a:avLst/>
          </a:prstGeom>
          <a:noFill/>
          <a:ln/>
        </p:spPr>
        <p:txBody>
          <a:bodyPr wrap="square" lIns="0" tIns="0" rIns="0" bIns="0" rtlCol="0" anchor="ctr"/>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BACKUP</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03 / 10</a:t>
            </a:r>
            <a:endParaRPr lang="en-US" sz="900" dirty="0"/>
          </a:p>
        </p:txBody>
      </p:sp>
      <p:sp>
        <p:nvSpPr>
          <p:cNvPr id="4" name="Text 1"/>
          <p:cNvSpPr/>
          <p:nvPr/>
        </p:nvSpPr>
        <p:spPr>
          <a:xfrm>
            <a:off x="685800" y="768096"/>
            <a:ext cx="10789920" cy="988284"/>
          </a:xfrm>
          <a:prstGeom prst="rect">
            <a:avLst/>
          </a:prstGeom>
          <a:noFill/>
          <a:ln/>
        </p:spPr>
        <p:txBody>
          <a:bodyPr wrap="square" lIns="0" tIns="0" rIns="0" bIns="0" rtlCol="0" anchor="t"/>
          <a:lstStyle/>
          <a:p>
            <a:pPr indent="0" marL="0">
              <a:lnSpc>
                <a:spcPct val="114000"/>
              </a:lnSpc>
              <a:spcAft>
                <a:spcPts val="1000"/>
              </a:spcAft>
              <a:buNone/>
            </a:pPr>
            <a:r>
              <a:rPr lang="en-US" sz="2700" dirty="0">
                <a:solidFill>
                  <a:srgbClr val="1C1A17"/>
                </a:solidFill>
                <a:latin typeface="Century Schoolbook" pitchFamily="34" charset="0"/>
                <a:ea typeface="Century Schoolbook" pitchFamily="34" charset="-122"/>
                <a:cs typeface="Century Schoolbook" pitchFamily="34" charset="-120"/>
              </a:rPr>
              <a:t>Why Midnight, and not Aztec or Aleo?</a:t>
            </a:r>
            <a:endParaRPr lang="en-US" sz="2700" dirty="0"/>
          </a:p>
          <a:p>
            <a:pPr indent="0" marL="0">
              <a:lnSpc>
                <a:spcPct val="114000"/>
              </a:lnSpc>
              <a:buNone/>
            </a:pPr>
            <a:r>
              <a:rPr lang="en-US" sz="1620" dirty="0">
                <a:solidFill>
                  <a:srgbClr val="3A3F4B"/>
                </a:solidFill>
                <a:latin typeface="Century Schoolbook" pitchFamily="34" charset="0"/>
                <a:ea typeface="Century Schoolbook" pitchFamily="34" charset="-122"/>
                <a:cs typeface="Century Schoolbook" pitchFamily="34" charset="-120"/>
              </a:rPr>
              <a:t>¿Por qué Midnight y no Aztec o Aleo?</a:t>
            </a:r>
            <a:endParaRPr lang="en-US" sz="2700" dirty="0"/>
          </a:p>
        </p:txBody>
      </p:sp>
      <p:sp>
        <p:nvSpPr>
          <p:cNvPr id="5" name="Shape 2"/>
          <p:cNvSpPr/>
          <p:nvPr/>
        </p:nvSpPr>
        <p:spPr>
          <a:xfrm>
            <a:off x="685800" y="5047488"/>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60120" y="5230368"/>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VELO needs the reputation public by design and only the evidence private. Midnight is the exact primitive.</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VELO necesita la reputación pública por diseño y solo la evidencia privada. Midnight es la primitiva exacta.</a:t>
            </a:r>
            <a:endParaRPr lang="en-US" sz="1300" dirty="0"/>
          </a:p>
        </p:txBody>
      </p:sp>
      <p:sp>
        <p:nvSpPr>
          <p:cNvPr id="7" name="Text 4"/>
          <p:cNvSpPr/>
          <p:nvPr/>
        </p:nvSpPr>
        <p:spPr>
          <a:xfrm>
            <a:off x="685800" y="2761854"/>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1C1A17"/>
                </a:solidFill>
                <a:latin typeface="Calibri" pitchFamily="34" charset="0"/>
                <a:ea typeface="Calibri" pitchFamily="34" charset="-122"/>
                <a:cs typeface="Calibri" pitchFamily="34" charset="-120"/>
              </a:rPr>
              <a:t>Aztec targets general smart-contract privacy, without the explicit public/private split. Aleo is private by default and public only where declared — the opposite of what a reputation layer needs.</a:t>
            </a:r>
            <a:endParaRPr lang="en-US" sz="1500" dirty="0"/>
          </a:p>
        </p:txBody>
      </p:sp>
      <p:sp>
        <p:nvSpPr>
          <p:cNvPr id="8" name="Text 5"/>
          <p:cNvSpPr/>
          <p:nvPr/>
        </p:nvSpPr>
        <p:spPr>
          <a:xfrm>
            <a:off x="6400800" y="2761854"/>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3A3F4B"/>
                </a:solidFill>
                <a:latin typeface="Calibri" pitchFamily="34" charset="0"/>
                <a:ea typeface="Calibri" pitchFamily="34" charset="-122"/>
                <a:cs typeface="Calibri" pitchFamily="34" charset="-120"/>
              </a:rPr>
              <a:t>Aztec apunta a privacidad general de smart contracts, sin el split explícito público/privado. Aleo es privado por defecto y público solo donde se declara — al revés de lo que necesita una capa de reputación.</a:t>
            </a:r>
            <a:endParaRPr lang="en-US" sz="1500" dirty="0"/>
          </a:p>
        </p:txBody>
      </p:sp>
      <p:sp>
        <p:nvSpPr>
          <p:cNvPr id="9" name="Text 6"/>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 · BACKUP</a:t>
            </a:r>
            <a:endParaRPr lang="en-US" sz="800" dirty="0"/>
          </a:p>
        </p:txBody>
      </p:sp>
      <p:sp>
        <p:nvSpPr>
          <p:cNvPr id="10" name="Text 7"/>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5486400" cy="237744"/>
          </a:xfrm>
          <a:prstGeom prst="rect">
            <a:avLst/>
          </a:prstGeom>
          <a:noFill/>
          <a:ln/>
        </p:spPr>
        <p:txBody>
          <a:bodyPr wrap="square" lIns="0" tIns="0" rIns="0" bIns="0" rtlCol="0" anchor="ctr"/>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BACKUP</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04 / 10</a:t>
            </a:r>
            <a:endParaRPr lang="en-US" sz="900" dirty="0"/>
          </a:p>
        </p:txBody>
      </p:sp>
      <p:sp>
        <p:nvSpPr>
          <p:cNvPr id="4" name="Text 1"/>
          <p:cNvSpPr/>
          <p:nvPr/>
        </p:nvSpPr>
        <p:spPr>
          <a:xfrm>
            <a:off x="685800" y="768096"/>
            <a:ext cx="10789920" cy="988284"/>
          </a:xfrm>
          <a:prstGeom prst="rect">
            <a:avLst/>
          </a:prstGeom>
          <a:noFill/>
          <a:ln/>
        </p:spPr>
        <p:txBody>
          <a:bodyPr wrap="square" lIns="0" tIns="0" rIns="0" bIns="0" rtlCol="0" anchor="t"/>
          <a:lstStyle/>
          <a:p>
            <a:pPr indent="0" marL="0">
              <a:lnSpc>
                <a:spcPct val="114000"/>
              </a:lnSpc>
              <a:spcAft>
                <a:spcPts val="1000"/>
              </a:spcAft>
              <a:buNone/>
            </a:pPr>
            <a:r>
              <a:rPr lang="en-US" sz="2700" dirty="0">
                <a:solidFill>
                  <a:srgbClr val="1C1A17"/>
                </a:solidFill>
                <a:latin typeface="Century Schoolbook" pitchFamily="34" charset="0"/>
                <a:ea typeface="Century Schoolbook" pitchFamily="34" charset="-122"/>
                <a:cs typeface="Century Schoolbook" pitchFamily="34" charset="-120"/>
              </a:rPr>
              <a:t>Why forensics, and not finance?</a:t>
            </a:r>
            <a:endParaRPr lang="en-US" sz="2700" dirty="0"/>
          </a:p>
          <a:p>
            <a:pPr indent="0" marL="0">
              <a:lnSpc>
                <a:spcPct val="114000"/>
              </a:lnSpc>
              <a:buNone/>
            </a:pPr>
            <a:r>
              <a:rPr lang="en-US" sz="1620" dirty="0">
                <a:solidFill>
                  <a:srgbClr val="3A3F4B"/>
                </a:solidFill>
                <a:latin typeface="Century Schoolbook" pitchFamily="34" charset="0"/>
                <a:ea typeface="Century Schoolbook" pitchFamily="34" charset="-122"/>
                <a:cs typeface="Century Schoolbook" pitchFamily="34" charset="-120"/>
              </a:rPr>
              <a:t>¿Por qué forense y no finanzas?</a:t>
            </a:r>
            <a:endParaRPr lang="en-US" sz="2700" dirty="0"/>
          </a:p>
        </p:txBody>
      </p:sp>
      <p:sp>
        <p:nvSpPr>
          <p:cNvPr id="5" name="Shape 2"/>
          <p:cNvSpPr/>
          <p:nvPr/>
        </p:nvSpPr>
        <p:spPr>
          <a:xfrm>
            <a:off x="685800" y="5047488"/>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60120" y="5230368"/>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A domain with real depth to bring, and one few other teams compete in.</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Un dominio con profundidad real para aportar, y en el que compiten pocos otros equipos.</a:t>
            </a:r>
            <a:endParaRPr lang="en-US" sz="1300" dirty="0"/>
          </a:p>
        </p:txBody>
      </p:sp>
      <p:sp>
        <p:nvSpPr>
          <p:cNvPr id="7" name="Text 4"/>
          <p:cNvSpPr/>
          <p:nvPr/>
        </p:nvSpPr>
        <p:spPr>
          <a:xfrm>
            <a:off x="685800" y="2761854"/>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1C1A17"/>
                </a:solidFill>
                <a:latin typeface="Calibri" pitchFamily="34" charset="0"/>
                <a:ea typeface="Calibri" pitchFamily="34" charset="-122"/>
                <a:cs typeface="Calibri" pitchFamily="34" charset="-120"/>
              </a:rPr>
              <a:t>Forensics is the profession where the proof of competence is precisely the material that is forbidden to show. That is a structural bind, not an inconvenience, and it is why a reputation layer here is worth building.</a:t>
            </a:r>
            <a:endParaRPr lang="en-US" sz="1500" dirty="0"/>
          </a:p>
        </p:txBody>
      </p:sp>
      <p:sp>
        <p:nvSpPr>
          <p:cNvPr id="8" name="Text 5"/>
          <p:cNvSpPr/>
          <p:nvPr/>
        </p:nvSpPr>
        <p:spPr>
          <a:xfrm>
            <a:off x="6400800" y="2761854"/>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3A3F4B"/>
                </a:solidFill>
                <a:latin typeface="Calibri" pitchFamily="34" charset="0"/>
                <a:ea typeface="Calibri" pitchFamily="34" charset="-122"/>
                <a:cs typeface="Calibri" pitchFamily="34" charset="-120"/>
              </a:rPr>
              <a:t>Forense es la profesión donde la prueba de competencia es justamente el material que está prohibido mostrar. Es un nudo estructural, no una molestia, y por eso vale la pena una capa de reputación acá.</a:t>
            </a:r>
            <a:endParaRPr lang="en-US" sz="1500" dirty="0"/>
          </a:p>
        </p:txBody>
      </p:sp>
      <p:sp>
        <p:nvSpPr>
          <p:cNvPr id="9" name="Text 6"/>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 · BACKUP</a:t>
            </a:r>
            <a:endParaRPr lang="en-US" sz="800" dirty="0"/>
          </a:p>
        </p:txBody>
      </p:sp>
      <p:sp>
        <p:nvSpPr>
          <p:cNvPr id="10" name="Text 7"/>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5486400" cy="237744"/>
          </a:xfrm>
          <a:prstGeom prst="rect">
            <a:avLst/>
          </a:prstGeom>
          <a:noFill/>
          <a:ln/>
        </p:spPr>
        <p:txBody>
          <a:bodyPr wrap="square" lIns="0" tIns="0" rIns="0" bIns="0" rtlCol="0" anchor="ctr"/>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BACKUP</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05 / 10</a:t>
            </a:r>
            <a:endParaRPr lang="en-US" sz="900" dirty="0"/>
          </a:p>
        </p:txBody>
      </p:sp>
      <p:sp>
        <p:nvSpPr>
          <p:cNvPr id="4" name="Text 1"/>
          <p:cNvSpPr/>
          <p:nvPr/>
        </p:nvSpPr>
        <p:spPr>
          <a:xfrm>
            <a:off x="685800" y="768096"/>
            <a:ext cx="10789920" cy="988284"/>
          </a:xfrm>
          <a:prstGeom prst="rect">
            <a:avLst/>
          </a:prstGeom>
          <a:noFill/>
          <a:ln/>
        </p:spPr>
        <p:txBody>
          <a:bodyPr wrap="square" lIns="0" tIns="0" rIns="0" bIns="0" rtlCol="0" anchor="t"/>
          <a:lstStyle/>
          <a:p>
            <a:pPr indent="0" marL="0">
              <a:lnSpc>
                <a:spcPct val="114000"/>
              </a:lnSpc>
              <a:spcAft>
                <a:spcPts val="1000"/>
              </a:spcAft>
              <a:buNone/>
            </a:pPr>
            <a:r>
              <a:rPr lang="en-US" sz="2700" dirty="0">
                <a:solidFill>
                  <a:srgbClr val="1C1A17"/>
                </a:solidFill>
                <a:latin typeface="Century Schoolbook" pitchFamily="34" charset="0"/>
                <a:ea typeface="Century Schoolbook" pitchFamily="34" charset="-122"/>
                <a:cs typeface="Century Schoolbook" pitchFamily="34" charset="-120"/>
              </a:rPr>
              <a:t>Does this really need a blockchain?</a:t>
            </a:r>
            <a:endParaRPr lang="en-US" sz="2700" dirty="0"/>
          </a:p>
          <a:p>
            <a:pPr indent="0" marL="0">
              <a:lnSpc>
                <a:spcPct val="114000"/>
              </a:lnSpc>
              <a:buNone/>
            </a:pPr>
            <a:r>
              <a:rPr lang="en-US" sz="1620" dirty="0">
                <a:solidFill>
                  <a:srgbClr val="3A3F4B"/>
                </a:solidFill>
                <a:latin typeface="Century Schoolbook" pitchFamily="34" charset="0"/>
                <a:ea typeface="Century Schoolbook" pitchFamily="34" charset="-122"/>
                <a:cs typeface="Century Schoolbook" pitchFamily="34" charset="-120"/>
              </a:rPr>
              <a:t>¿Realmente necesita blockchain?</a:t>
            </a:r>
            <a:endParaRPr lang="en-US" sz="2700" dirty="0"/>
          </a:p>
        </p:txBody>
      </p:sp>
      <p:sp>
        <p:nvSpPr>
          <p:cNvPr id="5" name="Shape 2"/>
          <p:cNvSpPr/>
          <p:nvPr/>
        </p:nvSpPr>
        <p:spPr>
          <a:xfrm>
            <a:off x="685800" y="5047488"/>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60120" y="5230368"/>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The requirement is a track record no single party can alter retroactively — us included.</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Hace falta una trayectoria que ninguna parte pueda alterar retroactivamente — nosotros incluidos.</a:t>
            </a:r>
            <a:endParaRPr lang="en-US" sz="1300" dirty="0"/>
          </a:p>
        </p:txBody>
      </p:sp>
      <p:sp>
        <p:nvSpPr>
          <p:cNvPr id="7" name="Text 4"/>
          <p:cNvSpPr/>
          <p:nvPr/>
        </p:nvSpPr>
        <p:spPr>
          <a:xfrm>
            <a:off x="685800" y="2761854"/>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1C1A17"/>
                </a:solidFill>
                <a:latin typeface="Calibri" pitchFamily="34" charset="0"/>
                <a:ea typeface="Calibri" pitchFamily="34" charset="-122"/>
                <a:cs typeface="Calibri" pitchFamily="34" charset="-120"/>
              </a:rPr>
              <a:t>A reputation record its owner can edit is worth nothing. A database has an admin with write access — exactly the vector the product exists to remove. A public ledger gives immutability without a central authority.</a:t>
            </a:r>
            <a:endParaRPr lang="en-US" sz="1500" dirty="0"/>
          </a:p>
        </p:txBody>
      </p:sp>
      <p:sp>
        <p:nvSpPr>
          <p:cNvPr id="8" name="Text 5"/>
          <p:cNvSpPr/>
          <p:nvPr/>
        </p:nvSpPr>
        <p:spPr>
          <a:xfrm>
            <a:off x="6400800" y="2761854"/>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3A3F4B"/>
                </a:solidFill>
                <a:latin typeface="Calibri" pitchFamily="34" charset="0"/>
                <a:ea typeface="Calibri" pitchFamily="34" charset="-122"/>
                <a:cs typeface="Calibri" pitchFamily="34" charset="-120"/>
              </a:rPr>
              <a:t>Un registro de reputación que su dueño puede editar no vale nada. Una base de datos tiene un admin con permisos de escritura — justo el vector que el producto existe para eliminar. Un ledger público da inmutabilidad sin autoridad central.</a:t>
            </a:r>
            <a:endParaRPr lang="en-US" sz="1500" dirty="0"/>
          </a:p>
        </p:txBody>
      </p:sp>
      <p:sp>
        <p:nvSpPr>
          <p:cNvPr id="9" name="Text 6"/>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 · BACKUP</a:t>
            </a:r>
            <a:endParaRPr lang="en-US" sz="800" dirty="0"/>
          </a:p>
        </p:txBody>
      </p:sp>
      <p:sp>
        <p:nvSpPr>
          <p:cNvPr id="10" name="Text 7"/>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5486400" cy="237744"/>
          </a:xfrm>
          <a:prstGeom prst="rect">
            <a:avLst/>
          </a:prstGeom>
          <a:noFill/>
          <a:ln/>
        </p:spPr>
        <p:txBody>
          <a:bodyPr wrap="square" lIns="0" tIns="0" rIns="0" bIns="0" rtlCol="0" anchor="ctr"/>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BACKUP</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06 / 10</a:t>
            </a:r>
            <a:endParaRPr lang="en-US" sz="900" dirty="0"/>
          </a:p>
        </p:txBody>
      </p:sp>
      <p:sp>
        <p:nvSpPr>
          <p:cNvPr id="4" name="Text 1"/>
          <p:cNvSpPr/>
          <p:nvPr/>
        </p:nvSpPr>
        <p:spPr>
          <a:xfrm>
            <a:off x="685800" y="768096"/>
            <a:ext cx="10789920" cy="988284"/>
          </a:xfrm>
          <a:prstGeom prst="rect">
            <a:avLst/>
          </a:prstGeom>
          <a:noFill/>
          <a:ln/>
        </p:spPr>
        <p:txBody>
          <a:bodyPr wrap="square" lIns="0" tIns="0" rIns="0" bIns="0" rtlCol="0" anchor="t"/>
          <a:lstStyle/>
          <a:p>
            <a:pPr indent="0" marL="0">
              <a:lnSpc>
                <a:spcPct val="114000"/>
              </a:lnSpc>
              <a:spcAft>
                <a:spcPts val="1000"/>
              </a:spcAft>
              <a:buNone/>
            </a:pPr>
            <a:r>
              <a:rPr lang="en-US" sz="2700" dirty="0">
                <a:solidFill>
                  <a:srgbClr val="1C1A17"/>
                </a:solidFill>
                <a:latin typeface="Century Schoolbook" pitchFamily="34" charset="0"/>
                <a:ea typeface="Century Schoolbook" pitchFamily="34" charset="-122"/>
                <a:cs typeface="Century Schoolbook" pitchFamily="34" charset="-120"/>
              </a:rPr>
              <a:t>What if the expert lies before sealing?</a:t>
            </a:r>
            <a:endParaRPr lang="en-US" sz="2700" dirty="0"/>
          </a:p>
          <a:p>
            <a:pPr indent="0" marL="0">
              <a:lnSpc>
                <a:spcPct val="114000"/>
              </a:lnSpc>
              <a:buNone/>
            </a:pPr>
            <a:r>
              <a:rPr lang="en-US" sz="1620" dirty="0">
                <a:solidFill>
                  <a:srgbClr val="3A3F4B"/>
                </a:solidFill>
                <a:latin typeface="Century Schoolbook" pitchFamily="34" charset="0"/>
                <a:ea typeface="Century Schoolbook" pitchFamily="34" charset="-122"/>
                <a:cs typeface="Century Schoolbook" pitchFamily="34" charset="-120"/>
              </a:rPr>
              <a:t>¿Y si el perito miente antes de sellar?</a:t>
            </a:r>
            <a:endParaRPr lang="en-US" sz="2700" dirty="0"/>
          </a:p>
        </p:txBody>
      </p:sp>
      <p:sp>
        <p:nvSpPr>
          <p:cNvPr id="5" name="Shape 2"/>
          <p:cNvSpPr/>
          <p:nvPr/>
        </p:nvSpPr>
        <p:spPr>
          <a:xfrm>
            <a:off x="685800" y="4581144"/>
            <a:ext cx="10789920" cy="1472184"/>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60120" y="4764024"/>
            <a:ext cx="10241280" cy="1106424"/>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That remains human and judicial responsibility. What changes is that a dishonest analysis now leaves a permanent, attributable record.</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Eso sigue siendo responsabilidad humana y judicial. Lo que cambia es que un análisis deshonesto ahora deja un registro permanente y atribuible.</a:t>
            </a:r>
            <a:endParaRPr lang="en-US" sz="1300" dirty="0"/>
          </a:p>
        </p:txBody>
      </p:sp>
      <p:sp>
        <p:nvSpPr>
          <p:cNvPr id="7" name="Text 4"/>
          <p:cNvSpPr/>
          <p:nvPr/>
        </p:nvSpPr>
        <p:spPr>
          <a:xfrm>
            <a:off x="685800" y="2528682"/>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1C1A17"/>
                </a:solidFill>
                <a:latin typeface="Calibri" pitchFamily="34" charset="0"/>
                <a:ea typeface="Calibri" pitchFamily="34" charset="-122"/>
                <a:cs typeface="Calibri" pitchFamily="34" charset="-120"/>
              </a:rPr>
              <a:t>The system proves what was sealed was not altered afterwards and that corroboration was satisfied mathematically. Binding it to an accredited expert is designed, not yet built. It does not prove the original analysis was honest.</a:t>
            </a:r>
            <a:endParaRPr lang="en-US" sz="1500" dirty="0"/>
          </a:p>
        </p:txBody>
      </p:sp>
      <p:sp>
        <p:nvSpPr>
          <p:cNvPr id="8" name="Text 5"/>
          <p:cNvSpPr/>
          <p:nvPr/>
        </p:nvSpPr>
        <p:spPr>
          <a:xfrm>
            <a:off x="6400800" y="2528682"/>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3A3F4B"/>
                </a:solidFill>
                <a:latin typeface="Calibri" pitchFamily="34" charset="0"/>
                <a:ea typeface="Calibri" pitchFamily="34" charset="-122"/>
                <a:cs typeface="Calibri" pitchFamily="34" charset="-120"/>
              </a:rPr>
              <a:t>El sistema prueba que lo sellado no fue alterado después y que la corroboración se cumplió matemáticamente. Ligarlo a un perito acreditado está diseñado, todavía no construido. No prueba que el análisis original haya sido honesto.</a:t>
            </a:r>
            <a:endParaRPr lang="en-US" sz="1500" dirty="0"/>
          </a:p>
        </p:txBody>
      </p:sp>
      <p:sp>
        <p:nvSpPr>
          <p:cNvPr id="9" name="Text 6"/>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 · BACKUP</a:t>
            </a:r>
            <a:endParaRPr lang="en-US" sz="800" dirty="0"/>
          </a:p>
        </p:txBody>
      </p:sp>
      <p:sp>
        <p:nvSpPr>
          <p:cNvPr id="10" name="Text 7"/>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5486400" cy="237744"/>
          </a:xfrm>
          <a:prstGeom prst="rect">
            <a:avLst/>
          </a:prstGeom>
          <a:noFill/>
          <a:ln/>
        </p:spPr>
        <p:txBody>
          <a:bodyPr wrap="square" lIns="0" tIns="0" rIns="0" bIns="0" rtlCol="0" anchor="ctr"/>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BACKUP</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07 / 10</a:t>
            </a:r>
            <a:endParaRPr lang="en-US" sz="900" dirty="0"/>
          </a:p>
        </p:txBody>
      </p:sp>
      <p:sp>
        <p:nvSpPr>
          <p:cNvPr id="4" name="Text 1"/>
          <p:cNvSpPr/>
          <p:nvPr/>
        </p:nvSpPr>
        <p:spPr>
          <a:xfrm>
            <a:off x="685800" y="768096"/>
            <a:ext cx="10789920" cy="988284"/>
          </a:xfrm>
          <a:prstGeom prst="rect">
            <a:avLst/>
          </a:prstGeom>
          <a:noFill/>
          <a:ln/>
        </p:spPr>
        <p:txBody>
          <a:bodyPr wrap="square" lIns="0" tIns="0" rIns="0" bIns="0" rtlCol="0" anchor="t"/>
          <a:lstStyle/>
          <a:p>
            <a:pPr indent="0" marL="0">
              <a:lnSpc>
                <a:spcPct val="114000"/>
              </a:lnSpc>
              <a:spcAft>
                <a:spcPts val="1000"/>
              </a:spcAft>
              <a:buNone/>
            </a:pPr>
            <a:r>
              <a:rPr lang="en-US" sz="2700" dirty="0">
                <a:solidFill>
                  <a:srgbClr val="1C1A17"/>
                </a:solidFill>
                <a:latin typeface="Century Schoolbook" pitchFamily="34" charset="0"/>
                <a:ea typeface="Century Schoolbook" pitchFamily="34" charset="-122"/>
                <a:cs typeface="Century Schoolbook" pitchFamily="34" charset="-120"/>
              </a:rPr>
              <a:t>Is a hash chain enough — why force ZK?</a:t>
            </a:r>
            <a:endParaRPr lang="en-US" sz="2700" dirty="0"/>
          </a:p>
          <a:p>
            <a:pPr indent="0" marL="0">
              <a:lnSpc>
                <a:spcPct val="114000"/>
              </a:lnSpc>
              <a:buNone/>
            </a:pPr>
            <a:r>
              <a:rPr lang="en-US" sz="1620" dirty="0">
                <a:solidFill>
                  <a:srgbClr val="3A3F4B"/>
                </a:solidFill>
                <a:latin typeface="Century Schoolbook" pitchFamily="34" charset="0"/>
                <a:ea typeface="Century Schoolbook" pitchFamily="34" charset="-122"/>
                <a:cs typeface="Century Schoolbook" pitchFamily="34" charset="-120"/>
              </a:rPr>
              <a:t>¿Alcanza con un hash chain — para qué forzar ZK?</a:t>
            </a:r>
            <a:endParaRPr lang="en-US" sz="2700" dirty="0"/>
          </a:p>
        </p:txBody>
      </p:sp>
      <p:sp>
        <p:nvSpPr>
          <p:cNvPr id="5" name="Shape 2"/>
          <p:cNvSpPr/>
          <p:nvPr/>
        </p:nvSpPr>
        <p:spPr>
          <a:xfrm>
            <a:off x="685800" y="5047488"/>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60120" y="5230368"/>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ZK proves the corroborating sources exist and meet the rule, without ever showing them. That is the specific gap it closes.</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ZK prueba que las fuentes de corroboración existen y cumplen la regla, sin mostrarlas nunca. Ese es el hueco específico que cierra.</a:t>
            </a:r>
            <a:endParaRPr lang="en-US" sz="1300" dirty="0"/>
          </a:p>
        </p:txBody>
      </p:sp>
      <p:sp>
        <p:nvSpPr>
          <p:cNvPr id="7" name="Text 4"/>
          <p:cNvSpPr/>
          <p:nvPr/>
        </p:nvSpPr>
        <p:spPr>
          <a:xfrm>
            <a:off x="685800" y="2910444"/>
            <a:ext cx="5074920" cy="982980"/>
          </a:xfrm>
          <a:prstGeom prst="rect">
            <a:avLst/>
          </a:prstGeom>
          <a:noFill/>
          <a:ln/>
        </p:spPr>
        <p:txBody>
          <a:bodyPr wrap="square" lIns="0" tIns="0" rIns="0" bIns="0" rtlCol="0" anchor="t"/>
          <a:lstStyle/>
          <a:p>
            <a:pPr indent="0" marL="0">
              <a:lnSpc>
                <a:spcPct val="130000"/>
              </a:lnSpc>
              <a:buNone/>
            </a:pPr>
            <a:r>
              <a:rPr lang="en-US" sz="1500" dirty="0">
                <a:solidFill>
                  <a:srgbClr val="1C1A17"/>
                </a:solidFill>
                <a:latin typeface="Calibri" pitchFamily="34" charset="0"/>
                <a:ea typeface="Calibri" pitchFamily="34" charset="-122"/>
                <a:cs typeface="Calibri" pitchFamily="34" charset="-120"/>
              </a:rPr>
              <a:t>A hash chain proves something was not altered after publication. It cannot publish a track record and the rule it satisfies without publishing the data that satisfies the rule.</a:t>
            </a:r>
            <a:endParaRPr lang="en-US" sz="1500" dirty="0"/>
          </a:p>
        </p:txBody>
      </p:sp>
      <p:sp>
        <p:nvSpPr>
          <p:cNvPr id="8" name="Text 5"/>
          <p:cNvSpPr/>
          <p:nvPr/>
        </p:nvSpPr>
        <p:spPr>
          <a:xfrm>
            <a:off x="6400800" y="2910444"/>
            <a:ext cx="5074920" cy="982980"/>
          </a:xfrm>
          <a:prstGeom prst="rect">
            <a:avLst/>
          </a:prstGeom>
          <a:noFill/>
          <a:ln/>
        </p:spPr>
        <p:txBody>
          <a:bodyPr wrap="square" lIns="0" tIns="0" rIns="0" bIns="0" rtlCol="0" anchor="t"/>
          <a:lstStyle/>
          <a:p>
            <a:pPr indent="0" marL="0">
              <a:lnSpc>
                <a:spcPct val="130000"/>
              </a:lnSpc>
              <a:buNone/>
            </a:pPr>
            <a:r>
              <a:rPr lang="en-US" sz="1500" dirty="0">
                <a:solidFill>
                  <a:srgbClr val="3A3F4B"/>
                </a:solidFill>
                <a:latin typeface="Calibri" pitchFamily="34" charset="0"/>
                <a:ea typeface="Calibri" pitchFamily="34" charset="-122"/>
                <a:cs typeface="Calibri" pitchFamily="34" charset="-120"/>
              </a:rPr>
              <a:t>Un hash chain prueba que algo no fue alterado después de publicarse. No puede publicar una trayectoria y la regla que cumple sin publicar el dato que la satisface.</a:t>
            </a:r>
            <a:endParaRPr lang="en-US" sz="1500" dirty="0"/>
          </a:p>
        </p:txBody>
      </p:sp>
      <p:sp>
        <p:nvSpPr>
          <p:cNvPr id="9" name="Text 6"/>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 · BACKUP</a:t>
            </a:r>
            <a:endParaRPr lang="en-US" sz="800" dirty="0"/>
          </a:p>
        </p:txBody>
      </p:sp>
      <p:sp>
        <p:nvSpPr>
          <p:cNvPr id="10" name="Text 7"/>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5486400" cy="237744"/>
          </a:xfrm>
          <a:prstGeom prst="rect">
            <a:avLst/>
          </a:prstGeom>
          <a:noFill/>
          <a:ln/>
        </p:spPr>
        <p:txBody>
          <a:bodyPr wrap="square" lIns="0" tIns="0" rIns="0" bIns="0" rtlCol="0" anchor="ctr"/>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BACKUP</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08 / 10</a:t>
            </a:r>
            <a:endParaRPr lang="en-US" sz="900" dirty="0"/>
          </a:p>
        </p:txBody>
      </p:sp>
      <p:sp>
        <p:nvSpPr>
          <p:cNvPr id="4" name="Text 1"/>
          <p:cNvSpPr/>
          <p:nvPr/>
        </p:nvSpPr>
        <p:spPr>
          <a:xfrm>
            <a:off x="685800" y="768096"/>
            <a:ext cx="10789920" cy="988284"/>
          </a:xfrm>
          <a:prstGeom prst="rect">
            <a:avLst/>
          </a:prstGeom>
          <a:noFill/>
          <a:ln/>
        </p:spPr>
        <p:txBody>
          <a:bodyPr wrap="square" lIns="0" tIns="0" rIns="0" bIns="0" rtlCol="0" anchor="t"/>
          <a:lstStyle/>
          <a:p>
            <a:pPr indent="0" marL="0">
              <a:lnSpc>
                <a:spcPct val="114000"/>
              </a:lnSpc>
              <a:spcAft>
                <a:spcPts val="1000"/>
              </a:spcAft>
              <a:buNone/>
            </a:pPr>
            <a:r>
              <a:rPr lang="en-US" sz="2700" dirty="0">
                <a:solidFill>
                  <a:srgbClr val="1C1A17"/>
                </a:solidFill>
                <a:latin typeface="Century Schoolbook" pitchFamily="34" charset="0"/>
                <a:ea typeface="Century Schoolbook" pitchFamily="34" charset="-122"/>
                <a:cs typeface="Century Schoolbook" pitchFamily="34" charset="-120"/>
              </a:rPr>
              <a:t>Isn’t this forcing Midnight?</a:t>
            </a:r>
            <a:endParaRPr lang="en-US" sz="2700" dirty="0"/>
          </a:p>
          <a:p>
            <a:pPr indent="0" marL="0">
              <a:lnSpc>
                <a:spcPct val="114000"/>
              </a:lnSpc>
              <a:buNone/>
            </a:pPr>
            <a:r>
              <a:rPr lang="en-US" sz="1620" dirty="0">
                <a:solidFill>
                  <a:srgbClr val="3A3F4B"/>
                </a:solidFill>
                <a:latin typeface="Century Schoolbook" pitchFamily="34" charset="0"/>
                <a:ea typeface="Century Schoolbook" pitchFamily="34" charset="-122"/>
                <a:cs typeface="Century Schoolbook" pitchFamily="34" charset="-120"/>
              </a:rPr>
              <a:t>¿No es forzar Midnight?</a:t>
            </a:r>
            <a:endParaRPr lang="en-US" sz="2700" dirty="0"/>
          </a:p>
        </p:txBody>
      </p:sp>
      <p:sp>
        <p:nvSpPr>
          <p:cNvPr id="5" name="Shape 2"/>
          <p:cNvSpPr/>
          <p:nvPr/>
        </p:nvSpPr>
        <p:spPr>
          <a:xfrm>
            <a:off x="685800" y="5047488"/>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60120" y="5230368"/>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It reduces exactly the error a forensic system cannot tolerate: a private value leaking through an integration bug.</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Reduce justo el error que un sistema forense no puede tolerar: que un valor privado se filtre por un bug de integración.</a:t>
            </a:r>
            <a:endParaRPr lang="en-US" sz="1300" dirty="0"/>
          </a:p>
        </p:txBody>
      </p:sp>
      <p:sp>
        <p:nvSpPr>
          <p:cNvPr id="7" name="Text 4"/>
          <p:cNvSpPr/>
          <p:nvPr/>
        </p:nvSpPr>
        <p:spPr>
          <a:xfrm>
            <a:off x="685800" y="2761854"/>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1C1A17"/>
                </a:solidFill>
                <a:latin typeface="Calibri" pitchFamily="34" charset="0"/>
                <a:ea typeface="Calibri" pitchFamily="34" charset="-122"/>
                <a:cs typeface="Calibri" pitchFamily="34" charset="-120"/>
              </a:rPr>
              <a:t>Ethereum plus circom works. But there the public/private boundary is built by hand as an external layer, with more surface for error. In Midnight it is part of the language and the protocol.</a:t>
            </a:r>
            <a:endParaRPr lang="en-US" sz="1500" dirty="0"/>
          </a:p>
        </p:txBody>
      </p:sp>
      <p:sp>
        <p:nvSpPr>
          <p:cNvPr id="8" name="Text 5"/>
          <p:cNvSpPr/>
          <p:nvPr/>
        </p:nvSpPr>
        <p:spPr>
          <a:xfrm>
            <a:off x="6400800" y="2761854"/>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3A3F4B"/>
                </a:solidFill>
                <a:latin typeface="Calibri" pitchFamily="34" charset="0"/>
                <a:ea typeface="Calibri" pitchFamily="34" charset="-122"/>
                <a:cs typeface="Calibri" pitchFamily="34" charset="-120"/>
              </a:rPr>
              <a:t>Ethereum más circom funciona. Pero ahí el límite público/privado se arma a mano como capa externa, con más superficie de error. En Midnight es parte del lenguaje y del protocolo.</a:t>
            </a:r>
            <a:endParaRPr lang="en-US" sz="1500" dirty="0"/>
          </a:p>
        </p:txBody>
      </p:sp>
      <p:sp>
        <p:nvSpPr>
          <p:cNvPr id="9" name="Text 6"/>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 · BACKUP</a:t>
            </a:r>
            <a:endParaRPr lang="en-US" sz="800" dirty="0"/>
          </a:p>
        </p:txBody>
      </p:sp>
      <p:sp>
        <p:nvSpPr>
          <p:cNvPr id="10" name="Text 7"/>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28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5486400" cy="237744"/>
          </a:xfrm>
          <a:prstGeom prst="rect">
            <a:avLst/>
          </a:prstGeom>
          <a:noFill/>
          <a:ln/>
        </p:spPr>
        <p:txBody>
          <a:bodyPr wrap="square" lIns="0" tIns="0" rIns="0" bIns="0" rtlCol="0" anchor="ctr"/>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BACKUP</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09 / 10</a:t>
            </a:r>
            <a:endParaRPr lang="en-US" sz="900" dirty="0"/>
          </a:p>
        </p:txBody>
      </p:sp>
      <p:sp>
        <p:nvSpPr>
          <p:cNvPr id="4" name="Text 1"/>
          <p:cNvSpPr/>
          <p:nvPr/>
        </p:nvSpPr>
        <p:spPr>
          <a:xfrm>
            <a:off x="685800" y="768096"/>
            <a:ext cx="10789920" cy="988284"/>
          </a:xfrm>
          <a:prstGeom prst="rect">
            <a:avLst/>
          </a:prstGeom>
          <a:noFill/>
          <a:ln/>
        </p:spPr>
        <p:txBody>
          <a:bodyPr wrap="square" lIns="0" tIns="0" rIns="0" bIns="0" rtlCol="0" anchor="t"/>
          <a:lstStyle/>
          <a:p>
            <a:pPr indent="0" marL="0">
              <a:lnSpc>
                <a:spcPct val="114000"/>
              </a:lnSpc>
              <a:spcAft>
                <a:spcPts val="1000"/>
              </a:spcAft>
              <a:buNone/>
            </a:pPr>
            <a:r>
              <a:rPr lang="en-US" sz="2700" dirty="0">
                <a:solidFill>
                  <a:srgbClr val="1C1A17"/>
                </a:solidFill>
                <a:latin typeface="Century Schoolbook" pitchFamily="34" charset="0"/>
                <a:ea typeface="Century Schoolbook" pitchFamily="34" charset="-122"/>
                <a:cs typeface="Century Schoolbook" pitchFamily="34" charset="-120"/>
              </a:rPr>
              <a:t>Does a hash prove anything legally?</a:t>
            </a:r>
            <a:endParaRPr lang="en-US" sz="2700" dirty="0"/>
          </a:p>
          <a:p>
            <a:pPr indent="0" marL="0">
              <a:lnSpc>
                <a:spcPct val="114000"/>
              </a:lnSpc>
              <a:buNone/>
            </a:pPr>
            <a:r>
              <a:rPr lang="en-US" sz="1620" dirty="0">
                <a:solidFill>
                  <a:srgbClr val="3A3F4B"/>
                </a:solidFill>
                <a:latin typeface="Century Schoolbook" pitchFamily="34" charset="0"/>
                <a:ea typeface="Century Schoolbook" pitchFamily="34" charset="-122"/>
                <a:cs typeface="Century Schoolbook" pitchFamily="34" charset="-120"/>
              </a:rPr>
              <a:t>¿Un hash prueba algo legalmente?</a:t>
            </a:r>
            <a:endParaRPr lang="en-US" sz="2700" dirty="0"/>
          </a:p>
        </p:txBody>
      </p:sp>
      <p:sp>
        <p:nvSpPr>
          <p:cNvPr id="5" name="Shape 2"/>
          <p:cNvSpPr/>
          <p:nvPr/>
        </p:nvSpPr>
        <p:spPr>
          <a:xfrm>
            <a:off x="685800" y="4581144"/>
            <a:ext cx="10789920" cy="1472184"/>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60120" y="4764024"/>
            <a:ext cx="10241280" cy="1106424"/>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Zero-knowledge proofs as authentication have no established precedent anywhere. We present that as the frontier, not as settled law.</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Las pruebas zero-knowledge como autenticación no tienen precedente establecido en ningún lado. Eso lo presentamos como frontera, no como derecho asentado.</a:t>
            </a:r>
            <a:endParaRPr lang="en-US" sz="1300" dirty="0"/>
          </a:p>
        </p:txBody>
      </p:sp>
      <p:sp>
        <p:nvSpPr>
          <p:cNvPr id="7" name="Text 4"/>
          <p:cNvSpPr/>
          <p:nvPr/>
        </p:nvSpPr>
        <p:spPr>
          <a:xfrm>
            <a:off x="685800" y="2528682"/>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1C1A17"/>
                </a:solidFill>
                <a:latin typeface="Calibri" pitchFamily="34" charset="0"/>
                <a:ea typeface="Calibri" pitchFamily="34" charset="-122"/>
                <a:cs typeface="Calibri" pitchFamily="34" charset="-120"/>
              </a:rPr>
              <a:t>United States Federal Rules of Evidence 902(13) and 902(14), in force since 2017, already recognise a hash as valid self-authentication of an electronic record. Comparable doctrine exists elsewhere.</a:t>
            </a:r>
            <a:endParaRPr lang="en-US" sz="1500" dirty="0"/>
          </a:p>
        </p:txBody>
      </p:sp>
      <p:sp>
        <p:nvSpPr>
          <p:cNvPr id="8" name="Text 5"/>
          <p:cNvSpPr/>
          <p:nvPr/>
        </p:nvSpPr>
        <p:spPr>
          <a:xfrm>
            <a:off x="6400800" y="2528682"/>
            <a:ext cx="5074920" cy="1280160"/>
          </a:xfrm>
          <a:prstGeom prst="rect">
            <a:avLst/>
          </a:prstGeom>
          <a:noFill/>
          <a:ln/>
        </p:spPr>
        <p:txBody>
          <a:bodyPr wrap="square" lIns="0" tIns="0" rIns="0" bIns="0" rtlCol="0" anchor="t"/>
          <a:lstStyle/>
          <a:p>
            <a:pPr indent="0" marL="0">
              <a:lnSpc>
                <a:spcPct val="130000"/>
              </a:lnSpc>
              <a:buNone/>
            </a:pPr>
            <a:r>
              <a:rPr lang="en-US" sz="1500" dirty="0">
                <a:solidFill>
                  <a:srgbClr val="3A3F4B"/>
                </a:solidFill>
                <a:latin typeface="Calibri" pitchFamily="34" charset="0"/>
                <a:ea typeface="Calibri" pitchFamily="34" charset="-122"/>
                <a:cs typeface="Calibri" pitchFamily="34" charset="-120"/>
              </a:rPr>
              <a:t>Las Federal Rules of Evidence 902(13) y 902(14) de Estados Unidos, vigentes desde 2017, ya reconocen el hash como autenticación válida de un registro electrónico. Hay doctrina comparable en otras jurisdicciones.</a:t>
            </a:r>
            <a:endParaRPr lang="en-US" sz="1500" dirty="0"/>
          </a:p>
        </p:txBody>
      </p:sp>
      <p:sp>
        <p:nvSpPr>
          <p:cNvPr id="9" name="Text 6"/>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 · BACKUP</a:t>
            </a:r>
            <a:endParaRPr lang="en-US" sz="800" dirty="0"/>
          </a:p>
        </p:txBody>
      </p:sp>
      <p:sp>
        <p:nvSpPr>
          <p:cNvPr id="10" name="Text 7"/>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bg-parchment.jp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685800" y="402336"/>
            <a:ext cx="5486400" cy="237744"/>
          </a:xfrm>
          <a:prstGeom prst="rect">
            <a:avLst/>
          </a:prstGeom>
          <a:noFill/>
          <a:ln/>
        </p:spPr>
        <p:txBody>
          <a:bodyPr wrap="square" lIns="0" tIns="0" rIns="0" bIns="0" rtlCol="0" anchor="ctr"/>
          <a:lstStyle/>
          <a:p>
            <a:pPr indent="0" marL="0">
              <a:buNone/>
            </a:pPr>
            <a:r>
              <a:rPr lang="en-US" sz="900" spc="140" kern="0" dirty="0">
                <a:solidFill>
                  <a:srgbClr val="8B3A2F"/>
                </a:solidFill>
                <a:latin typeface="Courier New" pitchFamily="34" charset="0"/>
                <a:ea typeface="Courier New" pitchFamily="34" charset="-122"/>
                <a:cs typeface="Courier New" pitchFamily="34" charset="-120"/>
              </a:rPr>
              <a:t>BACKUP</a:t>
            </a:r>
            <a:pPr indent="0" marL="0">
              <a:buNone/>
            </a:pPr>
            <a:r>
              <a:rPr lang="en-US" sz="900" spc="140" kern="0" dirty="0">
                <a:solidFill>
                  <a:srgbClr val="6B6257"/>
                </a:solidFill>
                <a:latin typeface="Courier New" pitchFamily="34" charset="0"/>
                <a:ea typeface="Courier New" pitchFamily="34" charset="-122"/>
                <a:cs typeface="Courier New" pitchFamily="34" charset="-120"/>
              </a:rPr>
              <a:t>   ·   </a:t>
            </a:r>
            <a:pPr indent="0" marL="0">
              <a:buNone/>
            </a:pPr>
            <a:r>
              <a:rPr lang="en-US" sz="900" spc="140" kern="0" dirty="0">
                <a:solidFill>
                  <a:srgbClr val="6B6257"/>
                </a:solidFill>
                <a:latin typeface="Courier New" pitchFamily="34" charset="0"/>
                <a:ea typeface="Courier New" pitchFamily="34" charset="-122"/>
                <a:cs typeface="Courier New" pitchFamily="34" charset="-120"/>
              </a:rPr>
              <a:t>10 / 10</a:t>
            </a:r>
            <a:endParaRPr lang="en-US" sz="900" dirty="0"/>
          </a:p>
        </p:txBody>
      </p:sp>
      <p:sp>
        <p:nvSpPr>
          <p:cNvPr id="4" name="Text 1"/>
          <p:cNvSpPr/>
          <p:nvPr/>
        </p:nvSpPr>
        <p:spPr>
          <a:xfrm>
            <a:off x="685800" y="768096"/>
            <a:ext cx="10789920" cy="988284"/>
          </a:xfrm>
          <a:prstGeom prst="rect">
            <a:avLst/>
          </a:prstGeom>
          <a:noFill/>
          <a:ln/>
        </p:spPr>
        <p:txBody>
          <a:bodyPr wrap="square" lIns="0" tIns="0" rIns="0" bIns="0" rtlCol="0" anchor="t"/>
          <a:lstStyle/>
          <a:p>
            <a:pPr indent="0" marL="0">
              <a:lnSpc>
                <a:spcPct val="114000"/>
              </a:lnSpc>
              <a:spcAft>
                <a:spcPts val="1000"/>
              </a:spcAft>
              <a:buNone/>
            </a:pPr>
            <a:r>
              <a:rPr lang="en-US" sz="2700" dirty="0">
                <a:solidFill>
                  <a:srgbClr val="1C1A17"/>
                </a:solidFill>
                <a:latin typeface="Century Schoolbook" pitchFamily="34" charset="0"/>
                <a:ea typeface="Century Schoolbook" pitchFamily="34" charset="-122"/>
                <a:cs typeface="Century Schoolbook" pitchFamily="34" charset="-120"/>
              </a:rPr>
              <a:t>Isn’t this the same as what exists?</a:t>
            </a:r>
            <a:endParaRPr lang="en-US" sz="2700" dirty="0"/>
          </a:p>
          <a:p>
            <a:pPr indent="0" marL="0">
              <a:lnSpc>
                <a:spcPct val="114000"/>
              </a:lnSpc>
              <a:buNone/>
            </a:pPr>
            <a:r>
              <a:rPr lang="en-US" sz="1620" dirty="0">
                <a:solidFill>
                  <a:srgbClr val="3A3F4B"/>
                </a:solidFill>
                <a:latin typeface="Century Schoolbook" pitchFamily="34" charset="0"/>
                <a:ea typeface="Century Schoolbook" pitchFamily="34" charset="-122"/>
                <a:cs typeface="Century Schoolbook" pitchFamily="34" charset="-120"/>
              </a:rPr>
              <a:t>¿No es lo mismo que ya existe?</a:t>
            </a:r>
            <a:endParaRPr lang="en-US" sz="2700" dirty="0"/>
          </a:p>
        </p:txBody>
      </p:sp>
      <p:sp>
        <p:nvSpPr>
          <p:cNvPr id="5" name="Shape 2"/>
          <p:cNvSpPr/>
          <p:nvPr/>
        </p:nvSpPr>
        <p:spPr>
          <a:xfrm>
            <a:off x="685800" y="5047488"/>
            <a:ext cx="10789920" cy="1005840"/>
          </a:xfrm>
          <a:prstGeom prst="rect">
            <a:avLst/>
          </a:prstGeom>
          <a:solidFill>
            <a:srgbClr val="E4DDCC"/>
          </a:solidFill>
          <a:ln w="12700">
            <a:solidFill>
              <a:srgbClr val="C9C4B8"/>
            </a:solidFill>
            <a:prstDash val="solid"/>
          </a:ln>
          <a:effectLst>
            <a:outerShdw sx="100000" sy="100000" kx="0" ky="0" algn="bl" rotWithShape="0" blurRad="127000" dist="25400" dir="5400000">
              <a:srgbClr val="6B6257">
                <a:alpha val="35000"/>
              </a:srgbClr>
            </a:outerShdw>
          </a:effectLst>
        </p:spPr>
        <p:txBody>
          <a:bodyPr/>
          <a:p/>
        </p:txBody>
      </p:sp>
      <p:sp>
        <p:nvSpPr>
          <p:cNvPr id="6" name="Text 3"/>
          <p:cNvSpPr/>
          <p:nvPr/>
        </p:nvSpPr>
        <p:spPr>
          <a:xfrm>
            <a:off x="960120" y="5230368"/>
            <a:ext cx="10241280" cy="640080"/>
          </a:xfrm>
          <a:prstGeom prst="rect">
            <a:avLst/>
          </a:prstGeom>
          <a:noFill/>
          <a:ln/>
        </p:spPr>
        <p:txBody>
          <a:bodyPr wrap="square" lIns="0" tIns="0" rIns="0" bIns="0" rtlCol="0" anchor="ctr"/>
          <a:lstStyle/>
          <a:p>
            <a:pPr indent="0" marL="0">
              <a:lnSpc>
                <a:spcPct val="120000"/>
              </a:lnSpc>
              <a:spcAft>
                <a:spcPts val="900"/>
              </a:spcAft>
              <a:buNone/>
            </a:pPr>
            <a:r>
              <a:rPr lang="en-US" sz="1300" dirty="0">
                <a:solidFill>
                  <a:srgbClr val="1C1A17"/>
                </a:solidFill>
                <a:latin typeface="Century Schoolbook" pitchFamily="34" charset="0"/>
                <a:ea typeface="Century Schoolbook" pitchFamily="34" charset="-122"/>
                <a:cs typeface="Century Schoolbook" pitchFamily="34" charset="-120"/>
              </a:rPr>
              <a:t>The claim is that specific combination, not “ZK for privacy” in general.</a:t>
            </a:r>
            <a:endParaRPr lang="en-US" sz="1300" dirty="0"/>
          </a:p>
          <a:p>
            <a:pPr indent="0" marL="0">
              <a:lnSpc>
                <a:spcPct val="120000"/>
              </a:lnSpc>
              <a:buNone/>
            </a:pPr>
            <a:r>
              <a:rPr lang="en-US" sz="1250" i="1" dirty="0">
                <a:solidFill>
                  <a:srgbClr val="3A3F4B"/>
                </a:solidFill>
                <a:latin typeface="Century Schoolbook" pitchFamily="34" charset="0"/>
                <a:ea typeface="Century Schoolbook" pitchFamily="34" charset="-122"/>
                <a:cs typeface="Century Schoolbook" pitchFamily="34" charset="-120"/>
              </a:rPr>
              <a:t>La afirmación es esa combinación puntual, no “ZK para privacidad” en general.</a:t>
            </a:r>
            <a:endParaRPr lang="en-US" sz="1300" dirty="0"/>
          </a:p>
        </p:txBody>
      </p:sp>
      <p:sp>
        <p:nvSpPr>
          <p:cNvPr id="7" name="Text 4"/>
          <p:cNvSpPr/>
          <p:nvPr/>
        </p:nvSpPr>
        <p:spPr>
          <a:xfrm>
            <a:off x="685800" y="2613264"/>
            <a:ext cx="5074920" cy="1577340"/>
          </a:xfrm>
          <a:prstGeom prst="rect">
            <a:avLst/>
          </a:prstGeom>
          <a:noFill/>
          <a:ln/>
        </p:spPr>
        <p:txBody>
          <a:bodyPr wrap="square" lIns="0" tIns="0" rIns="0" bIns="0" rtlCol="0" anchor="t"/>
          <a:lstStyle/>
          <a:p>
            <a:pPr indent="0" marL="0">
              <a:lnSpc>
                <a:spcPct val="130000"/>
              </a:lnSpc>
              <a:buNone/>
            </a:pPr>
            <a:r>
              <a:rPr lang="en-US" sz="1500" dirty="0">
                <a:solidFill>
                  <a:srgbClr val="1C1A17"/>
                </a:solidFill>
                <a:latin typeface="Calibri" pitchFamily="34" charset="0"/>
                <a:ea typeface="Calibri" pitchFamily="34" charset="-122"/>
                <a:cs typeface="Calibri" pitchFamily="34" charset="-120"/>
              </a:rPr>
              <a:t>Custody chains solve immutable custody without ZK. Anonymous credentials solve unlinkable credentials without a forensic domain. Neither builds a portfolio where every entry is gated by an admissibility rule encoded as a circuit constraint.</a:t>
            </a:r>
            <a:endParaRPr lang="en-US" sz="1500" dirty="0"/>
          </a:p>
        </p:txBody>
      </p:sp>
      <p:sp>
        <p:nvSpPr>
          <p:cNvPr id="8" name="Text 5"/>
          <p:cNvSpPr/>
          <p:nvPr/>
        </p:nvSpPr>
        <p:spPr>
          <a:xfrm>
            <a:off x="6400800" y="2613264"/>
            <a:ext cx="5074920" cy="1577340"/>
          </a:xfrm>
          <a:prstGeom prst="rect">
            <a:avLst/>
          </a:prstGeom>
          <a:noFill/>
          <a:ln/>
        </p:spPr>
        <p:txBody>
          <a:bodyPr wrap="square" lIns="0" tIns="0" rIns="0" bIns="0" rtlCol="0" anchor="t"/>
          <a:lstStyle/>
          <a:p>
            <a:pPr indent="0" marL="0">
              <a:lnSpc>
                <a:spcPct val="130000"/>
              </a:lnSpc>
              <a:buNone/>
            </a:pPr>
            <a:r>
              <a:rPr lang="en-US" sz="1500" dirty="0">
                <a:solidFill>
                  <a:srgbClr val="3A3F4B"/>
                </a:solidFill>
                <a:latin typeface="Calibri" pitchFamily="34" charset="0"/>
                <a:ea typeface="Calibri" pitchFamily="34" charset="-122"/>
                <a:cs typeface="Calibri" pitchFamily="34" charset="-120"/>
              </a:rPr>
              <a:t>Las cadenas de custodia resuelven custodia inmutable sin ZK. Las credenciales anónimas resuelven credenciales no vinculables sin dominio forense. Ninguna construye un portafolio donde cada entrada pasa por una regla de admisibilidad codificada como restricción del circuito.</a:t>
            </a:r>
            <a:endParaRPr lang="en-US" sz="1500" dirty="0"/>
          </a:p>
        </p:txBody>
      </p:sp>
      <p:sp>
        <p:nvSpPr>
          <p:cNvPr id="9" name="Text 6"/>
          <p:cNvSpPr/>
          <p:nvPr/>
        </p:nvSpPr>
        <p:spPr>
          <a:xfrm>
            <a:off x="685800" y="6382512"/>
            <a:ext cx="7315200" cy="219456"/>
          </a:xfrm>
          <a:prstGeom prst="rect">
            <a:avLst/>
          </a:prstGeom>
          <a:noFill/>
          <a:ln/>
        </p:spPr>
        <p:txBody>
          <a:bodyPr wrap="square" lIns="0" tIns="0" rIns="0" bIns="0" rtlCol="0" anchor="ctr"/>
          <a:lstStyle/>
          <a:p>
            <a:pPr indent="0" marL="0">
              <a:buNone/>
            </a:pPr>
            <a:r>
              <a:rPr lang="en-US" sz="800" dirty="0">
                <a:solidFill>
                  <a:srgbClr val="6B6257"/>
                </a:solidFill>
                <a:latin typeface="Courier New" pitchFamily="34" charset="0"/>
                <a:ea typeface="Courier New" pitchFamily="34" charset="-122"/>
                <a:cs typeface="Courier New" pitchFamily="34" charset="-120"/>
              </a:rPr>
              <a:t>VELO · Professional Evidence Wallet · BACKUP</a:t>
            </a:r>
            <a:endParaRPr lang="en-US" sz="800" dirty="0"/>
          </a:p>
        </p:txBody>
      </p:sp>
      <p:sp>
        <p:nvSpPr>
          <p:cNvPr id="10" name="Text 7"/>
          <p:cNvSpPr/>
          <p:nvPr/>
        </p:nvSpPr>
        <p:spPr>
          <a:xfrm>
            <a:off x="10561320" y="6382512"/>
            <a:ext cx="914400" cy="219456"/>
          </a:xfrm>
          <a:prstGeom prst="rect">
            <a:avLst/>
          </a:prstGeom>
          <a:noFill/>
          <a:ln/>
        </p:spPr>
        <p:txBody>
          <a:bodyPr wrap="square" lIns="0" tIns="0" rIns="0" bIns="0" rtlCol="0" anchor="ctr"/>
          <a:lstStyle/>
          <a:p>
            <a:pPr algn="r" indent="0" marL="0">
              <a:buNone/>
            </a:pPr>
            <a:r>
              <a:rPr lang="en-US" sz="800" dirty="0">
                <a:solidFill>
                  <a:srgbClr val="6B6257"/>
                </a:solidFill>
                <a:latin typeface="Courier New" pitchFamily="34" charset="0"/>
                <a:ea typeface="Courier New" pitchFamily="34" charset="-122"/>
                <a:cs typeface="Courier New" pitchFamily="34" charset="-120"/>
              </a:rPr>
              <a:t>30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VELO — Midnight Network pitch (EN / ES)</dc:title>
  <dc:subject>PptxGenJS Presentation</dc:subject>
  <dc:creator>VELO</dc:creator>
  <cp:lastModifiedBy>VELO</cp:lastModifiedBy>
  <cp:revision>1</cp:revision>
  <dcterms:created xsi:type="dcterms:W3CDTF">2026-08-07T18:24:49Z</dcterms:created>
  <dcterms:modified xsi:type="dcterms:W3CDTF">2026-08-07T18:24:49Z</dcterms:modified>
</cp:coreProperties>
</file>